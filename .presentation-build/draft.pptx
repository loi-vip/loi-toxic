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15a026898b48a9" /><Relationship Type="http://schemas.openxmlformats.org/officeDocument/2006/relationships/extended-properties" Target="/docProps/app.xml" Id="R8fc4773e07b9474b" /><Relationship Type="http://schemas.openxmlformats.org/officeDocument/2006/relationships/officeDocument" Target="/ppt/presentation.xml" Id="R91596793d5034261" /></Relationships>
</file>

<file path=ppt/presentation.xml><?xml version="1.0" encoding="utf-8"?>
<p:presentation xmlns:p="http://schemas.openxmlformats.org/presentationml/2006/main">
  <p:sldMasterIdLst>
    <p:sldMasterId xmlns:r="http://schemas.openxmlformats.org/officeDocument/2006/relationships" id="2147483648" r:id="Refda17392378486f"/>
  </p:sldMasterIdLst>
  <p:notesMasterIdLst>
    <p:notesMasterId xmlns:r="http://schemas.openxmlformats.org/officeDocument/2006/relationships" r:id="Raddf0b242f8c4a03"/>
  </p:notesMasterIdLst>
  <p:sldIdLst>
    <p:sldId xmlns:r="http://schemas.openxmlformats.org/officeDocument/2006/relationships" id="256" r:id="R0cc2c948e8bb45fb"/>
    <p:sldId xmlns:r="http://schemas.openxmlformats.org/officeDocument/2006/relationships" id="257" r:id="Rff7596c562534847"/>
    <p:sldId xmlns:r="http://schemas.openxmlformats.org/officeDocument/2006/relationships" id="258" r:id="R4ca37e2c00be4c4e"/>
    <p:sldId xmlns:r="http://schemas.openxmlformats.org/officeDocument/2006/relationships" id="259" r:id="R97b87f9b415446cb"/>
    <p:sldId xmlns:r="http://schemas.openxmlformats.org/officeDocument/2006/relationships" id="260" r:id="R4960aad8ae1f4c29"/>
    <p:sldId xmlns:r="http://schemas.openxmlformats.org/officeDocument/2006/relationships" id="261" r:id="R4dba3e94370c4be7"/>
    <p:sldId xmlns:r="http://schemas.openxmlformats.org/officeDocument/2006/relationships" id="262" r:id="Rf8317f1f4c154bcd"/>
    <p:sldId xmlns:r="http://schemas.openxmlformats.org/officeDocument/2006/relationships" id="263" r:id="R11d1f3fcee9b4a8e"/>
    <p:sldId xmlns:r="http://schemas.openxmlformats.org/officeDocument/2006/relationships" id="264" r:id="Rac28564730554b6d"/>
    <p:sldId xmlns:r="http://schemas.openxmlformats.org/officeDocument/2006/relationships" id="265" r:id="R386e13cbddf745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1c147f752a456f" /><Relationship Type="http://schemas.openxmlformats.org/officeDocument/2006/relationships/slideMaster" Target="/ppt/slideMasters/slideMaster1.xml" Id="Refda17392378486f" /><Relationship Type="http://schemas.openxmlformats.org/officeDocument/2006/relationships/notesMaster" Target="/ppt/notesMasters/notesMaster1.xml" Id="Raddf0b242f8c4a03" /><Relationship Type="http://schemas.openxmlformats.org/officeDocument/2006/relationships/presProps" Target="/ppt/presProps.xml" Id="Rdaf18da8437d4dcf" /><Relationship Type="http://schemas.openxmlformats.org/officeDocument/2006/relationships/tableStyles" Target="/ppt/tableStyles.xml" Id="R280cc7ef548c4dd2" /><Relationship Type="http://schemas.openxmlformats.org/officeDocument/2006/relationships/slide" Target="/ppt/slides/slide1.xml" Id="R0cc2c948e8bb45fb" /><Relationship Type="http://schemas.openxmlformats.org/officeDocument/2006/relationships/slide" Target="/ppt/slides/slide2.xml" Id="Rff7596c562534847" /><Relationship Type="http://schemas.openxmlformats.org/officeDocument/2006/relationships/slide" Target="/ppt/slides/slide3.xml" Id="R4ca37e2c00be4c4e" /><Relationship Type="http://schemas.openxmlformats.org/officeDocument/2006/relationships/slide" Target="/ppt/slides/slide4.xml" Id="R97b87f9b415446cb" /><Relationship Type="http://schemas.openxmlformats.org/officeDocument/2006/relationships/slide" Target="/ppt/slides/slide5.xml" Id="R4960aad8ae1f4c29" /><Relationship Type="http://schemas.openxmlformats.org/officeDocument/2006/relationships/slide" Target="/ppt/slides/slide6.xml" Id="R4dba3e94370c4be7" /><Relationship Type="http://schemas.openxmlformats.org/officeDocument/2006/relationships/slide" Target="/ppt/slides/slide7.xml" Id="Rf8317f1f4c154bcd" /><Relationship Type="http://schemas.openxmlformats.org/officeDocument/2006/relationships/slide" Target="/ppt/slides/slide8.xml" Id="R11d1f3fcee9b4a8e" /><Relationship Type="http://schemas.openxmlformats.org/officeDocument/2006/relationships/slide" Target="/ppt/slides/slide9.xml" Id="Rac28564730554b6d" /><Relationship Type="http://schemas.openxmlformats.org/officeDocument/2006/relationships/slide" Target="/ppt/slides/slide10.xml" Id="R386e13cbddf745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a3b4744c5544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588619733a4bf1" /><Relationship Type="http://schemas.openxmlformats.org/officeDocument/2006/relationships/notesMaster" Target="/ppt/notesMasters/notesMaster1.xml" Id="R3eddc17782534b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3cd0c4e7324b02" /><Relationship Type="http://schemas.openxmlformats.org/officeDocument/2006/relationships/notesMaster" Target="/ppt/notesMasters/notesMaster1.xml" Id="R2cc0183e5b6e41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aa8d39b4a1487b" /><Relationship Type="http://schemas.openxmlformats.org/officeDocument/2006/relationships/notesMaster" Target="/ppt/notesMasters/notesMaster1.xml" Id="Reb847c7ac83e4c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5d222d6bd64e70" /><Relationship Type="http://schemas.openxmlformats.org/officeDocument/2006/relationships/notesMaster" Target="/ppt/notesMasters/notesMaster1.xml" Id="R42fbf6a2799040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5adeebfaee457e" /><Relationship Type="http://schemas.openxmlformats.org/officeDocument/2006/relationships/notesMaster" Target="/ppt/notesMasters/notesMaster1.xml" Id="R0227d5a1132348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e60d1dde514038" /><Relationship Type="http://schemas.openxmlformats.org/officeDocument/2006/relationships/notesMaster" Target="/ppt/notesMasters/notesMaster1.xml" Id="R731e986f534b44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d35ff886474721" /><Relationship Type="http://schemas.openxmlformats.org/officeDocument/2006/relationships/notesMaster" Target="/ppt/notesMasters/notesMaster1.xml" Id="R61494fda6aa04e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9669873d384c9f" /><Relationship Type="http://schemas.openxmlformats.org/officeDocument/2006/relationships/notesMaster" Target="/ppt/notesMasters/notesMaster1.xml" Id="R2eaa8a8594ef41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4685083f084d5a" /><Relationship Type="http://schemas.openxmlformats.org/officeDocument/2006/relationships/notesMaster" Target="/ppt/notesMasters/notesMaster1.xml" Id="Recd4dea1e10540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eb37e7df53450e" /><Relationship Type="http://schemas.openxmlformats.org/officeDocument/2006/relationships/notesMaster" Target="/ppt/notesMasters/notesMaster1.xml" Id="R414771cfd02347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dự án nhận diện ngôn từ gây thù địch. Hệ thống nhận câu văn hoặc ảnh có chữ, trích xuất chữ bằng OCR và phân loại bằng mô hình NLP cục bộ. Đây là bản học tập, chưa phải công cụ kiểm duyệt sản phẩm.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mục đích gây tương tác với mục tiêu và nội dung công kích. Oxford định nghĩa rage bait là nội dung trực tuyến được thiết kế để khơi phẫn nộ và tăng tương tác. Liên Hợp Quốc mô tả hate speech theo hướng công kích hoặc dùng ngôn từ miệt thị dựa trên yếu tố danh tính; incitement nhắm tới kích động phân biệt đối xử, thù địch hoặc bạo lực. Ví dụ trên slide là câu minh họa, không phải trích dẫn mạng xã hội.</a:t>
            </a:r>
          </a:p>
          <a:p xmlns:a="http://schemas.openxmlformats.org/drawingml/2006/main">
            <a:r>
              <a:t>Nguồn: Oxford University Press, https://corp.oup.com/word-of-the-year/</a:t>
            </a:r>
          </a:p>
          <a:p xmlns:a="http://schemas.openxmlformats.org/drawingml/2006/main">
            <a:r>
              <a:t>Nguồn: United Nations, https://www.un.org/en/node/165070</a:t>
            </a:r>
          </a:p>
          <a:p xmlns:a="http://schemas.openxmlformats.org/drawingml/2006/main">
            <a:r>
              <a:t>Nguồn: United Nations FAQs, https://www.un.org/en/hate-speech/understanding-hate-speech/faqs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tả trải nghiệm hiện tại trong Flask app.py. Người dùng gửi text hoặc ảnh qua form. Văn bản được phân loại trực tiếp; ảnh được đọc bằng Tesseract trước khi đưa chữ OCR vào cùng mô hình. Ứng dụng hiển thị kết quả và nhắc người dùng xem xét ngữ cảnh. Lịch sử lưu trong RAM và mất khi dừng tiến trình.</a:t>
            </a:r>
          </a:p>
          <a:p xmlns:a="http://schemas.openxmlformats.org/drawingml/2006/main">
            <a:r>
              <a:t>Nguồn: app.py, templates/index.html, README.md trong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rút ra từ app.py và main.py. Flask nhận các form HTML. Nhánh ảnh gọi Pillow để chuẩn hóa hướng ảnh rồi Tesseract OCR với vie+eng. Hai nhánh cuối cùng dùng cùng một pipeline Logistic Regression đã lưu trong model.joblib. Không dùng Gemini hay API tạo câu trả lời.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main.py dùng FeatureUnion ghép TfidfVectorizer theo từ với ngram_range (1,2) và theo ký tự với ngram_range (2,5), sau đó LogisticRegression(max_iter=1000, class_weight='balanced'). Lớp dự đoán là hate hoặc non_hate. Giao diện hiển thị điểm predict_proba cao nhất; không nên diễn giải điểm đó là xác suất đã hiệu chuẩn.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giới hạn file và xử lý EXIF thể hiện trong app.py. pytesseract là Python wrapper, máy cần cài Tesseract riêng và dữ liệu ngôn ngữ vie. OCR chỉ trích chữ từ ảnh; sau đó chữ được xử lý bằng mô hình văn bản. Nguồn hướng dẫn wrapper: https://github.com/madmaze/pytesseract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dùng CSV data/samples.csv với hai nhãn hate và non_hate. README ghi rõ bộ mẫu ban đầu chỉ minh họa. Các ví dụ trên slide là khung minh họa; nhóm gán nhãn cần xác định đối tượng, ngữ cảnh, ý phủ định và trích dẫn. ViHOS là corpus spans tiếng Việt được con người chú giải; ViHSD có ba nhãn CLEAN, OFFENSIVE, HATE, cho thấy một taxonomy ba mức có thể hữu ích hơn nhị phân.</a:t>
            </a:r>
          </a:p>
          <a:p xmlns:a="http://schemas.openxmlformats.org/drawingml/2006/main">
            <a:r>
              <a:t>Nguồn: ViHOS, https://aclanthology.org/2023.eacl-main.47/</a:t>
            </a:r>
          </a:p>
          <a:p xmlns:a="http://schemas.openxmlformats.org/drawingml/2006/main">
            <a:r>
              <a:t>Nguồn: ViHSD, https://arxiv.org/abs/2103.11528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main.py dùng train_test_split(test_size=0.25, stratify=labels, random_state=42) khi có ít nhất 10 mẫu và tối thiểu 2 mẫu mỗi lớp; sau đó in classification_report. Đây mới là quy trình có trong code, không phải kết quả đánh giá đã chạy. Đề xuất thêm confusion matrix, kiểm tra lỗi theo nhóm mục tiêu, dạng viết tắt, câu trích dẫn và ảnh 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này xuất phát từ quy mô tập mẫu và kiến trúc trong README/main.py/app.py. Confidence hiện là giá trị predict_proba cao nhất, chưa có bước calibration. Dữ liệu ViHSD/ViHOS là các hướng nghiên cứu tham khảo; cần kiểm tra giấy phép, điều khoản và cách lấy dữ liệu trước khi dùng. Transformer/PhoBERT là hướng so sánh tương lai, không phải mô hình đang chạy.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liệu mô tả ViHOS và ViHSD lấy từ trang bài báo. ViHOS: https://aclanthology.org/2023.eacl-main.47/ . ViHSD: https://arxiv.org/abs/2103.11528 . Định nghĩa rage bait: https://corp.oup.com/word-of-the-year/ . Tham khảo định nghĩa của Liên Hợp Quốc: https://www.un.org/en/node/165070 . Slide dùng nội dung code hiện có trong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03a8dae97947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3f40db5f4940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2c5c7c8f2d42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c8cfe88b4f48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f45bd0bca345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571f3b92ce47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A874EC-7CCB-4D51-B017-EA9FB0C974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2C24BD-3DF4-408D-B976-5218391100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E73B80-632C-4F91-AFBF-D76286F633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F68ACE-BD50-446F-BBB8-8C802A0848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B5ECDE-BDDC-428E-920E-4804D77B8D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FB594F-FAF5-4EB8-A66D-5FBDD53E2E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56915B-85B0-4BCC-A3B6-29BD5C8776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BEB89C-0E1D-4402-9B0F-9DAD66054F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BE8BFD-05DE-485F-94D2-B4DAC3FA59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85691F-1E76-412F-86C8-CA86EE18B1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8e14b67fde427f" /><Relationship Type="http://schemas.openxmlformats.org/officeDocument/2006/relationships/slideLayout" Target="/ppt/slideLayouts/slideLayout1.xml" Id="R4df820b1de314916" /><Relationship Type="http://schemas.openxmlformats.org/officeDocument/2006/relationships/slideLayout" Target="/ppt/slideLayouts/slideLayout2.xml" Id="Re4792b43d4dd4700" /><Relationship Type="http://schemas.openxmlformats.org/officeDocument/2006/relationships/slideLayout" Target="/ppt/slideLayouts/slideLayout3.xml" Id="Rb4c35f3d849c4782" /><Relationship Type="http://schemas.openxmlformats.org/officeDocument/2006/relationships/slideLayout" Target="/ppt/slideLayouts/slideLayout4.xml" Id="Rfaf0362073e144dd" /><Relationship Type="http://schemas.openxmlformats.org/officeDocument/2006/relationships/slideLayout" Target="/ppt/slideLayouts/slideLayout5.xml" Id="Rc05e820d076143b5" /><Relationship Type="http://schemas.openxmlformats.org/officeDocument/2006/relationships/slideLayout" Target="/ppt/slideLayouts/slideLayout6.xml" Id="R850938244ab14e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f820b1de314916"/>
    <p:sldLayoutId xmlns:r="http://schemas.openxmlformats.org/officeDocument/2006/relationships" id="2147483650" r:id="Re4792b43d4dd4700"/>
    <p:sldLayoutId xmlns:r="http://schemas.openxmlformats.org/officeDocument/2006/relationships" id="2147483651" r:id="Rb4c35f3d849c4782"/>
    <p:sldLayoutId xmlns:r="http://schemas.openxmlformats.org/officeDocument/2006/relationships" id="2147483652" r:id="Rfaf0362073e144dd"/>
    <p:sldLayoutId xmlns:r="http://schemas.openxmlformats.org/officeDocument/2006/relationships" id="2147483653" r:id="Rc05e820d076143b5"/>
    <p:sldLayoutId xmlns:r="http://schemas.openxmlformats.org/officeDocument/2006/relationships" id="2147483654" r:id="R850938244ab14e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41fbf5d9fa47f8" /><Relationship Type="http://schemas.openxmlformats.org/officeDocument/2006/relationships/notesSlide" Target="/ppt/notesSlides/notesSlide1.xml" Id="R7a59adeef60749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a12fbd8bb84dc1" /><Relationship Type="http://schemas.openxmlformats.org/officeDocument/2006/relationships/notesSlide" Target="/ppt/notesSlides/notesSlide2.xml" Id="R48d98513036c46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68a7ea9c6543fa" /><Relationship Type="http://schemas.openxmlformats.org/officeDocument/2006/relationships/notesSlide" Target="/ppt/notesSlides/notesSlide3.xml" Id="R92bae7ad221246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37be6d831b4c92" /><Relationship Type="http://schemas.openxmlformats.org/officeDocument/2006/relationships/notesSlide" Target="/ppt/notesSlides/notesSlide4.xml" Id="R76a6c0c6f93e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46b8c6ce9641fe" /><Relationship Type="http://schemas.openxmlformats.org/officeDocument/2006/relationships/notesSlide" Target="/ppt/notesSlides/notesSlide5.xml" Id="R5aabfae5c5cf42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e97194b00c469e" /><Relationship Type="http://schemas.openxmlformats.org/officeDocument/2006/relationships/notesSlide" Target="/ppt/notesSlides/notesSlide6.xml" Id="R297be0cfb9f240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ecc8da8fe44121" /><Relationship Type="http://schemas.openxmlformats.org/officeDocument/2006/relationships/notesSlide" Target="/ppt/notesSlides/notesSlide7.xml" Id="Rdc60055a8eaf4c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1d7b279d28441e" /><Relationship Type="http://schemas.openxmlformats.org/officeDocument/2006/relationships/notesSlide" Target="/ppt/notesSlides/notesSlide8.xml" Id="Rd65511a335b44c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016ccb98b34ead" /><Relationship Type="http://schemas.openxmlformats.org/officeDocument/2006/relationships/notesSlide" Target="/ppt/notesSlides/notesSlide9.xml" Id="Rf22c745ba3cb42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0b2792dd554fa4" /><Relationship Type="http://schemas.openxmlformats.org/officeDocument/2006/relationships/notesSlide" Target="/ppt/notesSlides/notesSlide10.xml" Id="R6bd3a867179a49d9" /></Relationships>
</file>

<file path=ppt/slides/slide1.xml><?xml version="1.0" encoding="utf-8"?>
<p:sld xmlns:p="http://schemas.openxmlformats.org/presentationml/2006/main">
  <p:cSld>
    <p:bg>
      <p:bgPr>
        <a:solidFill xmlns:a="http://schemas.openxmlformats.org/drawingml/2006/main">
          <a:srgbClr val="151D24"/>
        </a:solidFill>
      </p:bgPr>
    </p:bg>
    <p:spTree>
      <p:nvGrpSpPr>
        <p:cNvPr id="1" name=""/>
        <p:cNvGrpSpPr/>
        <p:nvPr/>
      </p:nvGrpSpPr>
      <p:grpSpPr>
        <a:xfrm xmlns:a="http://schemas.openxmlformats.org/drawingml/2006/main"/>
      </p:grpSpPr>
      <p:sp>
        <p:nvSpPr>
          <p:cNvPr id="15" name="cover-accent">
            <a:extLst xmlns:a="http://schemas.openxmlformats.org/drawingml/2006/main">
              <a:ext uri="{FF2B5EF4-FFF2-40B4-BE49-F238E27FC236}">
                <a16:creationId xmlns:a16="http://schemas.microsoft.com/office/drawing/2014/main" id="{04A7B99F-17EF-4692-8912-113CC31E4BC6}"/>
              </a:ext>
            </a:extLst>
          </p:cNvPr>
          <p:cNvSpPr>
            <a:spLocks xmlns:a="http://schemas.openxmlformats.org/drawingml/2006/main" noGrp="1"/>
          </p:cNvSpPr>
          <p:nvPr/>
        </p:nvSpPr>
        <p:spPr>
          <a:xfrm xmlns:a="http://schemas.openxmlformats.org/drawingml/2006/main">
            <a:off x="704850" y="723900"/>
            <a:ext cx="666750" cy="57150"/>
          </a:xfrm>
          <a:prstGeom xmlns:a="http://schemas.openxmlformats.org/drawingml/2006/main" prst="rect">
            <a:avLst/>
          </a:prstGeom>
          <a:solidFill xmlns:a="http://schemas.openxmlformats.org/drawingml/2006/main">
            <a:srgbClr val="C8E46A"/>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9B84CAF8-3F0F-42D8-B286-52989DA7DB50}"/>
              </a:ext>
            </a:extLst>
          </p:cNvPr>
          <p:cNvSpPr>
            <a:spLocks xmlns:a="http://schemas.openxmlformats.org/drawingml/2006/main" noGrp="1"/>
          </p:cNvSpPr>
          <p:nvPr/>
        </p:nvSpPr>
        <p:spPr>
          <a:xfrm xmlns:a="http://schemas.openxmlformats.org/drawingml/2006/main">
            <a:off x="704850" y="9525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C8E46A"/>
                </a:solidFill>
                <a:latin typeface="Arial"/>
                <a:ea typeface="Arial"/>
                <a:cs typeface="Arial"/>
              </a:defRPr>
            </a:defPPr>
            <a:lvl1pPr algn="l">
              <a:defRPr sz="1200" b="1" i="0">
                <a:solidFill>
                  <a:srgbClr val="C8E46A"/>
                </a:solidFill>
                <a:latin typeface="Arial"/>
                <a:ea typeface="Arial"/>
                <a:cs typeface="Arial"/>
              </a:defRPr>
            </a:lvl1pPr>
            <a:lvl2pPr algn="l">
              <a:defRPr sz="1200" b="1" i="0">
                <a:solidFill>
                  <a:srgbClr val="C8E46A"/>
                </a:solidFill>
                <a:latin typeface="Arial"/>
                <a:ea typeface="Arial"/>
                <a:cs typeface="Arial"/>
              </a:defRPr>
            </a:lvl2pPr>
            <a:lvl3pPr algn="l">
              <a:defRPr sz="1200" b="1" i="0">
                <a:solidFill>
                  <a:srgbClr val="C8E46A"/>
                </a:solidFill>
                <a:latin typeface="Arial"/>
                <a:ea typeface="Arial"/>
                <a:cs typeface="Arial"/>
              </a:defRPr>
            </a:lvl3pPr>
            <a:lvl4pPr algn="l">
              <a:defRPr sz="1200" b="1" i="0">
                <a:solidFill>
                  <a:srgbClr val="C8E46A"/>
                </a:solidFill>
                <a:latin typeface="Arial"/>
                <a:ea typeface="Arial"/>
                <a:cs typeface="Arial"/>
              </a:defRPr>
            </a:lvl4pPr>
            <a:lvl5pPr algn="l">
              <a:defRPr sz="1200" b="1" i="0">
                <a:solidFill>
                  <a:srgbClr val="C8E46A"/>
                </a:solidFill>
                <a:latin typeface="Arial"/>
                <a:ea typeface="Arial"/>
                <a:cs typeface="Arial"/>
              </a:defRPr>
            </a:lvl5pPr>
            <a:lvl6pPr algn="l">
              <a:defRPr sz="1200" b="1" i="0">
                <a:solidFill>
                  <a:srgbClr val="C8E46A"/>
                </a:solidFill>
                <a:latin typeface="Arial"/>
                <a:ea typeface="Arial"/>
                <a:cs typeface="Arial"/>
              </a:defRPr>
            </a:lvl6pPr>
            <a:lvl7pPr algn="l">
              <a:defRPr sz="1200" b="1" i="0">
                <a:solidFill>
                  <a:srgbClr val="C8E46A"/>
                </a:solidFill>
                <a:latin typeface="Arial"/>
                <a:ea typeface="Arial"/>
                <a:cs typeface="Arial"/>
              </a:defRPr>
            </a:lvl7pPr>
            <a:lvl8pPr algn="l">
              <a:defRPr sz="1200" b="1" i="0">
                <a:solidFill>
                  <a:srgbClr val="C8E46A"/>
                </a:solidFill>
                <a:latin typeface="Arial"/>
                <a:ea typeface="Arial"/>
                <a:cs typeface="Arial"/>
              </a:defRPr>
            </a:lvl8pPr>
            <a:lvl9pPr algn="l">
              <a:defRPr sz="1200" b="1" i="0">
                <a:solidFill>
                  <a:srgbClr val="C8E46A"/>
                </a:solidFill>
                <a:latin typeface="Arial"/>
                <a:ea typeface="Arial"/>
                <a:cs typeface="Arial"/>
              </a:defRPr>
            </a:lvl9pPr>
          </a:lstStyle>
          <a:p xmlns:a="http://schemas.openxmlformats.org/drawingml/2006/main">
            <a:pPr algn="l">
              <a:lnSpc>
                <a:spcPct val="108000"/>
              </a:lnSpc>
              <a:buNone/>
              <a:defRPr sz="1200" b="1" i="0">
                <a:solidFill>
                  <a:srgbClr val="C8E46A"/>
                </a:solidFill>
                <a:latin typeface="Arial"/>
                <a:ea typeface="Arial"/>
                <a:cs typeface="Arial"/>
              </a:defRPr>
            </a:pPr>
            <a:r>
              <a:rPr sz="1200" b="1" i="0">
                <a:solidFill>
                  <a:srgbClr val="C8E46A"/>
                </a:solidFill>
                <a:latin typeface="Arial"/>
                <a:ea typeface="Arial"/>
                <a:cs typeface="Arial"/>
              </a:rPr>
              <a:t>BÀI TẬP CUỐI KỲ  ·  XỬ LÝ NGÔN NGỮ TỰ NHIÊN</a:t>
            </a:r>
          </a:p>
        </p:txBody>
      </p:sp>
      <p:sp>
        <p:nvSpPr>
          <p:cNvPr id="3" name="cover-title">
            <a:extLst xmlns:a="http://schemas.openxmlformats.org/drawingml/2006/main">
              <a:ext uri="{FF2B5EF4-FFF2-40B4-BE49-F238E27FC236}">
                <a16:creationId xmlns:a16="http://schemas.microsoft.com/office/drawing/2014/main" id="{7473E4D2-171C-44EB-8B60-20F0DC189D89}"/>
              </a:ext>
            </a:extLst>
          </p:cNvPr>
          <p:cNvSpPr>
            <a:spLocks xmlns:a="http://schemas.openxmlformats.org/drawingml/2006/main" noGrp="1"/>
          </p:cNvSpPr>
          <p:nvPr/>
        </p:nvSpPr>
        <p:spPr>
          <a:xfrm xmlns:a="http://schemas.openxmlformats.org/drawingml/2006/main">
            <a:off x="685800" y="1752600"/>
            <a:ext cx="752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575" b="1" i="0">
                <a:solidFill>
                  <a:srgbClr val="FFFFFF"/>
                </a:solidFill>
                <a:latin typeface="Arial"/>
                <a:ea typeface="Arial"/>
                <a:cs typeface="Arial"/>
              </a:defRPr>
            </a:defPPr>
            <a:lvl1pPr algn="l">
              <a:defRPr sz="4575" b="1" i="0">
                <a:solidFill>
                  <a:srgbClr val="FFFFFF"/>
                </a:solidFill>
                <a:latin typeface="Arial"/>
                <a:ea typeface="Arial"/>
                <a:cs typeface="Arial"/>
              </a:defRPr>
            </a:lvl1pPr>
            <a:lvl2pPr algn="l">
              <a:defRPr sz="4575" b="1" i="0">
                <a:solidFill>
                  <a:srgbClr val="FFFFFF"/>
                </a:solidFill>
                <a:latin typeface="Arial"/>
                <a:ea typeface="Arial"/>
                <a:cs typeface="Arial"/>
              </a:defRPr>
            </a:lvl2pPr>
            <a:lvl3pPr algn="l">
              <a:defRPr sz="4575" b="1" i="0">
                <a:solidFill>
                  <a:srgbClr val="FFFFFF"/>
                </a:solidFill>
                <a:latin typeface="Arial"/>
                <a:ea typeface="Arial"/>
                <a:cs typeface="Arial"/>
              </a:defRPr>
            </a:lvl3pPr>
            <a:lvl4pPr algn="l">
              <a:defRPr sz="4575" b="1" i="0">
                <a:solidFill>
                  <a:srgbClr val="FFFFFF"/>
                </a:solidFill>
                <a:latin typeface="Arial"/>
                <a:ea typeface="Arial"/>
                <a:cs typeface="Arial"/>
              </a:defRPr>
            </a:lvl4pPr>
            <a:lvl5pPr algn="l">
              <a:defRPr sz="4575" b="1" i="0">
                <a:solidFill>
                  <a:srgbClr val="FFFFFF"/>
                </a:solidFill>
                <a:latin typeface="Arial"/>
                <a:ea typeface="Arial"/>
                <a:cs typeface="Arial"/>
              </a:defRPr>
            </a:lvl5pPr>
            <a:lvl6pPr algn="l">
              <a:defRPr sz="4575" b="1" i="0">
                <a:solidFill>
                  <a:srgbClr val="FFFFFF"/>
                </a:solidFill>
                <a:latin typeface="Arial"/>
                <a:ea typeface="Arial"/>
                <a:cs typeface="Arial"/>
              </a:defRPr>
            </a:lvl6pPr>
            <a:lvl7pPr algn="l">
              <a:defRPr sz="4575" b="1" i="0">
                <a:solidFill>
                  <a:srgbClr val="FFFFFF"/>
                </a:solidFill>
                <a:latin typeface="Arial"/>
                <a:ea typeface="Arial"/>
                <a:cs typeface="Arial"/>
              </a:defRPr>
            </a:lvl7pPr>
            <a:lvl8pPr algn="l">
              <a:defRPr sz="4575" b="1" i="0">
                <a:solidFill>
                  <a:srgbClr val="FFFFFF"/>
                </a:solidFill>
                <a:latin typeface="Arial"/>
                <a:ea typeface="Arial"/>
                <a:cs typeface="Arial"/>
              </a:defRPr>
            </a:lvl8pPr>
            <a:lvl9pPr algn="l">
              <a:defRPr sz="4575" b="1" i="0">
                <a:solidFill>
                  <a:srgbClr val="FFFFFF"/>
                </a:solidFill>
                <a:latin typeface="Arial"/>
                <a:ea typeface="Arial"/>
                <a:cs typeface="Arial"/>
              </a:defRPr>
            </a:lvl9pPr>
          </a:lstStyle>
          <a:p xmlns:a="http://schemas.openxmlformats.org/drawingml/2006/main">
            <a:pPr algn="l">
              <a:lnSpc>
                <a:spcPct val="98000"/>
              </a:lnSpc>
              <a:buNone/>
              <a:defRPr sz="4575" b="1" i="0">
                <a:solidFill>
                  <a:srgbClr val="FFFFFF"/>
                </a:solidFill>
                <a:latin typeface="Arial"/>
                <a:ea typeface="Arial"/>
                <a:cs typeface="Arial"/>
              </a:defRPr>
            </a:pPr>
            <a:r>
              <a:rPr sz="4575" b="1" i="0">
                <a:solidFill>
                  <a:srgbClr val="FFFFFF"/>
                </a:solidFill>
                <a:latin typeface="Arial"/>
                <a:ea typeface="Arial"/>
                <a:cs typeface="Arial"/>
              </a:rPr>
              <a:t>Nhận diện ngôn từ</a:t>
            </a:r>
          </a:p>
          <a:p xmlns:a="http://schemas.openxmlformats.org/drawingml/2006/main">
            <a:pPr algn="l">
              <a:lnSpc>
                <a:spcPct val="98000"/>
              </a:lnSpc>
              <a:buNone/>
              <a:defRPr sz="4575" b="1" i="0">
                <a:solidFill>
                  <a:srgbClr val="FFFFFF"/>
                </a:solidFill>
                <a:latin typeface="Arial"/>
                <a:ea typeface="Arial"/>
                <a:cs typeface="Arial"/>
              </a:defRPr>
            </a:pPr>
            <a:r>
              <a:rPr sz="4575" b="1" i="0">
                <a:solidFill>
                  <a:srgbClr val="FFFFFF"/>
                </a:solidFill>
                <a:latin typeface="Arial"/>
                <a:ea typeface="Arial"/>
                <a:cs typeface="Arial"/>
              </a:rPr>
              <a:t>gây thù địch</a:t>
            </a:r>
          </a:p>
        </p:txBody>
      </p:sp>
      <p:sp>
        <p:nvSpPr>
          <p:cNvPr id="4" name="cover-subtitle">
            <a:extLst xmlns:a="http://schemas.openxmlformats.org/drawingml/2006/main">
              <a:ext uri="{FF2B5EF4-FFF2-40B4-BE49-F238E27FC236}">
                <a16:creationId xmlns:a16="http://schemas.microsoft.com/office/drawing/2014/main" id="{37971A0E-09F6-40CA-AA2C-9B83FB8142A7}"/>
              </a:ext>
            </a:extLst>
          </p:cNvPr>
          <p:cNvSpPr>
            <a:spLocks xmlns:a="http://schemas.openxmlformats.org/drawingml/2006/main" noGrp="1"/>
          </p:cNvSpPr>
          <p:nvPr/>
        </p:nvSpPr>
        <p:spPr>
          <a:xfrm xmlns:a="http://schemas.openxmlformats.org/drawingml/2006/main">
            <a:off x="723900" y="37147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i="0">
                <a:solidFill>
                  <a:srgbClr val="D5DADF"/>
                </a:solidFill>
                <a:latin typeface="Arial"/>
                <a:ea typeface="Arial"/>
                <a:cs typeface="Arial"/>
              </a:defRPr>
            </a:defPPr>
            <a:lvl1pPr algn="l">
              <a:defRPr sz="2025" b="0" i="0">
                <a:solidFill>
                  <a:srgbClr val="D5DADF"/>
                </a:solidFill>
                <a:latin typeface="Arial"/>
                <a:ea typeface="Arial"/>
                <a:cs typeface="Arial"/>
              </a:defRPr>
            </a:lvl1pPr>
            <a:lvl2pPr algn="l">
              <a:defRPr sz="2025" b="0" i="0">
                <a:solidFill>
                  <a:srgbClr val="D5DADF"/>
                </a:solidFill>
                <a:latin typeface="Arial"/>
                <a:ea typeface="Arial"/>
                <a:cs typeface="Arial"/>
              </a:defRPr>
            </a:lvl2pPr>
            <a:lvl3pPr algn="l">
              <a:defRPr sz="2025" b="0" i="0">
                <a:solidFill>
                  <a:srgbClr val="D5DADF"/>
                </a:solidFill>
                <a:latin typeface="Arial"/>
                <a:ea typeface="Arial"/>
                <a:cs typeface="Arial"/>
              </a:defRPr>
            </a:lvl3pPr>
            <a:lvl4pPr algn="l">
              <a:defRPr sz="2025" b="0" i="0">
                <a:solidFill>
                  <a:srgbClr val="D5DADF"/>
                </a:solidFill>
                <a:latin typeface="Arial"/>
                <a:ea typeface="Arial"/>
                <a:cs typeface="Arial"/>
              </a:defRPr>
            </a:lvl4pPr>
            <a:lvl5pPr algn="l">
              <a:defRPr sz="2025" b="0" i="0">
                <a:solidFill>
                  <a:srgbClr val="D5DADF"/>
                </a:solidFill>
                <a:latin typeface="Arial"/>
                <a:ea typeface="Arial"/>
                <a:cs typeface="Arial"/>
              </a:defRPr>
            </a:lvl5pPr>
            <a:lvl6pPr algn="l">
              <a:defRPr sz="2025" b="0" i="0">
                <a:solidFill>
                  <a:srgbClr val="D5DADF"/>
                </a:solidFill>
                <a:latin typeface="Arial"/>
                <a:ea typeface="Arial"/>
                <a:cs typeface="Arial"/>
              </a:defRPr>
            </a:lvl6pPr>
            <a:lvl7pPr algn="l">
              <a:defRPr sz="2025" b="0" i="0">
                <a:solidFill>
                  <a:srgbClr val="D5DADF"/>
                </a:solidFill>
                <a:latin typeface="Arial"/>
                <a:ea typeface="Arial"/>
                <a:cs typeface="Arial"/>
              </a:defRPr>
            </a:lvl7pPr>
            <a:lvl8pPr algn="l">
              <a:defRPr sz="2025" b="0" i="0">
                <a:solidFill>
                  <a:srgbClr val="D5DADF"/>
                </a:solidFill>
                <a:latin typeface="Arial"/>
                <a:ea typeface="Arial"/>
                <a:cs typeface="Arial"/>
              </a:defRPr>
            </a:lvl8pPr>
            <a:lvl9pPr algn="l">
              <a:defRPr sz="2025" b="0" i="0">
                <a:solidFill>
                  <a:srgbClr val="D5DADF"/>
                </a:solidFill>
                <a:latin typeface="Arial"/>
                <a:ea typeface="Arial"/>
                <a:cs typeface="Arial"/>
              </a:defRPr>
            </a:lvl9pPr>
          </a:lstStyle>
          <a:p xmlns:a="http://schemas.openxmlformats.org/drawingml/2006/main">
            <a:pPr algn="l">
              <a:lnSpc>
                <a:spcPct val="108000"/>
              </a:lnSpc>
              <a:buNone/>
              <a:defRPr sz="2025" b="0" i="0">
                <a:solidFill>
                  <a:srgbClr val="D5DADF"/>
                </a:solidFill>
                <a:latin typeface="Arial"/>
                <a:ea typeface="Arial"/>
                <a:cs typeface="Arial"/>
              </a:defRPr>
            </a:pPr>
            <a:r>
              <a:rPr sz="2025" b="0" i="0">
                <a:solidFill>
                  <a:srgbClr val="D5DADF"/>
                </a:solidFill>
                <a:latin typeface="Arial"/>
                <a:ea typeface="Arial"/>
                <a:cs typeface="Arial"/>
              </a:rPr>
              <a:t>Chatbot văn bản và quét chữ trong ảnh</a:t>
            </a:r>
          </a:p>
        </p:txBody>
      </p:sp>
      <p:sp>
        <p:nvSpPr>
          <p:cNvPr id="5" name="cover-method">
            <a:extLst xmlns:a="http://schemas.openxmlformats.org/drawingml/2006/main">
              <a:ext uri="{FF2B5EF4-FFF2-40B4-BE49-F238E27FC236}">
                <a16:creationId xmlns:a16="http://schemas.microsoft.com/office/drawing/2014/main" id="{EA507A19-ED42-48F2-A238-E618E0B22F80}"/>
              </a:ext>
            </a:extLst>
          </p:cNvPr>
          <p:cNvSpPr>
            <a:spLocks xmlns:a="http://schemas.openxmlformats.org/drawingml/2006/main" noGrp="1"/>
          </p:cNvSpPr>
          <p:nvPr/>
        </p:nvSpPr>
        <p:spPr>
          <a:xfrm xmlns:a="http://schemas.openxmlformats.org/drawingml/2006/main">
            <a:off x="723900" y="4429125"/>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0">
                <a:solidFill>
                  <a:srgbClr val="9AA6AD"/>
                </a:solidFill>
                <a:latin typeface="Arial"/>
                <a:ea typeface="Arial"/>
                <a:cs typeface="Arial"/>
              </a:defRPr>
            </a:defPPr>
            <a:lvl1pPr algn="l">
              <a:defRPr sz="1350" b="0" i="0">
                <a:solidFill>
                  <a:srgbClr val="9AA6AD"/>
                </a:solidFill>
                <a:latin typeface="Arial"/>
                <a:ea typeface="Arial"/>
                <a:cs typeface="Arial"/>
              </a:defRPr>
            </a:lvl1pPr>
            <a:lvl2pPr algn="l">
              <a:defRPr sz="1350" b="0" i="0">
                <a:solidFill>
                  <a:srgbClr val="9AA6AD"/>
                </a:solidFill>
                <a:latin typeface="Arial"/>
                <a:ea typeface="Arial"/>
                <a:cs typeface="Arial"/>
              </a:defRPr>
            </a:lvl2pPr>
            <a:lvl3pPr algn="l">
              <a:defRPr sz="1350" b="0" i="0">
                <a:solidFill>
                  <a:srgbClr val="9AA6AD"/>
                </a:solidFill>
                <a:latin typeface="Arial"/>
                <a:ea typeface="Arial"/>
                <a:cs typeface="Arial"/>
              </a:defRPr>
            </a:lvl3pPr>
            <a:lvl4pPr algn="l">
              <a:defRPr sz="1350" b="0" i="0">
                <a:solidFill>
                  <a:srgbClr val="9AA6AD"/>
                </a:solidFill>
                <a:latin typeface="Arial"/>
                <a:ea typeface="Arial"/>
                <a:cs typeface="Arial"/>
              </a:defRPr>
            </a:lvl4pPr>
            <a:lvl5pPr algn="l">
              <a:defRPr sz="1350" b="0" i="0">
                <a:solidFill>
                  <a:srgbClr val="9AA6AD"/>
                </a:solidFill>
                <a:latin typeface="Arial"/>
                <a:ea typeface="Arial"/>
                <a:cs typeface="Arial"/>
              </a:defRPr>
            </a:lvl5pPr>
            <a:lvl6pPr algn="l">
              <a:defRPr sz="1350" b="0" i="0">
                <a:solidFill>
                  <a:srgbClr val="9AA6AD"/>
                </a:solidFill>
                <a:latin typeface="Arial"/>
                <a:ea typeface="Arial"/>
                <a:cs typeface="Arial"/>
              </a:defRPr>
            </a:lvl6pPr>
            <a:lvl7pPr algn="l">
              <a:defRPr sz="1350" b="0" i="0">
                <a:solidFill>
                  <a:srgbClr val="9AA6AD"/>
                </a:solidFill>
                <a:latin typeface="Arial"/>
                <a:ea typeface="Arial"/>
                <a:cs typeface="Arial"/>
              </a:defRPr>
            </a:lvl7pPr>
            <a:lvl8pPr algn="l">
              <a:defRPr sz="1350" b="0" i="0">
                <a:solidFill>
                  <a:srgbClr val="9AA6AD"/>
                </a:solidFill>
                <a:latin typeface="Arial"/>
                <a:ea typeface="Arial"/>
                <a:cs typeface="Arial"/>
              </a:defRPr>
            </a:lvl8pPr>
            <a:lvl9pPr algn="l">
              <a:defRPr sz="1350" b="0" i="0">
                <a:solidFill>
                  <a:srgbClr val="9AA6AD"/>
                </a:solidFill>
                <a:latin typeface="Arial"/>
                <a:ea typeface="Arial"/>
                <a:cs typeface="Arial"/>
              </a:defRPr>
            </a:lvl9pPr>
          </a:lstStyle>
          <a:p xmlns:a="http://schemas.openxmlformats.org/drawingml/2006/main">
            <a:pPr algn="l">
              <a:lnSpc>
                <a:spcPct val="108000"/>
              </a:lnSpc>
              <a:buNone/>
              <a:defRPr sz="1350" b="0" i="0">
                <a:solidFill>
                  <a:srgbClr val="9AA6AD"/>
                </a:solidFill>
                <a:latin typeface="Arial"/>
                <a:ea typeface="Arial"/>
                <a:cs typeface="Arial"/>
              </a:defRPr>
            </a:pPr>
            <a:r>
              <a:rPr sz="1350" b="0" i="0">
                <a:solidFill>
                  <a:srgbClr val="9AA6AD"/>
                </a:solidFill>
                <a:latin typeface="Arial"/>
                <a:ea typeface="Arial"/>
                <a:cs typeface="Arial"/>
              </a:rPr>
              <a:t>TF-IDF  +  Logistic Regression  +  Tesseract OCR</a:t>
            </a:r>
          </a:p>
        </p:txBody>
      </p:sp>
      <p:sp>
        <p:nvSpPr>
          <p:cNvPr id="6" name="cover-divider">
            <a:extLst xmlns:a="http://schemas.openxmlformats.org/drawingml/2006/main">
              <a:ext uri="{FF2B5EF4-FFF2-40B4-BE49-F238E27FC236}">
                <a16:creationId xmlns:a16="http://schemas.microsoft.com/office/drawing/2014/main" id="{6E0B2E28-360C-4A61-B072-5C39634D413A}"/>
              </a:ext>
            </a:extLst>
          </p:cNvPr>
          <p:cNvSpPr>
            <a:spLocks xmlns:a="http://schemas.openxmlformats.org/drawingml/2006/main" noGrp="1"/>
          </p:cNvSpPr>
          <p:nvPr/>
        </p:nvSpPr>
        <p:spPr>
          <a:xfrm xmlns:a="http://schemas.openxmlformats.org/drawingml/2006/main">
            <a:off x="8743950" y="1809750"/>
            <a:ext cx="9525" cy="3143250"/>
          </a:xfrm>
          <a:prstGeom xmlns:a="http://schemas.openxmlformats.org/drawingml/2006/main" prst="rect">
            <a:avLst/>
          </a:prstGeom>
          <a:solidFill xmlns:a="http://schemas.openxmlformats.org/drawingml/2006/main">
            <a:srgbClr val="3A464D"/>
          </a:solidFill>
          <a:ln xmlns:a="http://schemas.openxmlformats.org/drawingml/2006/main" w="0">
            <a:noFill/>
            <a:prstDash val="solid"/>
          </a:ln>
        </p:spPr>
      </p:sp>
      <p:sp>
        <p:nvSpPr>
          <p:cNvPr id="7" name="cover-step1">
            <a:extLst xmlns:a="http://schemas.openxmlformats.org/drawingml/2006/main">
              <a:ext uri="{FF2B5EF4-FFF2-40B4-BE49-F238E27FC236}">
                <a16:creationId xmlns:a16="http://schemas.microsoft.com/office/drawing/2014/main" id="{83F5EE62-AB5C-4645-9B43-9BC6AEE31A70}"/>
              </a:ext>
            </a:extLst>
          </p:cNvPr>
          <p:cNvSpPr>
            <a:spLocks xmlns:a="http://schemas.openxmlformats.org/drawingml/2006/main" noGrp="1"/>
          </p:cNvSpPr>
          <p:nvPr/>
        </p:nvSpPr>
        <p:spPr>
          <a:xfrm xmlns:a="http://schemas.openxmlformats.org/drawingml/2006/main">
            <a:off x="9239250" y="21145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01   CÂU VĂN</a:t>
            </a:r>
          </a:p>
        </p:txBody>
      </p:sp>
      <p:sp>
        <p:nvSpPr>
          <p:cNvPr id="8" name="cover-step-line1">
            <a:extLst xmlns:a="http://schemas.openxmlformats.org/drawingml/2006/main">
              <a:ext uri="{FF2B5EF4-FFF2-40B4-BE49-F238E27FC236}">
                <a16:creationId xmlns:a16="http://schemas.microsoft.com/office/drawing/2014/main" id="{49024407-C347-4ACF-8234-F263DC2D3AFF}"/>
              </a:ext>
            </a:extLst>
          </p:cNvPr>
          <p:cNvSpPr>
            <a:spLocks xmlns:a="http://schemas.openxmlformats.org/drawingml/2006/main" noGrp="1"/>
          </p:cNvSpPr>
          <p:nvPr/>
        </p:nvSpPr>
        <p:spPr>
          <a:xfrm xmlns:a="http://schemas.openxmlformats.org/drawingml/2006/main">
            <a:off x="9267825" y="2609850"/>
            <a:ext cx="1695450" cy="19050"/>
          </a:xfrm>
          <a:prstGeom xmlns:a="http://schemas.openxmlformats.org/drawingml/2006/main" prst="rect">
            <a:avLst/>
          </a:prstGeom>
          <a:solidFill xmlns:a="http://schemas.openxmlformats.org/drawingml/2006/main">
            <a:srgbClr val="317D73"/>
          </a:solidFill>
          <a:ln xmlns:a="http://schemas.openxmlformats.org/drawingml/2006/main" w="0">
            <a:noFill/>
            <a:prstDash val="solid"/>
          </a:ln>
        </p:spPr>
      </p:sp>
      <p:sp>
        <p:nvSpPr>
          <p:cNvPr id="9" name="cover-step2">
            <a:extLst xmlns:a="http://schemas.openxmlformats.org/drawingml/2006/main">
              <a:ext uri="{FF2B5EF4-FFF2-40B4-BE49-F238E27FC236}">
                <a16:creationId xmlns:a16="http://schemas.microsoft.com/office/drawing/2014/main" id="{C7443F2B-AA92-43E0-83DF-B964DCB6EC72}"/>
              </a:ext>
            </a:extLst>
          </p:cNvPr>
          <p:cNvSpPr>
            <a:spLocks xmlns:a="http://schemas.openxmlformats.org/drawingml/2006/main" noGrp="1"/>
          </p:cNvSpPr>
          <p:nvPr/>
        </p:nvSpPr>
        <p:spPr>
          <a:xfrm xmlns:a="http://schemas.openxmlformats.org/drawingml/2006/main">
            <a:off x="9239250" y="29527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02   ẢNH CÓ CHỮ</a:t>
            </a:r>
          </a:p>
        </p:txBody>
      </p:sp>
      <p:sp>
        <p:nvSpPr>
          <p:cNvPr id="10" name="cover-step-line2">
            <a:extLst xmlns:a="http://schemas.openxmlformats.org/drawingml/2006/main">
              <a:ext uri="{FF2B5EF4-FFF2-40B4-BE49-F238E27FC236}">
                <a16:creationId xmlns:a16="http://schemas.microsoft.com/office/drawing/2014/main" id="{42995231-AF4C-48AB-9F64-3F025099ABE7}"/>
              </a:ext>
            </a:extLst>
          </p:cNvPr>
          <p:cNvSpPr>
            <a:spLocks xmlns:a="http://schemas.openxmlformats.org/drawingml/2006/main" noGrp="1"/>
          </p:cNvSpPr>
          <p:nvPr/>
        </p:nvSpPr>
        <p:spPr>
          <a:xfrm xmlns:a="http://schemas.openxmlformats.org/drawingml/2006/main">
            <a:off x="9267825" y="3448050"/>
            <a:ext cx="1695450" cy="19050"/>
          </a:xfrm>
          <a:prstGeom xmlns:a="http://schemas.openxmlformats.org/drawingml/2006/main" prst="rect">
            <a:avLst/>
          </a:prstGeom>
          <a:solidFill xmlns:a="http://schemas.openxmlformats.org/drawingml/2006/main">
            <a:srgbClr val="D66F57"/>
          </a:solidFill>
          <a:ln xmlns:a="http://schemas.openxmlformats.org/drawingml/2006/main" w="0">
            <a:noFill/>
            <a:prstDash val="solid"/>
          </a:ln>
        </p:spPr>
      </p:sp>
      <p:sp>
        <p:nvSpPr>
          <p:cNvPr id="11" name="cover-step3">
            <a:extLst xmlns:a="http://schemas.openxmlformats.org/drawingml/2006/main">
              <a:ext uri="{FF2B5EF4-FFF2-40B4-BE49-F238E27FC236}">
                <a16:creationId xmlns:a16="http://schemas.microsoft.com/office/drawing/2014/main" id="{F0E4BED0-2CFF-4349-80C4-D37C29BED70A}"/>
              </a:ext>
            </a:extLst>
          </p:cNvPr>
          <p:cNvSpPr>
            <a:spLocks xmlns:a="http://schemas.openxmlformats.org/drawingml/2006/main" noGrp="1"/>
          </p:cNvSpPr>
          <p:nvPr/>
        </p:nvSpPr>
        <p:spPr>
          <a:xfrm xmlns:a="http://schemas.openxmlformats.org/drawingml/2006/main">
            <a:off x="9239250" y="37909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FFFFFF"/>
                </a:solidFill>
                <a:latin typeface="Arial"/>
                <a:ea typeface="Arial"/>
                <a:cs typeface="Arial"/>
              </a:defRPr>
            </a:defPPr>
            <a:lvl1pPr algn="l">
              <a:defRPr sz="1425" b="1" i="0">
                <a:solidFill>
                  <a:srgbClr val="FFFFFF"/>
                </a:solidFill>
                <a:latin typeface="Arial"/>
                <a:ea typeface="Arial"/>
                <a:cs typeface="Arial"/>
              </a:defRPr>
            </a:lvl1pPr>
            <a:lvl2pPr algn="l">
              <a:defRPr sz="1425" b="1" i="0">
                <a:solidFill>
                  <a:srgbClr val="FFFFFF"/>
                </a:solidFill>
                <a:latin typeface="Arial"/>
                <a:ea typeface="Arial"/>
                <a:cs typeface="Arial"/>
              </a:defRPr>
            </a:lvl2pPr>
            <a:lvl3pPr algn="l">
              <a:defRPr sz="1425" b="1" i="0">
                <a:solidFill>
                  <a:srgbClr val="FFFFFF"/>
                </a:solidFill>
                <a:latin typeface="Arial"/>
                <a:ea typeface="Arial"/>
                <a:cs typeface="Arial"/>
              </a:defRPr>
            </a:lvl3pPr>
            <a:lvl4pPr algn="l">
              <a:defRPr sz="1425" b="1" i="0">
                <a:solidFill>
                  <a:srgbClr val="FFFFFF"/>
                </a:solidFill>
                <a:latin typeface="Arial"/>
                <a:ea typeface="Arial"/>
                <a:cs typeface="Arial"/>
              </a:defRPr>
            </a:lvl4pPr>
            <a:lvl5pPr algn="l">
              <a:defRPr sz="1425" b="1" i="0">
                <a:solidFill>
                  <a:srgbClr val="FFFFFF"/>
                </a:solidFill>
                <a:latin typeface="Arial"/>
                <a:ea typeface="Arial"/>
                <a:cs typeface="Arial"/>
              </a:defRPr>
            </a:lvl5pPr>
            <a:lvl6pPr algn="l">
              <a:defRPr sz="1425" b="1" i="0">
                <a:solidFill>
                  <a:srgbClr val="FFFFFF"/>
                </a:solidFill>
                <a:latin typeface="Arial"/>
                <a:ea typeface="Arial"/>
                <a:cs typeface="Arial"/>
              </a:defRPr>
            </a:lvl6pPr>
            <a:lvl7pPr algn="l">
              <a:defRPr sz="1425" b="1" i="0">
                <a:solidFill>
                  <a:srgbClr val="FFFFFF"/>
                </a:solidFill>
                <a:latin typeface="Arial"/>
                <a:ea typeface="Arial"/>
                <a:cs typeface="Arial"/>
              </a:defRPr>
            </a:lvl7pPr>
            <a:lvl8pPr algn="l">
              <a:defRPr sz="1425" b="1" i="0">
                <a:solidFill>
                  <a:srgbClr val="FFFFFF"/>
                </a:solidFill>
                <a:latin typeface="Arial"/>
                <a:ea typeface="Arial"/>
                <a:cs typeface="Arial"/>
              </a:defRPr>
            </a:lvl8pPr>
            <a:lvl9pPr algn="l">
              <a:defRPr sz="1425" b="1" i="0">
                <a:solidFill>
                  <a:srgbClr val="FFFFFF"/>
                </a:solidFill>
                <a:latin typeface="Arial"/>
                <a:ea typeface="Arial"/>
                <a:cs typeface="Arial"/>
              </a:defRPr>
            </a:lvl9pPr>
          </a:lstStyle>
          <a:p xmlns:a="http://schemas.openxmlformats.org/drawingml/2006/main">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03   RÀ SOÁT</a:t>
            </a:r>
          </a:p>
        </p:txBody>
      </p:sp>
      <p:sp>
        <p:nvSpPr>
          <p:cNvPr id="12" name="cover-scope">
            <a:extLst xmlns:a="http://schemas.openxmlformats.org/drawingml/2006/main">
              <a:ext uri="{FF2B5EF4-FFF2-40B4-BE49-F238E27FC236}">
                <a16:creationId xmlns:a16="http://schemas.microsoft.com/office/drawing/2014/main" id="{A53E3EF1-0BDB-4F3A-827C-222848057F2C}"/>
              </a:ext>
            </a:extLst>
          </p:cNvPr>
          <p:cNvSpPr>
            <a:spLocks xmlns:a="http://schemas.openxmlformats.org/drawingml/2006/main" noGrp="1"/>
          </p:cNvSpPr>
          <p:nvPr/>
        </p:nvSpPr>
        <p:spPr>
          <a:xfrm xmlns:a="http://schemas.openxmlformats.org/drawingml/2006/main">
            <a:off x="9239250" y="44005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9B3B9"/>
                </a:solidFill>
                <a:latin typeface="Arial"/>
                <a:ea typeface="Arial"/>
                <a:cs typeface="Arial"/>
              </a:defRPr>
            </a:defPPr>
            <a:lvl1pPr algn="l">
              <a:defRPr sz="1275" b="0" i="0">
                <a:solidFill>
                  <a:srgbClr val="A9B3B9"/>
                </a:solidFill>
                <a:latin typeface="Arial"/>
                <a:ea typeface="Arial"/>
                <a:cs typeface="Arial"/>
              </a:defRPr>
            </a:lvl1pPr>
            <a:lvl2pPr algn="l">
              <a:defRPr sz="1275" b="0" i="0">
                <a:solidFill>
                  <a:srgbClr val="A9B3B9"/>
                </a:solidFill>
                <a:latin typeface="Arial"/>
                <a:ea typeface="Arial"/>
                <a:cs typeface="Arial"/>
              </a:defRPr>
            </a:lvl2pPr>
            <a:lvl3pPr algn="l">
              <a:defRPr sz="1275" b="0" i="0">
                <a:solidFill>
                  <a:srgbClr val="A9B3B9"/>
                </a:solidFill>
                <a:latin typeface="Arial"/>
                <a:ea typeface="Arial"/>
                <a:cs typeface="Arial"/>
              </a:defRPr>
            </a:lvl3pPr>
            <a:lvl4pPr algn="l">
              <a:defRPr sz="1275" b="0" i="0">
                <a:solidFill>
                  <a:srgbClr val="A9B3B9"/>
                </a:solidFill>
                <a:latin typeface="Arial"/>
                <a:ea typeface="Arial"/>
                <a:cs typeface="Arial"/>
              </a:defRPr>
            </a:lvl4pPr>
            <a:lvl5pPr algn="l">
              <a:defRPr sz="1275" b="0" i="0">
                <a:solidFill>
                  <a:srgbClr val="A9B3B9"/>
                </a:solidFill>
                <a:latin typeface="Arial"/>
                <a:ea typeface="Arial"/>
                <a:cs typeface="Arial"/>
              </a:defRPr>
            </a:lvl5pPr>
            <a:lvl6pPr algn="l">
              <a:defRPr sz="1275" b="0" i="0">
                <a:solidFill>
                  <a:srgbClr val="A9B3B9"/>
                </a:solidFill>
                <a:latin typeface="Arial"/>
                <a:ea typeface="Arial"/>
                <a:cs typeface="Arial"/>
              </a:defRPr>
            </a:lvl6pPr>
            <a:lvl7pPr algn="l">
              <a:defRPr sz="1275" b="0" i="0">
                <a:solidFill>
                  <a:srgbClr val="A9B3B9"/>
                </a:solidFill>
                <a:latin typeface="Arial"/>
                <a:ea typeface="Arial"/>
                <a:cs typeface="Arial"/>
              </a:defRPr>
            </a:lvl7pPr>
            <a:lvl8pPr algn="l">
              <a:defRPr sz="1275" b="0" i="0">
                <a:solidFill>
                  <a:srgbClr val="A9B3B9"/>
                </a:solidFill>
                <a:latin typeface="Arial"/>
                <a:ea typeface="Arial"/>
                <a:cs typeface="Arial"/>
              </a:defRPr>
            </a:lvl8pPr>
            <a:lvl9pPr algn="l">
              <a:defRPr sz="1275" b="0" i="0">
                <a:solidFill>
                  <a:srgbClr val="A9B3B9"/>
                </a:solidFill>
                <a:latin typeface="Arial"/>
                <a:ea typeface="Arial"/>
                <a:cs typeface="Arial"/>
              </a:defRPr>
            </a:lvl9pPr>
          </a:lstStyle>
          <a:p xmlns:a="http://schemas.openxmlformats.org/drawingml/2006/main">
            <a:pPr algn="l">
              <a:lnSpc>
                <a:spcPct val="108000"/>
              </a:lnSpc>
              <a:buNone/>
              <a:defRPr sz="1275" b="0" i="0">
                <a:solidFill>
                  <a:srgbClr val="A9B3B9"/>
                </a:solidFill>
                <a:latin typeface="Arial"/>
                <a:ea typeface="Arial"/>
                <a:cs typeface="Arial"/>
              </a:defRPr>
            </a:pPr>
            <a:r>
              <a:rPr sz="1275" b="0" i="0">
                <a:solidFill>
                  <a:srgbClr val="A9B3B9"/>
                </a:solidFill>
                <a:latin typeface="Arial"/>
                <a:ea typeface="Arial"/>
                <a:cs typeface="Arial"/>
              </a:rPr>
              <a:t>Phân loại cục bộ,</a:t>
            </a:r>
          </a:p>
          <a:p xmlns:a="http://schemas.openxmlformats.org/drawingml/2006/main">
            <a:pPr algn="l">
              <a:lnSpc>
                <a:spcPct val="108000"/>
              </a:lnSpc>
              <a:buNone/>
              <a:defRPr sz="1275" b="0" i="0">
                <a:solidFill>
                  <a:srgbClr val="A9B3B9"/>
                </a:solidFill>
                <a:latin typeface="Arial"/>
                <a:ea typeface="Arial"/>
                <a:cs typeface="Arial"/>
              </a:defRPr>
            </a:pPr>
            <a:r>
              <a:rPr sz="1275" b="0" i="0">
                <a:solidFill>
                  <a:srgbClr val="A9B3B9"/>
                </a:solidFill>
                <a:latin typeface="Arial"/>
                <a:ea typeface="Arial"/>
                <a:cs typeface="Arial"/>
              </a:rPr>
              <a:t>kết quả để người dùng xem lại</a:t>
            </a:r>
          </a:p>
        </p:txBody>
      </p:sp>
      <p:sp>
        <p:nvSpPr>
          <p:cNvPr id="13" name="cover-footer">
            <a:extLst xmlns:a="http://schemas.openxmlformats.org/drawingml/2006/main">
              <a:ext uri="{FF2B5EF4-FFF2-40B4-BE49-F238E27FC236}">
                <a16:creationId xmlns:a16="http://schemas.microsoft.com/office/drawing/2014/main" id="{4DD6E257-FAFA-422C-8A37-8C9945709615}"/>
              </a:ext>
            </a:extLst>
          </p:cNvPr>
          <p:cNvSpPr>
            <a:spLocks xmlns:a="http://schemas.openxmlformats.org/drawingml/2006/main" noGrp="1"/>
          </p:cNvSpPr>
          <p:nvPr/>
        </p:nvSpPr>
        <p:spPr>
          <a:xfrm xmlns:a="http://schemas.openxmlformats.org/drawingml/2006/main">
            <a:off x="723900" y="621982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i="0">
                <a:solidFill>
                  <a:srgbClr val="9AA6AD"/>
                </a:solidFill>
                <a:latin typeface="Arial"/>
                <a:ea typeface="Arial"/>
                <a:cs typeface="Arial"/>
              </a:defRPr>
            </a:defPPr>
            <a:lvl1pPr algn="l">
              <a:defRPr sz="1125" b="0" i="0">
                <a:solidFill>
                  <a:srgbClr val="9AA6AD"/>
                </a:solidFill>
                <a:latin typeface="Arial"/>
                <a:ea typeface="Arial"/>
                <a:cs typeface="Arial"/>
              </a:defRPr>
            </a:lvl1pPr>
            <a:lvl2pPr algn="l">
              <a:defRPr sz="1125" b="0" i="0">
                <a:solidFill>
                  <a:srgbClr val="9AA6AD"/>
                </a:solidFill>
                <a:latin typeface="Arial"/>
                <a:ea typeface="Arial"/>
                <a:cs typeface="Arial"/>
              </a:defRPr>
            </a:lvl2pPr>
            <a:lvl3pPr algn="l">
              <a:defRPr sz="1125" b="0" i="0">
                <a:solidFill>
                  <a:srgbClr val="9AA6AD"/>
                </a:solidFill>
                <a:latin typeface="Arial"/>
                <a:ea typeface="Arial"/>
                <a:cs typeface="Arial"/>
              </a:defRPr>
            </a:lvl3pPr>
            <a:lvl4pPr algn="l">
              <a:defRPr sz="1125" b="0" i="0">
                <a:solidFill>
                  <a:srgbClr val="9AA6AD"/>
                </a:solidFill>
                <a:latin typeface="Arial"/>
                <a:ea typeface="Arial"/>
                <a:cs typeface="Arial"/>
              </a:defRPr>
            </a:lvl4pPr>
            <a:lvl5pPr algn="l">
              <a:defRPr sz="1125" b="0" i="0">
                <a:solidFill>
                  <a:srgbClr val="9AA6AD"/>
                </a:solidFill>
                <a:latin typeface="Arial"/>
                <a:ea typeface="Arial"/>
                <a:cs typeface="Arial"/>
              </a:defRPr>
            </a:lvl5pPr>
            <a:lvl6pPr algn="l">
              <a:defRPr sz="1125" b="0" i="0">
                <a:solidFill>
                  <a:srgbClr val="9AA6AD"/>
                </a:solidFill>
                <a:latin typeface="Arial"/>
                <a:ea typeface="Arial"/>
                <a:cs typeface="Arial"/>
              </a:defRPr>
            </a:lvl6pPr>
            <a:lvl7pPr algn="l">
              <a:defRPr sz="1125" b="0" i="0">
                <a:solidFill>
                  <a:srgbClr val="9AA6AD"/>
                </a:solidFill>
                <a:latin typeface="Arial"/>
                <a:ea typeface="Arial"/>
                <a:cs typeface="Arial"/>
              </a:defRPr>
            </a:lvl7pPr>
            <a:lvl8pPr algn="l">
              <a:defRPr sz="1125" b="0" i="0">
                <a:solidFill>
                  <a:srgbClr val="9AA6AD"/>
                </a:solidFill>
                <a:latin typeface="Arial"/>
                <a:ea typeface="Arial"/>
                <a:cs typeface="Arial"/>
              </a:defRPr>
            </a:lvl8pPr>
            <a:lvl9pPr algn="l">
              <a:defRPr sz="1125" b="0" i="0">
                <a:solidFill>
                  <a:srgbClr val="9AA6AD"/>
                </a:solidFill>
                <a:latin typeface="Arial"/>
                <a:ea typeface="Arial"/>
                <a:cs typeface="Arial"/>
              </a:defRPr>
            </a:lvl9pPr>
          </a:lstStyle>
          <a:p xmlns:a="http://schemas.openxmlformats.org/drawingml/2006/main">
            <a:pPr algn="l">
              <a:lnSpc>
                <a:spcPct val="108000"/>
              </a:lnSpc>
              <a:buNone/>
              <a:defRPr sz="1125" b="0" i="0">
                <a:solidFill>
                  <a:srgbClr val="9AA6AD"/>
                </a:solidFill>
                <a:latin typeface="Arial"/>
                <a:ea typeface="Arial"/>
                <a:cs typeface="Arial"/>
              </a:defRPr>
            </a:pPr>
            <a:r>
              <a:rPr sz="1125" b="0" i="0">
                <a:solidFill>
                  <a:srgbClr val="9AA6AD"/>
                </a:solidFill>
                <a:latin typeface="Arial"/>
                <a:ea typeface="Arial"/>
                <a:cs typeface="Arial"/>
              </a:rPr>
              <a:t>Dự án học tập  ·  Mô hình baseline</a:t>
            </a:r>
          </a:p>
        </p:txBody>
      </p:sp>
      <p:sp>
        <p:nvSpPr>
          <p:cNvPr id="14" name="slide-number">
            <a:extLst xmlns:a="http://schemas.openxmlformats.org/drawingml/2006/main">
              <a:ext uri="{FF2B5EF4-FFF2-40B4-BE49-F238E27FC236}">
                <a16:creationId xmlns:a16="http://schemas.microsoft.com/office/drawing/2014/main" id="{93BB88F0-3DC2-4A51-B96A-00EC48891F37}"/>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A9B3B9"/>
                </a:solidFill>
                <a:latin typeface="Arial"/>
                <a:ea typeface="Arial"/>
                <a:cs typeface="Arial"/>
              </a:defRPr>
            </a:defPPr>
            <a:lvl1pPr algn="r">
              <a:defRPr sz="1050" b="1" i="0">
                <a:solidFill>
                  <a:srgbClr val="A9B3B9"/>
                </a:solidFill>
                <a:latin typeface="Arial"/>
                <a:ea typeface="Arial"/>
                <a:cs typeface="Arial"/>
              </a:defRPr>
            </a:lvl1pPr>
            <a:lvl2pPr algn="r">
              <a:defRPr sz="1050" b="1" i="0">
                <a:solidFill>
                  <a:srgbClr val="A9B3B9"/>
                </a:solidFill>
                <a:latin typeface="Arial"/>
                <a:ea typeface="Arial"/>
                <a:cs typeface="Arial"/>
              </a:defRPr>
            </a:lvl2pPr>
            <a:lvl3pPr algn="r">
              <a:defRPr sz="1050" b="1" i="0">
                <a:solidFill>
                  <a:srgbClr val="A9B3B9"/>
                </a:solidFill>
                <a:latin typeface="Arial"/>
                <a:ea typeface="Arial"/>
                <a:cs typeface="Arial"/>
              </a:defRPr>
            </a:lvl3pPr>
            <a:lvl4pPr algn="r">
              <a:defRPr sz="1050" b="1" i="0">
                <a:solidFill>
                  <a:srgbClr val="A9B3B9"/>
                </a:solidFill>
                <a:latin typeface="Arial"/>
                <a:ea typeface="Arial"/>
                <a:cs typeface="Arial"/>
              </a:defRPr>
            </a:lvl4pPr>
            <a:lvl5pPr algn="r">
              <a:defRPr sz="1050" b="1" i="0">
                <a:solidFill>
                  <a:srgbClr val="A9B3B9"/>
                </a:solidFill>
                <a:latin typeface="Arial"/>
                <a:ea typeface="Arial"/>
                <a:cs typeface="Arial"/>
              </a:defRPr>
            </a:lvl5pPr>
            <a:lvl6pPr algn="r">
              <a:defRPr sz="1050" b="1" i="0">
                <a:solidFill>
                  <a:srgbClr val="A9B3B9"/>
                </a:solidFill>
                <a:latin typeface="Arial"/>
                <a:ea typeface="Arial"/>
                <a:cs typeface="Arial"/>
              </a:defRPr>
            </a:lvl6pPr>
            <a:lvl7pPr algn="r">
              <a:defRPr sz="1050" b="1" i="0">
                <a:solidFill>
                  <a:srgbClr val="A9B3B9"/>
                </a:solidFill>
                <a:latin typeface="Arial"/>
                <a:ea typeface="Arial"/>
                <a:cs typeface="Arial"/>
              </a:defRPr>
            </a:lvl7pPr>
            <a:lvl8pPr algn="r">
              <a:defRPr sz="1050" b="1" i="0">
                <a:solidFill>
                  <a:srgbClr val="A9B3B9"/>
                </a:solidFill>
                <a:latin typeface="Arial"/>
                <a:ea typeface="Arial"/>
                <a:cs typeface="Arial"/>
              </a:defRPr>
            </a:lvl8pPr>
            <a:lvl9pPr algn="r">
              <a:defRPr sz="1050" b="1" i="0">
                <a:solidFill>
                  <a:srgbClr val="A9B3B9"/>
                </a:solidFill>
                <a:latin typeface="Arial"/>
                <a:ea typeface="Arial"/>
                <a:cs typeface="Arial"/>
              </a:defRPr>
            </a:lvl9pPr>
          </a:lstStyle>
          <a:p xmlns:a="http://schemas.openxmlformats.org/drawingml/2006/main">
            <a:pPr algn="r">
              <a:lnSpc>
                <a:spcPct val="108000"/>
              </a:lnSpc>
              <a:buNone/>
              <a:defRPr sz="1050" b="1" i="0">
                <a:solidFill>
                  <a:srgbClr val="A9B3B9"/>
                </a:solidFill>
                <a:latin typeface="Arial"/>
                <a:ea typeface="Arial"/>
                <a:cs typeface="Arial"/>
              </a:defRPr>
            </a:pPr>
            <a:r>
              <a:rPr sz="1050" b="1" i="0">
                <a:solidFill>
                  <a:srgbClr val="A9B3B9"/>
                </a:solidFill>
                <a:latin typeface="Arial"/>
                <a:ea typeface="Arial"/>
                <a:cs typeface="Arial"/>
              </a:rPr>
              <a:t>01</a:t>
            </a:r>
          </a:p>
        </p:txBody>
      </p:sp>
    </p:spTree>
    <p:extLst>
      <p:ext uri="{BB962C8B-B14F-4D97-AF65-F5344CB8AC3E}">
        <p14:creationId xmlns:p14="http://schemas.microsoft.com/office/powerpoint/2010/main" val="2076476139"/>
      </p:ext>
    </p:extLst>
  </p:cSld>
</p:sld>
</file>

<file path=ppt/slides/slide2.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F88E2380-F352-474E-A23D-08BC4D5563CE}"/>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B635015E-893C-4442-B503-045BB843534D}"/>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Phạm vi nhận diện</a:t>
            </a:r>
          </a:p>
        </p:txBody>
      </p:sp>
      <p:sp>
        <p:nvSpPr>
          <p:cNvPr id="3" name="slide-subtitle">
            <a:extLst xmlns:a="http://schemas.openxmlformats.org/drawingml/2006/main">
              <a:ext uri="{FF2B5EF4-FFF2-40B4-BE49-F238E27FC236}">
                <a16:creationId xmlns:a16="http://schemas.microsoft.com/office/drawing/2014/main" id="{35EE4CAD-DBA6-4623-BF83-5BFE38B34B63}"/>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Ragebait và ngôn từ thù địch cần được gán nhãn riêng.</a:t>
            </a:r>
          </a:p>
        </p:txBody>
      </p:sp>
      <p:sp>
        <p:nvSpPr>
          <p:cNvPr id="4" name="title-rule">
            <a:extLst xmlns:a="http://schemas.openxmlformats.org/drawingml/2006/main">
              <a:ext uri="{FF2B5EF4-FFF2-40B4-BE49-F238E27FC236}">
                <a16:creationId xmlns:a16="http://schemas.microsoft.com/office/drawing/2014/main" id="{CDCA1981-3DEB-4CFF-832A-A72BCDF6834C}"/>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scope-left-label">
            <a:extLst xmlns:a="http://schemas.openxmlformats.org/drawingml/2006/main">
              <a:ext uri="{FF2B5EF4-FFF2-40B4-BE49-F238E27FC236}">
                <a16:creationId xmlns:a16="http://schemas.microsoft.com/office/drawing/2014/main" id="{2B1DC8C9-24B2-473A-94C3-73CB1ADFF3F3}"/>
              </a:ext>
            </a:extLst>
          </p:cNvPr>
          <p:cNvSpPr>
            <a:spLocks xmlns:a="http://schemas.openxmlformats.org/drawingml/2006/main" noGrp="1"/>
          </p:cNvSpPr>
          <p:nvPr/>
        </p:nvSpPr>
        <p:spPr>
          <a:xfrm xmlns:a="http://schemas.openxmlformats.org/drawingml/2006/main">
            <a:off x="800100" y="22098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01  /  RAGEBAIT</a:t>
            </a:r>
          </a:p>
        </p:txBody>
      </p:sp>
      <p:sp>
        <p:nvSpPr>
          <p:cNvPr id="6" name="scope-left-title">
            <a:extLst xmlns:a="http://schemas.openxmlformats.org/drawingml/2006/main">
              <a:ext uri="{FF2B5EF4-FFF2-40B4-BE49-F238E27FC236}">
                <a16:creationId xmlns:a16="http://schemas.microsoft.com/office/drawing/2014/main" id="{4BD81899-BC10-42EE-A974-D70F026FDD64}"/>
              </a:ext>
            </a:extLst>
          </p:cNvPr>
          <p:cNvSpPr>
            <a:spLocks xmlns:a="http://schemas.openxmlformats.org/drawingml/2006/main" noGrp="1"/>
          </p:cNvSpPr>
          <p:nvPr/>
        </p:nvSpPr>
        <p:spPr>
          <a:xfrm xmlns:a="http://schemas.openxmlformats.org/drawingml/2006/main">
            <a:off x="781050" y="2628900"/>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i="0">
                <a:solidFill>
                  <a:srgbClr val="151D24"/>
                </a:solidFill>
                <a:latin typeface="Arial"/>
                <a:ea typeface="Arial"/>
                <a:cs typeface="Arial"/>
              </a:defRPr>
            </a:defPPr>
            <a:lvl1pPr algn="l">
              <a:defRPr sz="2775" b="1" i="0">
                <a:solidFill>
                  <a:srgbClr val="151D24"/>
                </a:solidFill>
                <a:latin typeface="Arial"/>
                <a:ea typeface="Arial"/>
                <a:cs typeface="Arial"/>
              </a:defRPr>
            </a:lvl1pPr>
            <a:lvl2pPr algn="l">
              <a:defRPr sz="2775" b="1" i="0">
                <a:solidFill>
                  <a:srgbClr val="151D24"/>
                </a:solidFill>
                <a:latin typeface="Arial"/>
                <a:ea typeface="Arial"/>
                <a:cs typeface="Arial"/>
              </a:defRPr>
            </a:lvl2pPr>
            <a:lvl3pPr algn="l">
              <a:defRPr sz="2775" b="1" i="0">
                <a:solidFill>
                  <a:srgbClr val="151D24"/>
                </a:solidFill>
                <a:latin typeface="Arial"/>
                <a:ea typeface="Arial"/>
                <a:cs typeface="Arial"/>
              </a:defRPr>
            </a:lvl3pPr>
            <a:lvl4pPr algn="l">
              <a:defRPr sz="2775" b="1" i="0">
                <a:solidFill>
                  <a:srgbClr val="151D24"/>
                </a:solidFill>
                <a:latin typeface="Arial"/>
                <a:ea typeface="Arial"/>
                <a:cs typeface="Arial"/>
              </a:defRPr>
            </a:lvl4pPr>
            <a:lvl5pPr algn="l">
              <a:defRPr sz="2775" b="1" i="0">
                <a:solidFill>
                  <a:srgbClr val="151D24"/>
                </a:solidFill>
                <a:latin typeface="Arial"/>
                <a:ea typeface="Arial"/>
                <a:cs typeface="Arial"/>
              </a:defRPr>
            </a:lvl5pPr>
            <a:lvl6pPr algn="l">
              <a:defRPr sz="2775" b="1" i="0">
                <a:solidFill>
                  <a:srgbClr val="151D24"/>
                </a:solidFill>
                <a:latin typeface="Arial"/>
                <a:ea typeface="Arial"/>
                <a:cs typeface="Arial"/>
              </a:defRPr>
            </a:lvl6pPr>
            <a:lvl7pPr algn="l">
              <a:defRPr sz="2775" b="1" i="0">
                <a:solidFill>
                  <a:srgbClr val="151D24"/>
                </a:solidFill>
                <a:latin typeface="Arial"/>
                <a:ea typeface="Arial"/>
                <a:cs typeface="Arial"/>
              </a:defRPr>
            </a:lvl7pPr>
            <a:lvl8pPr algn="l">
              <a:defRPr sz="2775" b="1" i="0">
                <a:solidFill>
                  <a:srgbClr val="151D24"/>
                </a:solidFill>
                <a:latin typeface="Arial"/>
                <a:ea typeface="Arial"/>
                <a:cs typeface="Arial"/>
              </a:defRPr>
            </a:lvl8pPr>
            <a:lvl9pPr algn="l">
              <a:defRPr sz="2775" b="1" i="0">
                <a:solidFill>
                  <a:srgbClr val="151D24"/>
                </a:solidFill>
                <a:latin typeface="Arial"/>
                <a:ea typeface="Arial"/>
                <a:cs typeface="Arial"/>
              </a:defRPr>
            </a:lvl9pPr>
          </a:lstStyle>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Khơi giận dữ</a:t>
            </a:r>
          </a:p>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để kéo tương tác</a:t>
            </a:r>
          </a:p>
        </p:txBody>
      </p:sp>
      <p:sp>
        <p:nvSpPr>
          <p:cNvPr id="7" name="scope-left-body">
            <a:extLst xmlns:a="http://schemas.openxmlformats.org/drawingml/2006/main">
              <a:ext uri="{FF2B5EF4-FFF2-40B4-BE49-F238E27FC236}">
                <a16:creationId xmlns:a16="http://schemas.microsoft.com/office/drawing/2014/main" id="{27D02AA0-3B1D-4545-A7C1-93FF19B20107}"/>
              </a:ext>
            </a:extLst>
          </p:cNvPr>
          <p:cNvSpPr>
            <a:spLocks xmlns:a="http://schemas.openxmlformats.org/drawingml/2006/main" noGrp="1"/>
          </p:cNvSpPr>
          <p:nvPr/>
        </p:nvSpPr>
        <p:spPr>
          <a:xfrm xmlns:a="http://schemas.openxmlformats.org/drawingml/2006/main">
            <a:off x="800100" y="3914775"/>
            <a:ext cx="4429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Có thể là phát ngôn gây tranh cãi về phim, bóng đá hay sản phẩm. Không nhất thiết nhắm vào một nhóm dân cư.</a:t>
            </a:r>
          </a:p>
        </p:txBody>
      </p:sp>
      <p:sp>
        <p:nvSpPr>
          <p:cNvPr id="8" name="scope-left-example">
            <a:extLst xmlns:a="http://schemas.openxmlformats.org/drawingml/2006/main">
              <a:ext uri="{FF2B5EF4-FFF2-40B4-BE49-F238E27FC236}">
                <a16:creationId xmlns:a16="http://schemas.microsoft.com/office/drawing/2014/main" id="{A9DC0835-8844-46E5-BC53-D0EB267C0531}"/>
              </a:ext>
            </a:extLst>
          </p:cNvPr>
          <p:cNvSpPr>
            <a:spLocks xmlns:a="http://schemas.openxmlformats.org/drawingml/2006/main" noGrp="1"/>
          </p:cNvSpPr>
          <p:nvPr/>
        </p:nvSpPr>
        <p:spPr>
          <a:xfrm xmlns:a="http://schemas.openxmlformats.org/drawingml/2006/main">
            <a:off x="800100" y="502920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1">
                <a:solidFill>
                  <a:srgbClr val="151D24"/>
                </a:solidFill>
                <a:latin typeface="Arial"/>
                <a:ea typeface="Arial"/>
                <a:cs typeface="Arial"/>
              </a:defRPr>
            </a:defPPr>
            <a:lvl1pPr algn="l">
              <a:defRPr sz="1350" b="0" i="1">
                <a:solidFill>
                  <a:srgbClr val="151D24"/>
                </a:solidFill>
                <a:latin typeface="Arial"/>
                <a:ea typeface="Arial"/>
                <a:cs typeface="Arial"/>
              </a:defRPr>
            </a:lvl1pPr>
            <a:lvl2pPr algn="l">
              <a:defRPr sz="1350" b="0" i="1">
                <a:solidFill>
                  <a:srgbClr val="151D24"/>
                </a:solidFill>
                <a:latin typeface="Arial"/>
                <a:ea typeface="Arial"/>
                <a:cs typeface="Arial"/>
              </a:defRPr>
            </a:lvl2pPr>
            <a:lvl3pPr algn="l">
              <a:defRPr sz="1350" b="0" i="1">
                <a:solidFill>
                  <a:srgbClr val="151D24"/>
                </a:solidFill>
                <a:latin typeface="Arial"/>
                <a:ea typeface="Arial"/>
                <a:cs typeface="Arial"/>
              </a:defRPr>
            </a:lvl3pPr>
            <a:lvl4pPr algn="l">
              <a:defRPr sz="1350" b="0" i="1">
                <a:solidFill>
                  <a:srgbClr val="151D24"/>
                </a:solidFill>
                <a:latin typeface="Arial"/>
                <a:ea typeface="Arial"/>
                <a:cs typeface="Arial"/>
              </a:defRPr>
            </a:lvl4pPr>
            <a:lvl5pPr algn="l">
              <a:defRPr sz="1350" b="0" i="1">
                <a:solidFill>
                  <a:srgbClr val="151D24"/>
                </a:solidFill>
                <a:latin typeface="Arial"/>
                <a:ea typeface="Arial"/>
                <a:cs typeface="Arial"/>
              </a:defRPr>
            </a:lvl5pPr>
            <a:lvl6pPr algn="l">
              <a:defRPr sz="1350" b="0" i="1">
                <a:solidFill>
                  <a:srgbClr val="151D24"/>
                </a:solidFill>
                <a:latin typeface="Arial"/>
                <a:ea typeface="Arial"/>
                <a:cs typeface="Arial"/>
              </a:defRPr>
            </a:lvl6pPr>
            <a:lvl7pPr algn="l">
              <a:defRPr sz="1350" b="0" i="1">
                <a:solidFill>
                  <a:srgbClr val="151D24"/>
                </a:solidFill>
                <a:latin typeface="Arial"/>
                <a:ea typeface="Arial"/>
                <a:cs typeface="Arial"/>
              </a:defRPr>
            </a:lvl7pPr>
            <a:lvl8pPr algn="l">
              <a:defRPr sz="1350" b="0" i="1">
                <a:solidFill>
                  <a:srgbClr val="151D24"/>
                </a:solidFill>
                <a:latin typeface="Arial"/>
                <a:ea typeface="Arial"/>
                <a:cs typeface="Arial"/>
              </a:defRPr>
            </a:lvl8pPr>
            <a:lvl9pPr algn="l">
              <a:defRPr sz="1350" b="0" i="1">
                <a:solidFill>
                  <a:srgbClr val="151D24"/>
                </a:solidFill>
                <a:latin typeface="Arial"/>
                <a:ea typeface="Arial"/>
                <a:cs typeface="Arial"/>
              </a:defRPr>
            </a:lvl9pPr>
          </a:lstStyle>
          <a:p xmlns:a="http://schemas.openxmlformats.org/drawingml/2006/main">
            <a:pPr algn="l">
              <a:lnSpc>
                <a:spcPct val="108000"/>
              </a:lnSpc>
              <a:buNone/>
              <a:defRPr sz="1350" b="0" i="1">
                <a:solidFill>
                  <a:srgbClr val="151D24"/>
                </a:solidFill>
                <a:latin typeface="Arial"/>
                <a:ea typeface="Arial"/>
                <a:cs typeface="Arial"/>
              </a:defRPr>
            </a:pPr>
            <a:r>
              <a:rPr sz="1350" b="0" i="1">
                <a:solidFill>
                  <a:srgbClr val="151D24"/>
                </a:solidFill>
                <a:latin typeface="Arial"/>
                <a:ea typeface="Arial"/>
                <a:cs typeface="Arial"/>
              </a:rPr>
              <a:t>Ví dụ: “Đội bóng X chỉ thắng nhờ trọng tài.”</a:t>
            </a:r>
          </a:p>
        </p:txBody>
      </p:sp>
      <p:sp>
        <p:nvSpPr>
          <p:cNvPr id="9" name="scope-divider">
            <a:extLst xmlns:a="http://schemas.openxmlformats.org/drawingml/2006/main">
              <a:ext uri="{FF2B5EF4-FFF2-40B4-BE49-F238E27FC236}">
                <a16:creationId xmlns:a16="http://schemas.microsoft.com/office/drawing/2014/main" id="{18068BCA-3B33-4BF6-BFD8-4A762B61BD57}"/>
              </a:ext>
            </a:extLst>
          </p:cNvPr>
          <p:cNvSpPr>
            <a:spLocks xmlns:a="http://schemas.openxmlformats.org/drawingml/2006/main" noGrp="1"/>
          </p:cNvSpPr>
          <p:nvPr/>
        </p:nvSpPr>
        <p:spPr>
          <a:xfrm xmlns:a="http://schemas.openxmlformats.org/drawingml/2006/main">
            <a:off x="5943600" y="2247900"/>
            <a:ext cx="9525" cy="34766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0" name="scope-right-label">
            <a:extLst xmlns:a="http://schemas.openxmlformats.org/drawingml/2006/main">
              <a:ext uri="{FF2B5EF4-FFF2-40B4-BE49-F238E27FC236}">
                <a16:creationId xmlns:a16="http://schemas.microsoft.com/office/drawing/2014/main" id="{5D6FD6D5-550F-4E25-B243-9A0EC93F8D08}"/>
              </a:ext>
            </a:extLst>
          </p:cNvPr>
          <p:cNvSpPr>
            <a:spLocks xmlns:a="http://schemas.openxmlformats.org/drawingml/2006/main" noGrp="1"/>
          </p:cNvSpPr>
          <p:nvPr/>
        </p:nvSpPr>
        <p:spPr>
          <a:xfrm xmlns:a="http://schemas.openxmlformats.org/drawingml/2006/main">
            <a:off x="6477000" y="2209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02  /  HATE SPEECH</a:t>
            </a:r>
          </a:p>
        </p:txBody>
      </p:sp>
      <p:sp>
        <p:nvSpPr>
          <p:cNvPr id="11" name="scope-right-title">
            <a:extLst xmlns:a="http://schemas.openxmlformats.org/drawingml/2006/main">
              <a:ext uri="{FF2B5EF4-FFF2-40B4-BE49-F238E27FC236}">
                <a16:creationId xmlns:a16="http://schemas.microsoft.com/office/drawing/2014/main" id="{8ABADE7D-71AD-477B-89CC-57D8DEE6AFB0}"/>
              </a:ext>
            </a:extLst>
          </p:cNvPr>
          <p:cNvSpPr>
            <a:spLocks xmlns:a="http://schemas.openxmlformats.org/drawingml/2006/main" noGrp="1"/>
          </p:cNvSpPr>
          <p:nvPr/>
        </p:nvSpPr>
        <p:spPr>
          <a:xfrm xmlns:a="http://schemas.openxmlformats.org/drawingml/2006/main">
            <a:off x="6457950" y="262890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i="0">
                <a:solidFill>
                  <a:srgbClr val="151D24"/>
                </a:solidFill>
                <a:latin typeface="Arial"/>
                <a:ea typeface="Arial"/>
                <a:cs typeface="Arial"/>
              </a:defRPr>
            </a:defPPr>
            <a:lvl1pPr algn="l">
              <a:defRPr sz="2775" b="1" i="0">
                <a:solidFill>
                  <a:srgbClr val="151D24"/>
                </a:solidFill>
                <a:latin typeface="Arial"/>
                <a:ea typeface="Arial"/>
                <a:cs typeface="Arial"/>
              </a:defRPr>
            </a:lvl1pPr>
            <a:lvl2pPr algn="l">
              <a:defRPr sz="2775" b="1" i="0">
                <a:solidFill>
                  <a:srgbClr val="151D24"/>
                </a:solidFill>
                <a:latin typeface="Arial"/>
                <a:ea typeface="Arial"/>
                <a:cs typeface="Arial"/>
              </a:defRPr>
            </a:lvl2pPr>
            <a:lvl3pPr algn="l">
              <a:defRPr sz="2775" b="1" i="0">
                <a:solidFill>
                  <a:srgbClr val="151D24"/>
                </a:solidFill>
                <a:latin typeface="Arial"/>
                <a:ea typeface="Arial"/>
                <a:cs typeface="Arial"/>
              </a:defRPr>
            </a:lvl3pPr>
            <a:lvl4pPr algn="l">
              <a:defRPr sz="2775" b="1" i="0">
                <a:solidFill>
                  <a:srgbClr val="151D24"/>
                </a:solidFill>
                <a:latin typeface="Arial"/>
                <a:ea typeface="Arial"/>
                <a:cs typeface="Arial"/>
              </a:defRPr>
            </a:lvl4pPr>
            <a:lvl5pPr algn="l">
              <a:defRPr sz="2775" b="1" i="0">
                <a:solidFill>
                  <a:srgbClr val="151D24"/>
                </a:solidFill>
                <a:latin typeface="Arial"/>
                <a:ea typeface="Arial"/>
                <a:cs typeface="Arial"/>
              </a:defRPr>
            </a:lvl5pPr>
            <a:lvl6pPr algn="l">
              <a:defRPr sz="2775" b="1" i="0">
                <a:solidFill>
                  <a:srgbClr val="151D24"/>
                </a:solidFill>
                <a:latin typeface="Arial"/>
                <a:ea typeface="Arial"/>
                <a:cs typeface="Arial"/>
              </a:defRPr>
            </a:lvl6pPr>
            <a:lvl7pPr algn="l">
              <a:defRPr sz="2775" b="1" i="0">
                <a:solidFill>
                  <a:srgbClr val="151D24"/>
                </a:solidFill>
                <a:latin typeface="Arial"/>
                <a:ea typeface="Arial"/>
                <a:cs typeface="Arial"/>
              </a:defRPr>
            </a:lvl7pPr>
            <a:lvl8pPr algn="l">
              <a:defRPr sz="2775" b="1" i="0">
                <a:solidFill>
                  <a:srgbClr val="151D24"/>
                </a:solidFill>
                <a:latin typeface="Arial"/>
                <a:ea typeface="Arial"/>
                <a:cs typeface="Arial"/>
              </a:defRPr>
            </a:lvl8pPr>
            <a:lvl9pPr algn="l">
              <a:defRPr sz="2775" b="1" i="0">
                <a:solidFill>
                  <a:srgbClr val="151D24"/>
                </a:solidFill>
                <a:latin typeface="Arial"/>
                <a:ea typeface="Arial"/>
                <a:cs typeface="Arial"/>
              </a:defRPr>
            </a:lvl9pPr>
          </a:lstStyle>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Công kích hoặc</a:t>
            </a:r>
          </a:p>
          <a:p xmlns:a="http://schemas.openxmlformats.org/drawingml/2006/main">
            <a:pPr algn="l">
              <a:lnSpc>
                <a:spcPct val="108000"/>
              </a:lnSpc>
              <a:buNone/>
              <a:defRPr sz="2775" b="1" i="0">
                <a:solidFill>
                  <a:srgbClr val="151D24"/>
                </a:solidFill>
                <a:latin typeface="Arial"/>
                <a:ea typeface="Arial"/>
                <a:cs typeface="Arial"/>
              </a:defRPr>
            </a:pPr>
            <a:r>
              <a:rPr sz="2775" b="1" i="0">
                <a:solidFill>
                  <a:srgbClr val="151D24"/>
                </a:solidFill>
                <a:latin typeface="Arial"/>
                <a:ea typeface="Arial"/>
                <a:cs typeface="Arial"/>
              </a:rPr>
              <a:t>kêu gọi loại trừ</a:t>
            </a:r>
          </a:p>
        </p:txBody>
      </p:sp>
      <p:sp>
        <p:nvSpPr>
          <p:cNvPr id="12" name="scope-right-body">
            <a:extLst xmlns:a="http://schemas.openxmlformats.org/drawingml/2006/main">
              <a:ext uri="{FF2B5EF4-FFF2-40B4-BE49-F238E27FC236}">
                <a16:creationId xmlns:a16="http://schemas.microsoft.com/office/drawing/2014/main" id="{2662269C-4314-4516-B929-16FD6FE02C73}"/>
              </a:ext>
            </a:extLst>
          </p:cNvPr>
          <p:cNvSpPr>
            <a:spLocks xmlns:a="http://schemas.openxmlformats.org/drawingml/2006/main" noGrp="1"/>
          </p:cNvSpPr>
          <p:nvPr/>
        </p:nvSpPr>
        <p:spPr>
          <a:xfrm xmlns:a="http://schemas.openxmlformats.org/drawingml/2006/main">
            <a:off x="6477000" y="3914775"/>
            <a:ext cx="457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Nhắm vào người dựa trên danh tính nhóm và có thể khuyến khích kỳ thị, thù địch hoặc bạo lực.</a:t>
            </a:r>
          </a:p>
        </p:txBody>
      </p:sp>
      <p:sp>
        <p:nvSpPr>
          <p:cNvPr id="13" name="scope-right-example">
            <a:extLst xmlns:a="http://schemas.openxmlformats.org/drawingml/2006/main">
              <a:ext uri="{FF2B5EF4-FFF2-40B4-BE49-F238E27FC236}">
                <a16:creationId xmlns:a16="http://schemas.microsoft.com/office/drawing/2014/main" id="{5A8CB39F-3245-471A-8B65-7952741A9E95}"/>
              </a:ext>
            </a:extLst>
          </p:cNvPr>
          <p:cNvSpPr>
            <a:spLocks xmlns:a="http://schemas.openxmlformats.org/drawingml/2006/main" noGrp="1"/>
          </p:cNvSpPr>
          <p:nvPr/>
        </p:nvSpPr>
        <p:spPr>
          <a:xfrm xmlns:a="http://schemas.openxmlformats.org/drawingml/2006/main">
            <a:off x="6477000" y="5029200"/>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1">
                <a:solidFill>
                  <a:srgbClr val="151D24"/>
                </a:solidFill>
                <a:latin typeface="Arial"/>
                <a:ea typeface="Arial"/>
                <a:cs typeface="Arial"/>
              </a:defRPr>
            </a:defPPr>
            <a:lvl1pPr algn="l">
              <a:defRPr sz="1350" b="0" i="1">
                <a:solidFill>
                  <a:srgbClr val="151D24"/>
                </a:solidFill>
                <a:latin typeface="Arial"/>
                <a:ea typeface="Arial"/>
                <a:cs typeface="Arial"/>
              </a:defRPr>
            </a:lvl1pPr>
            <a:lvl2pPr algn="l">
              <a:defRPr sz="1350" b="0" i="1">
                <a:solidFill>
                  <a:srgbClr val="151D24"/>
                </a:solidFill>
                <a:latin typeface="Arial"/>
                <a:ea typeface="Arial"/>
                <a:cs typeface="Arial"/>
              </a:defRPr>
            </a:lvl2pPr>
            <a:lvl3pPr algn="l">
              <a:defRPr sz="1350" b="0" i="1">
                <a:solidFill>
                  <a:srgbClr val="151D24"/>
                </a:solidFill>
                <a:latin typeface="Arial"/>
                <a:ea typeface="Arial"/>
                <a:cs typeface="Arial"/>
              </a:defRPr>
            </a:lvl3pPr>
            <a:lvl4pPr algn="l">
              <a:defRPr sz="1350" b="0" i="1">
                <a:solidFill>
                  <a:srgbClr val="151D24"/>
                </a:solidFill>
                <a:latin typeface="Arial"/>
                <a:ea typeface="Arial"/>
                <a:cs typeface="Arial"/>
              </a:defRPr>
            </a:lvl4pPr>
            <a:lvl5pPr algn="l">
              <a:defRPr sz="1350" b="0" i="1">
                <a:solidFill>
                  <a:srgbClr val="151D24"/>
                </a:solidFill>
                <a:latin typeface="Arial"/>
                <a:ea typeface="Arial"/>
                <a:cs typeface="Arial"/>
              </a:defRPr>
            </a:lvl5pPr>
            <a:lvl6pPr algn="l">
              <a:defRPr sz="1350" b="0" i="1">
                <a:solidFill>
                  <a:srgbClr val="151D24"/>
                </a:solidFill>
                <a:latin typeface="Arial"/>
                <a:ea typeface="Arial"/>
                <a:cs typeface="Arial"/>
              </a:defRPr>
            </a:lvl6pPr>
            <a:lvl7pPr algn="l">
              <a:defRPr sz="1350" b="0" i="1">
                <a:solidFill>
                  <a:srgbClr val="151D24"/>
                </a:solidFill>
                <a:latin typeface="Arial"/>
                <a:ea typeface="Arial"/>
                <a:cs typeface="Arial"/>
              </a:defRPr>
            </a:lvl7pPr>
            <a:lvl8pPr algn="l">
              <a:defRPr sz="1350" b="0" i="1">
                <a:solidFill>
                  <a:srgbClr val="151D24"/>
                </a:solidFill>
                <a:latin typeface="Arial"/>
                <a:ea typeface="Arial"/>
                <a:cs typeface="Arial"/>
              </a:defRPr>
            </a:lvl8pPr>
            <a:lvl9pPr algn="l">
              <a:defRPr sz="1350" b="0" i="1">
                <a:solidFill>
                  <a:srgbClr val="151D24"/>
                </a:solidFill>
                <a:latin typeface="Arial"/>
                <a:ea typeface="Arial"/>
                <a:cs typeface="Arial"/>
              </a:defRPr>
            </a:lvl9pPr>
          </a:lstStyle>
          <a:p xmlns:a="http://schemas.openxmlformats.org/drawingml/2006/main">
            <a:pPr algn="l">
              <a:lnSpc>
                <a:spcPct val="108000"/>
              </a:lnSpc>
              <a:buNone/>
              <a:defRPr sz="1350" b="0" i="1">
                <a:solidFill>
                  <a:srgbClr val="151D24"/>
                </a:solidFill>
                <a:latin typeface="Arial"/>
                <a:ea typeface="Arial"/>
                <a:cs typeface="Arial"/>
              </a:defRPr>
            </a:pPr>
            <a:r>
              <a:rPr sz="1350" b="0" i="1">
                <a:solidFill>
                  <a:srgbClr val="151D24"/>
                </a:solidFill>
                <a:latin typeface="Arial"/>
                <a:ea typeface="Arial"/>
                <a:cs typeface="Arial"/>
              </a:rPr>
              <a:t>Ví dụ minh họa: lời kêu gọi đuổi [NHÓM] khỏi nơi ở.</a:t>
            </a:r>
          </a:p>
        </p:txBody>
      </p:sp>
      <p:sp>
        <p:nvSpPr>
          <p:cNvPr id="14" name="scope-takeaway">
            <a:extLst xmlns:a="http://schemas.openxmlformats.org/drawingml/2006/main">
              <a:ext uri="{FF2B5EF4-FFF2-40B4-BE49-F238E27FC236}">
                <a16:creationId xmlns:a16="http://schemas.microsoft.com/office/drawing/2014/main" id="{B146ECF2-AC00-4737-A63F-6D420CBBFDCF}"/>
              </a:ext>
            </a:extLst>
          </p:cNvPr>
          <p:cNvSpPr>
            <a:spLocks xmlns:a="http://schemas.openxmlformats.org/drawingml/2006/main" noGrp="1"/>
          </p:cNvSpPr>
          <p:nvPr/>
        </p:nvSpPr>
        <p:spPr>
          <a:xfrm xmlns:a="http://schemas.openxmlformats.org/drawingml/2006/main">
            <a:off x="800100" y="5810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Một chủ đề gây tranh luận không tự động là thù địch.</a:t>
            </a:r>
          </a:p>
        </p:txBody>
      </p:sp>
      <p:sp>
        <p:nvSpPr>
          <p:cNvPr id="15" name="slide-number">
            <a:extLst xmlns:a="http://schemas.openxmlformats.org/drawingml/2006/main">
              <a:ext uri="{FF2B5EF4-FFF2-40B4-BE49-F238E27FC236}">
                <a16:creationId xmlns:a16="http://schemas.microsoft.com/office/drawing/2014/main" id="{1D01171E-7D3C-4D5D-8143-25CBF67553D1}"/>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02</a:t>
            </a:r>
          </a:p>
        </p:txBody>
      </p:sp>
    </p:spTree>
    <p:extLst>
      <p:ext uri="{BB962C8B-B14F-4D97-AF65-F5344CB8AC3E}">
        <p14:creationId xmlns:p14="http://schemas.microsoft.com/office/powerpoint/2010/main" val="2057936278"/>
      </p:ext>
    </p:extLst>
  </p:cSld>
</p:sld>
</file>

<file path=ppt/slides/slide3.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ADDFCA6F-C8DC-4401-BA88-E0C9363AE9CE}"/>
              </a:ext>
            </a:extLst>
          </p:cNvPr>
          <p:cNvCxnSpPr>
            <a:stCxn xmlns:a="http://schemas.openxmlformats.org/drawingml/2006/main" id="15" idx="3"/>
            <a:endCxn xmlns:a="http://schemas.openxmlformats.org/drawingml/2006/main" id="20" idx="1"/>
          </p:cNvCxnSpPr>
          <p:nvPr/>
        </p:nvCxnSpPr>
        <p:spPr>
          <a:xfrm xmlns:a="http://schemas.openxmlformats.org/drawingml/2006/main">
            <a:off x="8229600" y="3476625"/>
            <a:ext cx="381000" cy="0"/>
          </a:xfrm>
          <a:prstGeom xmlns:a="http://schemas.openxmlformats.org/drawingml/2006/main" prst="straightConnector1">
            <a:avLst/>
          </a:prstGeom>
          <a:ln xmlns:a="http://schemas.openxmlformats.org/drawingml/2006/main" w="19050">
            <a:solidFill>
              <a:srgbClr val="317D73"/>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25504D70-BC94-4A87-92B7-ABDDB6101F89}"/>
              </a:ext>
            </a:extLst>
          </p:cNvPr>
          <p:cNvCxnSpPr>
            <a:stCxn xmlns:a="http://schemas.openxmlformats.org/drawingml/2006/main" id="10" idx="3"/>
            <a:endCxn xmlns:a="http://schemas.openxmlformats.org/drawingml/2006/main" id="15" idx="1"/>
          </p:cNvCxnSpPr>
          <p:nvPr/>
        </p:nvCxnSpPr>
        <p:spPr>
          <a:xfrm xmlns:a="http://schemas.openxmlformats.org/drawingml/2006/main">
            <a:off x="5581650" y="3476625"/>
            <a:ext cx="381000" cy="0"/>
          </a:xfrm>
          <a:prstGeom xmlns:a="http://schemas.openxmlformats.org/drawingml/2006/main" prst="straightConnector1">
            <a:avLst/>
          </a:prstGeom>
          <a:ln xmlns:a="http://schemas.openxmlformats.org/drawingml/2006/main" w="19050">
            <a:solidFill>
              <a:srgbClr val="317D73"/>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400071E4-9C07-4FCA-8E0C-4412C97788FC}"/>
              </a:ext>
            </a:extLst>
          </p:cNvPr>
          <p:cNvCxnSpPr>
            <a:stCxn xmlns:a="http://schemas.openxmlformats.org/drawingml/2006/main" id="5" idx="3"/>
            <a:endCxn xmlns:a="http://schemas.openxmlformats.org/drawingml/2006/main" id="10" idx="1"/>
          </p:cNvCxnSpPr>
          <p:nvPr/>
        </p:nvCxnSpPr>
        <p:spPr>
          <a:xfrm xmlns:a="http://schemas.openxmlformats.org/drawingml/2006/main">
            <a:off x="2933700" y="3476625"/>
            <a:ext cx="381000" cy="0"/>
          </a:xfrm>
          <a:prstGeom xmlns:a="http://schemas.openxmlformats.org/drawingml/2006/main" prst="straightConnector1">
            <a:avLst/>
          </a:prstGeom>
          <a:ln xmlns:a="http://schemas.openxmlformats.org/drawingml/2006/main" w="19050">
            <a:solidFill>
              <a:srgbClr val="317D73"/>
            </a:solidFill>
            <a:prstDash val="solid"/>
            <a:tailEnd type="triangle" w="sm" len="sm"/>
          </a:ln>
        </p:spPr>
      </p:cxnSp>
      <p:sp>
        <p:nvSpPr>
          <p:cNvPr id="30" name="section-label">
            <a:extLst xmlns:a="http://schemas.openxmlformats.org/drawingml/2006/main">
              <a:ext uri="{FF2B5EF4-FFF2-40B4-BE49-F238E27FC236}">
                <a16:creationId xmlns:a16="http://schemas.microsoft.com/office/drawing/2014/main" id="{CC3E54A2-3749-4819-84FC-49710BF3F5C5}"/>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60D6699C-B8B7-43A6-B8B1-863756BA363A}"/>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Luồng hội thoại</a:t>
            </a:r>
          </a:p>
        </p:txBody>
      </p:sp>
      <p:sp>
        <p:nvSpPr>
          <p:cNvPr id="3" name="slide-subtitle">
            <a:extLst xmlns:a="http://schemas.openxmlformats.org/drawingml/2006/main">
              <a:ext uri="{FF2B5EF4-FFF2-40B4-BE49-F238E27FC236}">
                <a16:creationId xmlns:a16="http://schemas.microsoft.com/office/drawing/2014/main" id="{F0A6261F-73AB-439E-A25C-76D00266ACFB}"/>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Người dùng gửi nội dung, chatbot trả kết quả để người dùng xem lại.</a:t>
            </a:r>
          </a:p>
        </p:txBody>
      </p:sp>
      <p:sp>
        <p:nvSpPr>
          <p:cNvPr id="4" name="title-rule">
            <a:extLst xmlns:a="http://schemas.openxmlformats.org/drawingml/2006/main">
              <a:ext uri="{FF2B5EF4-FFF2-40B4-BE49-F238E27FC236}">
                <a16:creationId xmlns:a16="http://schemas.microsoft.com/office/drawing/2014/main" id="{634E5C3C-68D9-4037-BE25-7FC836C15ED6}"/>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flow-input-shape">
            <a:extLst xmlns:a="http://schemas.openxmlformats.org/drawingml/2006/main">
              <a:ext uri="{FF2B5EF4-FFF2-40B4-BE49-F238E27FC236}">
                <a16:creationId xmlns:a16="http://schemas.microsoft.com/office/drawing/2014/main" id="{F19E623C-394B-4206-A3FB-8B84338150D1}"/>
              </a:ext>
            </a:extLst>
          </p:cNvPr>
          <p:cNvSpPr>
            <a:spLocks xmlns:a="http://schemas.openxmlformats.org/drawingml/2006/main" noGrp="1"/>
          </p:cNvSpPr>
          <p:nvPr/>
        </p:nvSpPr>
        <p:spPr>
          <a:xfrm xmlns:a="http://schemas.openxmlformats.org/drawingml/2006/main">
            <a:off x="66675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6" name="flow-input-accent">
            <a:extLst xmlns:a="http://schemas.openxmlformats.org/drawingml/2006/main">
              <a:ext uri="{FF2B5EF4-FFF2-40B4-BE49-F238E27FC236}">
                <a16:creationId xmlns:a16="http://schemas.microsoft.com/office/drawing/2014/main" id="{4D0607B8-C4F3-4C6A-84A7-6BE09AA054FB}"/>
              </a:ext>
            </a:extLst>
          </p:cNvPr>
          <p:cNvSpPr>
            <a:spLocks xmlns:a="http://schemas.openxmlformats.org/drawingml/2006/main" noGrp="1"/>
          </p:cNvSpPr>
          <p:nvPr/>
        </p:nvSpPr>
        <p:spPr>
          <a:xfrm xmlns:a="http://schemas.openxmlformats.org/drawingml/2006/main">
            <a:off x="666750" y="2619375"/>
            <a:ext cx="66675" cy="17145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flow-input-kicker">
            <a:extLst xmlns:a="http://schemas.openxmlformats.org/drawingml/2006/main">
              <a:ext uri="{FF2B5EF4-FFF2-40B4-BE49-F238E27FC236}">
                <a16:creationId xmlns:a16="http://schemas.microsoft.com/office/drawing/2014/main" id="{B585A1DD-BB8F-4093-B606-C277C4431C8A}"/>
              </a:ext>
            </a:extLst>
          </p:cNvPr>
          <p:cNvSpPr>
            <a:spLocks xmlns:a="http://schemas.openxmlformats.org/drawingml/2006/main" noGrp="1"/>
          </p:cNvSpPr>
          <p:nvPr/>
        </p:nvSpPr>
        <p:spPr>
          <a:xfrm xmlns:a="http://schemas.openxmlformats.org/drawingml/2006/main">
            <a:off x="88582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BƯỚC 1</a:t>
            </a:r>
          </a:p>
        </p:txBody>
      </p:sp>
      <p:sp>
        <p:nvSpPr>
          <p:cNvPr id="8" name="flow-input-heading">
            <a:extLst xmlns:a="http://schemas.openxmlformats.org/drawingml/2006/main">
              <a:ext uri="{FF2B5EF4-FFF2-40B4-BE49-F238E27FC236}">
                <a16:creationId xmlns:a16="http://schemas.microsoft.com/office/drawing/2014/main" id="{A03D37BA-0AAB-42DA-82C0-D2702CD3F001}"/>
              </a:ext>
            </a:extLst>
          </p:cNvPr>
          <p:cNvSpPr>
            <a:spLocks xmlns:a="http://schemas.openxmlformats.org/drawingml/2006/main" noGrp="1"/>
          </p:cNvSpPr>
          <p:nvPr/>
        </p:nvSpPr>
        <p:spPr>
          <a:xfrm xmlns:a="http://schemas.openxmlformats.org/drawingml/2006/main">
            <a:off x="88582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Gửi nội dung</a:t>
            </a:r>
          </a:p>
        </p:txBody>
      </p:sp>
      <p:sp>
        <p:nvSpPr>
          <p:cNvPr id="9" name="flow-input-body">
            <a:extLst xmlns:a="http://schemas.openxmlformats.org/drawingml/2006/main">
              <a:ext uri="{FF2B5EF4-FFF2-40B4-BE49-F238E27FC236}">
                <a16:creationId xmlns:a16="http://schemas.microsoft.com/office/drawing/2014/main" id="{F28C7DA8-270B-47EC-885E-30A8F8CCEBA6}"/>
              </a:ext>
            </a:extLst>
          </p:cNvPr>
          <p:cNvSpPr>
            <a:spLocks xmlns:a="http://schemas.openxmlformats.org/drawingml/2006/main" noGrp="1"/>
          </p:cNvSpPr>
          <p:nvPr/>
        </p:nvSpPr>
        <p:spPr>
          <a:xfrm xmlns:a="http://schemas.openxmlformats.org/drawingml/2006/main">
            <a:off x="88582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Nhập câu hoặc chọn ảnh PNG, JPG, WebP.</a:t>
            </a:r>
          </a:p>
        </p:txBody>
      </p:sp>
      <p:sp>
        <p:nvSpPr>
          <p:cNvPr id="10" name="flow-read-shape">
            <a:extLst xmlns:a="http://schemas.openxmlformats.org/drawingml/2006/main">
              <a:ext uri="{FF2B5EF4-FFF2-40B4-BE49-F238E27FC236}">
                <a16:creationId xmlns:a16="http://schemas.microsoft.com/office/drawing/2014/main" id="{54F7EAF6-D76B-4EA5-BB10-678F1FDA29F4}"/>
              </a:ext>
            </a:extLst>
          </p:cNvPr>
          <p:cNvSpPr>
            <a:spLocks xmlns:a="http://schemas.openxmlformats.org/drawingml/2006/main" noGrp="1"/>
          </p:cNvSpPr>
          <p:nvPr/>
        </p:nvSpPr>
        <p:spPr>
          <a:xfrm xmlns:a="http://schemas.openxmlformats.org/drawingml/2006/main">
            <a:off x="331470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11" name="flow-read-accent">
            <a:extLst xmlns:a="http://schemas.openxmlformats.org/drawingml/2006/main">
              <a:ext uri="{FF2B5EF4-FFF2-40B4-BE49-F238E27FC236}">
                <a16:creationId xmlns:a16="http://schemas.microsoft.com/office/drawing/2014/main" id="{B44C3021-4DFE-44BA-919A-68AB7728C680}"/>
              </a:ext>
            </a:extLst>
          </p:cNvPr>
          <p:cNvSpPr>
            <a:spLocks xmlns:a="http://schemas.openxmlformats.org/drawingml/2006/main" noGrp="1"/>
          </p:cNvSpPr>
          <p:nvPr/>
        </p:nvSpPr>
        <p:spPr>
          <a:xfrm xmlns:a="http://schemas.openxmlformats.org/drawingml/2006/main">
            <a:off x="3314700" y="2619375"/>
            <a:ext cx="66675" cy="17145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flow-read-kicker">
            <a:extLst xmlns:a="http://schemas.openxmlformats.org/drawingml/2006/main">
              <a:ext uri="{FF2B5EF4-FFF2-40B4-BE49-F238E27FC236}">
                <a16:creationId xmlns:a16="http://schemas.microsoft.com/office/drawing/2014/main" id="{B741FCF1-6E34-4FE8-872D-570B2D5444D9}"/>
              </a:ext>
            </a:extLst>
          </p:cNvPr>
          <p:cNvSpPr>
            <a:spLocks xmlns:a="http://schemas.openxmlformats.org/drawingml/2006/main" noGrp="1"/>
          </p:cNvSpPr>
          <p:nvPr/>
        </p:nvSpPr>
        <p:spPr>
          <a:xfrm xmlns:a="http://schemas.openxmlformats.org/drawingml/2006/main">
            <a:off x="353377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BƯỚC 2</a:t>
            </a:r>
          </a:p>
        </p:txBody>
      </p:sp>
      <p:sp>
        <p:nvSpPr>
          <p:cNvPr id="13" name="flow-read-heading">
            <a:extLst xmlns:a="http://schemas.openxmlformats.org/drawingml/2006/main">
              <a:ext uri="{FF2B5EF4-FFF2-40B4-BE49-F238E27FC236}">
                <a16:creationId xmlns:a16="http://schemas.microsoft.com/office/drawing/2014/main" id="{5EFE80A5-9D74-4B07-9FB4-F409CA595F43}"/>
              </a:ext>
            </a:extLst>
          </p:cNvPr>
          <p:cNvSpPr>
            <a:spLocks xmlns:a="http://schemas.openxmlformats.org/drawingml/2006/main" noGrp="1"/>
          </p:cNvSpPr>
          <p:nvPr/>
        </p:nvSpPr>
        <p:spPr>
          <a:xfrm xmlns:a="http://schemas.openxmlformats.org/drawingml/2006/main">
            <a:off x="353377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Đọc chữ</a:t>
            </a:r>
          </a:p>
        </p:txBody>
      </p:sp>
      <p:sp>
        <p:nvSpPr>
          <p:cNvPr id="14" name="flow-read-body">
            <a:extLst xmlns:a="http://schemas.openxmlformats.org/drawingml/2006/main">
              <a:ext uri="{FF2B5EF4-FFF2-40B4-BE49-F238E27FC236}">
                <a16:creationId xmlns:a16="http://schemas.microsoft.com/office/drawing/2014/main" id="{28A56897-9227-4F0B-9BD9-F30108B5B50F}"/>
              </a:ext>
            </a:extLst>
          </p:cNvPr>
          <p:cNvSpPr>
            <a:spLocks xmlns:a="http://schemas.openxmlformats.org/drawingml/2006/main" noGrp="1"/>
          </p:cNvSpPr>
          <p:nvPr/>
        </p:nvSpPr>
        <p:spPr>
          <a:xfrm xmlns:a="http://schemas.openxmlformats.org/drawingml/2006/main">
            <a:off x="353377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Văn bản đi thẳng tới bộ phân loại. Ảnh được OCR.</a:t>
            </a:r>
          </a:p>
        </p:txBody>
      </p:sp>
      <p:sp>
        <p:nvSpPr>
          <p:cNvPr id="15" name="flow-model-shape">
            <a:extLst xmlns:a="http://schemas.openxmlformats.org/drawingml/2006/main">
              <a:ext uri="{FF2B5EF4-FFF2-40B4-BE49-F238E27FC236}">
                <a16:creationId xmlns:a16="http://schemas.microsoft.com/office/drawing/2014/main" id="{3C838DEA-9D00-4D24-818D-7F355BC51AD2}"/>
              </a:ext>
            </a:extLst>
          </p:cNvPr>
          <p:cNvSpPr>
            <a:spLocks xmlns:a="http://schemas.openxmlformats.org/drawingml/2006/main" noGrp="1"/>
          </p:cNvSpPr>
          <p:nvPr/>
        </p:nvSpPr>
        <p:spPr>
          <a:xfrm xmlns:a="http://schemas.openxmlformats.org/drawingml/2006/main">
            <a:off x="596265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16" name="flow-model-accent">
            <a:extLst xmlns:a="http://schemas.openxmlformats.org/drawingml/2006/main">
              <a:ext uri="{FF2B5EF4-FFF2-40B4-BE49-F238E27FC236}">
                <a16:creationId xmlns:a16="http://schemas.microsoft.com/office/drawing/2014/main" id="{F3BF44C0-3011-4E00-BE72-F7D28F6375E9}"/>
              </a:ext>
            </a:extLst>
          </p:cNvPr>
          <p:cNvSpPr>
            <a:spLocks xmlns:a="http://schemas.openxmlformats.org/drawingml/2006/main" noGrp="1"/>
          </p:cNvSpPr>
          <p:nvPr/>
        </p:nvSpPr>
        <p:spPr>
          <a:xfrm xmlns:a="http://schemas.openxmlformats.org/drawingml/2006/main">
            <a:off x="5962650" y="2619375"/>
            <a:ext cx="66675" cy="17145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flow-model-kicker">
            <a:extLst xmlns:a="http://schemas.openxmlformats.org/drawingml/2006/main">
              <a:ext uri="{FF2B5EF4-FFF2-40B4-BE49-F238E27FC236}">
                <a16:creationId xmlns:a16="http://schemas.microsoft.com/office/drawing/2014/main" id="{97795DB1-AAEE-4958-BCFC-A034D4AE9B11}"/>
              </a:ext>
            </a:extLst>
          </p:cNvPr>
          <p:cNvSpPr>
            <a:spLocks xmlns:a="http://schemas.openxmlformats.org/drawingml/2006/main" noGrp="1"/>
          </p:cNvSpPr>
          <p:nvPr/>
        </p:nvSpPr>
        <p:spPr>
          <a:xfrm xmlns:a="http://schemas.openxmlformats.org/drawingml/2006/main">
            <a:off x="618172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BƯỚC 3</a:t>
            </a:r>
          </a:p>
        </p:txBody>
      </p:sp>
      <p:sp>
        <p:nvSpPr>
          <p:cNvPr id="18" name="flow-model-heading">
            <a:extLst xmlns:a="http://schemas.openxmlformats.org/drawingml/2006/main">
              <a:ext uri="{FF2B5EF4-FFF2-40B4-BE49-F238E27FC236}">
                <a16:creationId xmlns:a16="http://schemas.microsoft.com/office/drawing/2014/main" id="{8E2A17E0-A774-47DA-BD4F-3C1404456A70}"/>
              </a:ext>
            </a:extLst>
          </p:cNvPr>
          <p:cNvSpPr>
            <a:spLocks xmlns:a="http://schemas.openxmlformats.org/drawingml/2006/main" noGrp="1"/>
          </p:cNvSpPr>
          <p:nvPr/>
        </p:nvSpPr>
        <p:spPr>
          <a:xfrm xmlns:a="http://schemas.openxmlformats.org/drawingml/2006/main">
            <a:off x="618172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Phân loại</a:t>
            </a:r>
          </a:p>
        </p:txBody>
      </p:sp>
      <p:sp>
        <p:nvSpPr>
          <p:cNvPr id="19" name="flow-model-body">
            <a:extLst xmlns:a="http://schemas.openxmlformats.org/drawingml/2006/main">
              <a:ext uri="{FF2B5EF4-FFF2-40B4-BE49-F238E27FC236}">
                <a16:creationId xmlns:a16="http://schemas.microsoft.com/office/drawing/2014/main" id="{F0EF02B8-5FEE-47CA-A888-6785781AB41A}"/>
              </a:ext>
            </a:extLst>
          </p:cNvPr>
          <p:cNvSpPr>
            <a:spLocks xmlns:a="http://schemas.openxmlformats.org/drawingml/2006/main" noGrp="1"/>
          </p:cNvSpPr>
          <p:nvPr/>
        </p:nvSpPr>
        <p:spPr>
          <a:xfrm xmlns:a="http://schemas.openxmlformats.org/drawingml/2006/main">
            <a:off x="618172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TF-IDF và Logistic Regression dự đoán nhãn.</a:t>
            </a:r>
          </a:p>
        </p:txBody>
      </p:sp>
      <p:sp>
        <p:nvSpPr>
          <p:cNvPr id="20" name="flow-result-shape">
            <a:extLst xmlns:a="http://schemas.openxmlformats.org/drawingml/2006/main">
              <a:ext uri="{FF2B5EF4-FFF2-40B4-BE49-F238E27FC236}">
                <a16:creationId xmlns:a16="http://schemas.microsoft.com/office/drawing/2014/main" id="{9A0363D7-E11F-4467-83E1-98693160CB3C}"/>
              </a:ext>
            </a:extLst>
          </p:cNvPr>
          <p:cNvSpPr>
            <a:spLocks xmlns:a="http://schemas.openxmlformats.org/drawingml/2006/main" noGrp="1"/>
          </p:cNvSpPr>
          <p:nvPr/>
        </p:nvSpPr>
        <p:spPr>
          <a:xfrm xmlns:a="http://schemas.openxmlformats.org/drawingml/2006/main">
            <a:off x="8610600" y="2619375"/>
            <a:ext cx="2266950" cy="171450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6D8D3"/>
            </a:solidFill>
            <a:prstDash val="solid"/>
          </a:ln>
        </p:spPr>
      </p:sp>
      <p:sp>
        <p:nvSpPr>
          <p:cNvPr id="21" name="flow-result-accent">
            <a:extLst xmlns:a="http://schemas.openxmlformats.org/drawingml/2006/main">
              <a:ext uri="{FF2B5EF4-FFF2-40B4-BE49-F238E27FC236}">
                <a16:creationId xmlns:a16="http://schemas.microsoft.com/office/drawing/2014/main" id="{7A959107-965C-4565-B444-19183B437A73}"/>
              </a:ext>
            </a:extLst>
          </p:cNvPr>
          <p:cNvSpPr>
            <a:spLocks xmlns:a="http://schemas.openxmlformats.org/drawingml/2006/main" noGrp="1"/>
          </p:cNvSpPr>
          <p:nvPr/>
        </p:nvSpPr>
        <p:spPr>
          <a:xfrm xmlns:a="http://schemas.openxmlformats.org/drawingml/2006/main">
            <a:off x="8610600" y="2619375"/>
            <a:ext cx="66675" cy="17145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flow-result-kicker">
            <a:extLst xmlns:a="http://schemas.openxmlformats.org/drawingml/2006/main">
              <a:ext uri="{FF2B5EF4-FFF2-40B4-BE49-F238E27FC236}">
                <a16:creationId xmlns:a16="http://schemas.microsoft.com/office/drawing/2014/main" id="{89488294-DCC4-4D44-BA57-54AC30FB103D}"/>
              </a:ext>
            </a:extLst>
          </p:cNvPr>
          <p:cNvSpPr>
            <a:spLocks xmlns:a="http://schemas.openxmlformats.org/drawingml/2006/main" noGrp="1"/>
          </p:cNvSpPr>
          <p:nvPr/>
        </p:nvSpPr>
        <p:spPr>
          <a:xfrm xmlns:a="http://schemas.openxmlformats.org/drawingml/2006/main">
            <a:off x="8829675" y="27908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BƯỚC 4</a:t>
            </a:r>
          </a:p>
        </p:txBody>
      </p:sp>
      <p:sp>
        <p:nvSpPr>
          <p:cNvPr id="23" name="flow-result-heading">
            <a:extLst xmlns:a="http://schemas.openxmlformats.org/drawingml/2006/main">
              <a:ext uri="{FF2B5EF4-FFF2-40B4-BE49-F238E27FC236}">
                <a16:creationId xmlns:a16="http://schemas.microsoft.com/office/drawing/2014/main" id="{FD04EAA8-73AC-4FDC-A06A-85599B361900}"/>
              </a:ext>
            </a:extLst>
          </p:cNvPr>
          <p:cNvSpPr>
            <a:spLocks xmlns:a="http://schemas.openxmlformats.org/drawingml/2006/main" noGrp="1"/>
          </p:cNvSpPr>
          <p:nvPr/>
        </p:nvSpPr>
        <p:spPr>
          <a:xfrm xmlns:a="http://schemas.openxmlformats.org/drawingml/2006/main">
            <a:off x="8829675" y="30480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Xem kết quả</a:t>
            </a:r>
          </a:p>
        </p:txBody>
      </p:sp>
      <p:sp>
        <p:nvSpPr>
          <p:cNvPr id="24" name="flow-result-body">
            <a:extLst xmlns:a="http://schemas.openxmlformats.org/drawingml/2006/main">
              <a:ext uri="{FF2B5EF4-FFF2-40B4-BE49-F238E27FC236}">
                <a16:creationId xmlns:a16="http://schemas.microsoft.com/office/drawing/2014/main" id="{5822A602-3563-47D1-ACA7-CD7C8B21E075}"/>
              </a:ext>
            </a:extLst>
          </p:cNvPr>
          <p:cNvSpPr>
            <a:spLocks xmlns:a="http://schemas.openxmlformats.org/drawingml/2006/main" noGrp="1"/>
          </p:cNvSpPr>
          <p:nvPr/>
        </p:nvSpPr>
        <p:spPr>
          <a:xfrm xmlns:a="http://schemas.openxmlformats.org/drawingml/2006/main">
            <a:off x="8829675" y="34861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Hiện nhãn, điểm dự đoán và chữ OCR.</a:t>
            </a:r>
          </a:p>
        </p:txBody>
      </p:sp>
      <p:sp>
        <p:nvSpPr>
          <p:cNvPr id="28" name="flow-note">
            <a:extLst xmlns:a="http://schemas.openxmlformats.org/drawingml/2006/main">
              <a:ext uri="{FF2B5EF4-FFF2-40B4-BE49-F238E27FC236}">
                <a16:creationId xmlns:a16="http://schemas.microsoft.com/office/drawing/2014/main" id="{C0F3C4A9-9A80-403A-99B5-4EE766F49915}"/>
              </a:ext>
            </a:extLst>
          </p:cNvPr>
          <p:cNvSpPr>
            <a:spLocks xmlns:a="http://schemas.openxmlformats.org/drawingml/2006/main" noGrp="1"/>
          </p:cNvSpPr>
          <p:nvPr/>
        </p:nvSpPr>
        <p:spPr>
          <a:xfrm xmlns:a="http://schemas.openxmlformats.org/drawingml/2006/main">
            <a:off x="800100" y="49911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Ảnh không được lưu thành tệp dự án. Lịch sử hội thoại và ảnh thu nhỏ chỉ giữ tạm trong RAM khi ứng dụng đang chạy.</a:t>
            </a:r>
          </a:p>
        </p:txBody>
      </p:sp>
      <p:sp>
        <p:nvSpPr>
          <p:cNvPr id="29" name="slide-number">
            <a:extLst xmlns:a="http://schemas.openxmlformats.org/drawingml/2006/main">
              <a:ext uri="{FF2B5EF4-FFF2-40B4-BE49-F238E27FC236}">
                <a16:creationId xmlns:a16="http://schemas.microsoft.com/office/drawing/2014/main" id="{A51891F1-9636-4011-899C-B5ADB8B18121}"/>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03</a:t>
            </a:r>
          </a:p>
        </p:txBody>
      </p:sp>
    </p:spTree>
    <p:extLst>
      <p:ext uri="{BB962C8B-B14F-4D97-AF65-F5344CB8AC3E}">
        <p14:creationId xmlns:p14="http://schemas.microsoft.com/office/powerpoint/2010/main" val="539340354"/>
      </p:ext>
    </p:extLst>
  </p:cSld>
</p:sld>
</file>

<file path=ppt/slides/slide4.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12B05B81-BCE6-412D-B6B7-2CF1FEA9A04E}"/>
              </a:ext>
            </a:extLst>
          </p:cNvPr>
          <p:cNvCxnSpPr>
            <a:stCxn xmlns:a="http://schemas.openxmlformats.org/drawingml/2006/main" id="15" idx="3"/>
            <a:endCxn xmlns:a="http://schemas.openxmlformats.org/drawingml/2006/main" id="25" idx="1"/>
          </p:cNvCxnSpPr>
          <p:nvPr/>
        </p:nvCxnSpPr>
        <p:spPr>
          <a:xfrm xmlns:a="http://schemas.openxmlformats.org/drawingml/2006/main">
            <a:off x="9001125" y="2505075"/>
            <a:ext cx="523875" cy="904875"/>
          </a:xfrm>
          <a:prstGeom xmlns:a="http://schemas.openxmlformats.org/drawingml/2006/main" prst="bentConnector3">
            <a:avLst>
              <a:gd name="adj1" fmla="val 50000"/>
            </a:avLst>
          </a:prstGeom>
          <a:ln xmlns:a="http://schemas.openxmlformats.org/drawingml/2006/main" w="19050">
            <a:solidFill>
              <a:srgbClr val="317D73"/>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7F7F6691-BAAC-461C-AD30-A76F1D07A6B4}"/>
              </a:ext>
            </a:extLst>
          </p:cNvPr>
          <p:cNvCxnSpPr>
            <a:stCxn xmlns:a="http://schemas.openxmlformats.org/drawingml/2006/main" id="20" idx="0"/>
            <a:endCxn xmlns:a="http://schemas.openxmlformats.org/drawingml/2006/main" id="15" idx="2"/>
          </p:cNvCxnSpPr>
          <p:nvPr/>
        </p:nvCxnSpPr>
        <p:spPr>
          <a:xfrm xmlns:a="http://schemas.openxmlformats.org/drawingml/2006/main" flipV="1">
            <a:off x="7834313" y="3152775"/>
            <a:ext cx="0" cy="809625"/>
          </a:xfrm>
          <a:prstGeom xmlns:a="http://schemas.openxmlformats.org/drawingml/2006/main" prst="straightConnector1">
            <a:avLst/>
          </a:prstGeom>
          <a:ln xmlns:a="http://schemas.openxmlformats.org/drawingml/2006/main" w="19050">
            <a:solidFill>
              <a:srgbClr val="D66F57"/>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917D39B0-C348-47D0-AEAD-54789F405381}"/>
              </a:ext>
            </a:extLst>
          </p:cNvPr>
          <p:cNvCxnSpPr>
            <a:stCxn xmlns:a="http://schemas.openxmlformats.org/drawingml/2006/main" id="10" idx="3"/>
            <a:endCxn xmlns:a="http://schemas.openxmlformats.org/drawingml/2006/main" id="20" idx="1"/>
          </p:cNvCxnSpPr>
          <p:nvPr/>
        </p:nvCxnSpPr>
        <p:spPr>
          <a:xfrm xmlns:a="http://schemas.openxmlformats.org/drawingml/2006/main">
            <a:off x="5448300" y="3409950"/>
            <a:ext cx="1219200" cy="1200150"/>
          </a:xfrm>
          <a:prstGeom xmlns:a="http://schemas.openxmlformats.org/drawingml/2006/main" prst="bentConnector3">
            <a:avLst>
              <a:gd name="adj1" fmla="val 50000"/>
            </a:avLst>
          </a:prstGeom>
          <a:ln xmlns:a="http://schemas.openxmlformats.org/drawingml/2006/main" w="19050">
            <a:solidFill>
              <a:srgbClr val="D66F57"/>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D7F2E31B-AA64-4214-8537-72D279811275}"/>
              </a:ext>
            </a:extLst>
          </p:cNvPr>
          <p:cNvCxnSpPr>
            <a:stCxn xmlns:a="http://schemas.openxmlformats.org/drawingml/2006/main" id="10" idx="3"/>
            <a:endCxn xmlns:a="http://schemas.openxmlformats.org/drawingml/2006/main" id="15" idx="1"/>
          </p:cNvCxnSpPr>
          <p:nvPr/>
        </p:nvCxnSpPr>
        <p:spPr>
          <a:xfrm xmlns:a="http://schemas.openxmlformats.org/drawingml/2006/main" flipV="1">
            <a:off x="5448300" y="2505075"/>
            <a:ext cx="1219200" cy="904875"/>
          </a:xfrm>
          <a:prstGeom xmlns:a="http://schemas.openxmlformats.org/drawingml/2006/main" prst="bentConnector3">
            <a:avLst>
              <a:gd name="adj1" fmla="val 50000"/>
            </a:avLst>
          </a:prstGeom>
          <a:ln xmlns:a="http://schemas.openxmlformats.org/drawingml/2006/main" w="19050">
            <a:solidFill>
              <a:srgbClr val="317D73"/>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882FCCD9-638E-4072-9F2A-A826C229AA56}"/>
              </a:ext>
            </a:extLst>
          </p:cNvPr>
          <p:cNvCxnSpPr>
            <a:stCxn xmlns:a="http://schemas.openxmlformats.org/drawingml/2006/main" id="5" idx="3"/>
            <a:endCxn xmlns:a="http://schemas.openxmlformats.org/drawingml/2006/main" id="10" idx="1"/>
          </p:cNvCxnSpPr>
          <p:nvPr/>
        </p:nvCxnSpPr>
        <p:spPr>
          <a:xfrm xmlns:a="http://schemas.openxmlformats.org/drawingml/2006/main">
            <a:off x="2619375" y="3409950"/>
            <a:ext cx="714375" cy="0"/>
          </a:xfrm>
          <a:prstGeom xmlns:a="http://schemas.openxmlformats.org/drawingml/2006/main" prst="straightConnector1">
            <a:avLst/>
          </a:prstGeom>
          <a:ln xmlns:a="http://schemas.openxmlformats.org/drawingml/2006/main" w="19050">
            <a:solidFill>
              <a:srgbClr val="222E37"/>
            </a:solidFill>
            <a:prstDash val="solid"/>
            <a:tailEnd type="triangle" w="sm" len="sm"/>
          </a:ln>
        </p:spPr>
      </p:cxnSp>
      <p:sp>
        <p:nvSpPr>
          <p:cNvPr id="37" name="section-label">
            <a:extLst xmlns:a="http://schemas.openxmlformats.org/drawingml/2006/main">
              <a:ext uri="{FF2B5EF4-FFF2-40B4-BE49-F238E27FC236}">
                <a16:creationId xmlns:a16="http://schemas.microsoft.com/office/drawing/2014/main" id="{F7C7EC43-89FB-405E-A923-563EDFBDE9AF}"/>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46C230C2-E8F0-4DE1-9663-DE8F3A7A8A79}"/>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Kiến trúc chạy cục bộ</a:t>
            </a:r>
          </a:p>
        </p:txBody>
      </p:sp>
      <p:sp>
        <p:nvSpPr>
          <p:cNvPr id="3" name="slide-subtitle">
            <a:extLst xmlns:a="http://schemas.openxmlformats.org/drawingml/2006/main">
              <a:ext uri="{FF2B5EF4-FFF2-40B4-BE49-F238E27FC236}">
                <a16:creationId xmlns:a16="http://schemas.microsoft.com/office/drawing/2014/main" id="{0A440AD5-A144-4CBA-A1DB-FA623538E8DB}"/>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Một backend Flask điều phối OCR và bộ phân loại; không gọi dịch vụ sinh văn bản bên ngoài.</a:t>
            </a:r>
          </a:p>
        </p:txBody>
      </p:sp>
      <p:sp>
        <p:nvSpPr>
          <p:cNvPr id="4" name="title-rule">
            <a:extLst xmlns:a="http://schemas.openxmlformats.org/drawingml/2006/main">
              <a:ext uri="{FF2B5EF4-FFF2-40B4-BE49-F238E27FC236}">
                <a16:creationId xmlns:a16="http://schemas.microsoft.com/office/drawing/2014/main" id="{7FF8C148-D881-46C4-8B91-55B4B820A28E}"/>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arch-browser-shape">
            <a:extLst xmlns:a="http://schemas.openxmlformats.org/drawingml/2006/main">
              <a:ext uri="{FF2B5EF4-FFF2-40B4-BE49-F238E27FC236}">
                <a16:creationId xmlns:a16="http://schemas.microsoft.com/office/drawing/2014/main" id="{4770757F-D295-4BF0-BA77-F7C086751D01}"/>
              </a:ext>
            </a:extLst>
          </p:cNvPr>
          <p:cNvSpPr>
            <a:spLocks xmlns:a="http://schemas.openxmlformats.org/drawingml/2006/main" noGrp="1"/>
          </p:cNvSpPr>
          <p:nvPr/>
        </p:nvSpPr>
        <p:spPr>
          <a:xfrm xmlns:a="http://schemas.openxmlformats.org/drawingml/2006/main">
            <a:off x="666750" y="2762250"/>
            <a:ext cx="1952625"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6" name="arch-browser-accent">
            <a:extLst xmlns:a="http://schemas.openxmlformats.org/drawingml/2006/main">
              <a:ext uri="{FF2B5EF4-FFF2-40B4-BE49-F238E27FC236}">
                <a16:creationId xmlns:a16="http://schemas.microsoft.com/office/drawing/2014/main" id="{23668F79-0362-419D-95DE-47D7D7A05356}"/>
              </a:ext>
            </a:extLst>
          </p:cNvPr>
          <p:cNvSpPr>
            <a:spLocks xmlns:a="http://schemas.openxmlformats.org/drawingml/2006/main" noGrp="1"/>
          </p:cNvSpPr>
          <p:nvPr/>
        </p:nvSpPr>
        <p:spPr>
          <a:xfrm xmlns:a="http://schemas.openxmlformats.org/drawingml/2006/main">
            <a:off x="666750" y="2762250"/>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arch-browser-kicker">
            <a:extLst xmlns:a="http://schemas.openxmlformats.org/drawingml/2006/main">
              <a:ext uri="{FF2B5EF4-FFF2-40B4-BE49-F238E27FC236}">
                <a16:creationId xmlns:a16="http://schemas.microsoft.com/office/drawing/2014/main" id="{13D7BC02-2B2E-49A6-9407-0B598FE2B47A}"/>
              </a:ext>
            </a:extLst>
          </p:cNvPr>
          <p:cNvSpPr>
            <a:spLocks xmlns:a="http://schemas.openxmlformats.org/drawingml/2006/main" noGrp="1"/>
          </p:cNvSpPr>
          <p:nvPr/>
        </p:nvSpPr>
        <p:spPr>
          <a:xfrm xmlns:a="http://schemas.openxmlformats.org/drawingml/2006/main">
            <a:off x="885825" y="2933700"/>
            <a:ext cx="1552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GIAO DIỆN</a:t>
            </a:r>
          </a:p>
        </p:txBody>
      </p:sp>
      <p:sp>
        <p:nvSpPr>
          <p:cNvPr id="8" name="arch-browser-heading">
            <a:extLst xmlns:a="http://schemas.openxmlformats.org/drawingml/2006/main">
              <a:ext uri="{FF2B5EF4-FFF2-40B4-BE49-F238E27FC236}">
                <a16:creationId xmlns:a16="http://schemas.microsoft.com/office/drawing/2014/main" id="{55AE32FB-F4CF-40DD-8311-DBE1816C94E9}"/>
              </a:ext>
            </a:extLst>
          </p:cNvPr>
          <p:cNvSpPr>
            <a:spLocks xmlns:a="http://schemas.openxmlformats.org/drawingml/2006/main" noGrp="1"/>
          </p:cNvSpPr>
          <p:nvPr/>
        </p:nvSpPr>
        <p:spPr>
          <a:xfrm xmlns:a="http://schemas.openxmlformats.org/drawingml/2006/main">
            <a:off x="885825" y="3190875"/>
            <a:ext cx="1552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Trình duyệt</a:t>
            </a:r>
          </a:p>
        </p:txBody>
      </p:sp>
      <p:sp>
        <p:nvSpPr>
          <p:cNvPr id="9" name="arch-browser-body">
            <a:extLst xmlns:a="http://schemas.openxmlformats.org/drawingml/2006/main">
              <a:ext uri="{FF2B5EF4-FFF2-40B4-BE49-F238E27FC236}">
                <a16:creationId xmlns:a16="http://schemas.microsoft.com/office/drawing/2014/main" id="{BCBCE553-4B2E-46A3-AD94-5B80C1FE7116}"/>
              </a:ext>
            </a:extLst>
          </p:cNvPr>
          <p:cNvSpPr>
            <a:spLocks xmlns:a="http://schemas.openxmlformats.org/drawingml/2006/main" noGrp="1"/>
          </p:cNvSpPr>
          <p:nvPr/>
        </p:nvSpPr>
        <p:spPr>
          <a:xfrm xmlns:a="http://schemas.openxmlformats.org/drawingml/2006/main">
            <a:off x="885825" y="362902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56"/>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Form văn bản và ảnh.</a:t>
            </a:r>
          </a:p>
        </p:txBody>
      </p:sp>
      <p:sp>
        <p:nvSpPr>
          <p:cNvPr id="10" name="arch-flask-shape">
            <a:extLst xmlns:a="http://schemas.openxmlformats.org/drawingml/2006/main">
              <a:ext uri="{FF2B5EF4-FFF2-40B4-BE49-F238E27FC236}">
                <a16:creationId xmlns:a16="http://schemas.microsoft.com/office/drawing/2014/main" id="{B1114DA0-4328-42B5-91A5-DD8736516F8E}"/>
              </a:ext>
            </a:extLst>
          </p:cNvPr>
          <p:cNvSpPr>
            <a:spLocks xmlns:a="http://schemas.openxmlformats.org/drawingml/2006/main" noGrp="1"/>
          </p:cNvSpPr>
          <p:nvPr/>
        </p:nvSpPr>
        <p:spPr>
          <a:xfrm xmlns:a="http://schemas.openxmlformats.org/drawingml/2006/main">
            <a:off x="3333750" y="2762250"/>
            <a:ext cx="211455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11" name="arch-flask-accent">
            <a:extLst xmlns:a="http://schemas.openxmlformats.org/drawingml/2006/main">
              <a:ext uri="{FF2B5EF4-FFF2-40B4-BE49-F238E27FC236}">
                <a16:creationId xmlns:a16="http://schemas.microsoft.com/office/drawing/2014/main" id="{9C748C6A-F4D5-4211-BDA6-C99996213A18}"/>
              </a:ext>
            </a:extLst>
          </p:cNvPr>
          <p:cNvSpPr>
            <a:spLocks xmlns:a="http://schemas.openxmlformats.org/drawingml/2006/main" noGrp="1"/>
          </p:cNvSpPr>
          <p:nvPr/>
        </p:nvSpPr>
        <p:spPr>
          <a:xfrm xmlns:a="http://schemas.openxmlformats.org/drawingml/2006/main">
            <a:off x="3333750" y="2762250"/>
            <a:ext cx="66675" cy="1295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arch-flask-kicker">
            <a:extLst xmlns:a="http://schemas.openxmlformats.org/drawingml/2006/main">
              <a:ext uri="{FF2B5EF4-FFF2-40B4-BE49-F238E27FC236}">
                <a16:creationId xmlns:a16="http://schemas.microsoft.com/office/drawing/2014/main" id="{5E9F7ED0-1E08-4BE2-BA1B-A8B3763A1845}"/>
              </a:ext>
            </a:extLst>
          </p:cNvPr>
          <p:cNvSpPr>
            <a:spLocks xmlns:a="http://schemas.openxmlformats.org/drawingml/2006/main" noGrp="1"/>
          </p:cNvSpPr>
          <p:nvPr/>
        </p:nvSpPr>
        <p:spPr>
          <a:xfrm xmlns:a="http://schemas.openxmlformats.org/drawingml/2006/main">
            <a:off x="3552825" y="29337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BACKEND</a:t>
            </a:r>
          </a:p>
        </p:txBody>
      </p:sp>
      <p:sp>
        <p:nvSpPr>
          <p:cNvPr id="13" name="arch-flask-heading">
            <a:extLst xmlns:a="http://schemas.openxmlformats.org/drawingml/2006/main">
              <a:ext uri="{FF2B5EF4-FFF2-40B4-BE49-F238E27FC236}">
                <a16:creationId xmlns:a16="http://schemas.microsoft.com/office/drawing/2014/main" id="{8ECD9B21-04CA-4EAA-8441-0B2DAE576E1F}"/>
              </a:ext>
            </a:extLst>
          </p:cNvPr>
          <p:cNvSpPr>
            <a:spLocks xmlns:a="http://schemas.openxmlformats.org/drawingml/2006/main" noGrp="1"/>
          </p:cNvSpPr>
          <p:nvPr/>
        </p:nvSpPr>
        <p:spPr>
          <a:xfrm xmlns:a="http://schemas.openxmlformats.org/drawingml/2006/main">
            <a:off x="3552825" y="31908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Flask</a:t>
            </a:r>
          </a:p>
        </p:txBody>
      </p:sp>
      <p:sp>
        <p:nvSpPr>
          <p:cNvPr id="14" name="arch-flask-body">
            <a:extLst xmlns:a="http://schemas.openxmlformats.org/drawingml/2006/main">
              <a:ext uri="{FF2B5EF4-FFF2-40B4-BE49-F238E27FC236}">
                <a16:creationId xmlns:a16="http://schemas.microsoft.com/office/drawing/2014/main" id="{5227C74F-F3CE-431A-B9F4-9A028606CDF3}"/>
              </a:ext>
            </a:extLst>
          </p:cNvPr>
          <p:cNvSpPr>
            <a:spLocks xmlns:a="http://schemas.openxmlformats.org/drawingml/2006/main" noGrp="1"/>
          </p:cNvSpPr>
          <p:nvPr/>
        </p:nvSpPr>
        <p:spPr>
          <a:xfrm xmlns:a="http://schemas.openxmlformats.org/drawingml/2006/main">
            <a:off x="3552825" y="36290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468"/>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Nhận form, quản lý phiên.</a:t>
            </a:r>
          </a:p>
        </p:txBody>
      </p:sp>
      <p:sp>
        <p:nvSpPr>
          <p:cNvPr id="15" name="arch-model-shape">
            <a:extLst xmlns:a="http://schemas.openxmlformats.org/drawingml/2006/main">
              <a:ext uri="{FF2B5EF4-FFF2-40B4-BE49-F238E27FC236}">
                <a16:creationId xmlns:a16="http://schemas.microsoft.com/office/drawing/2014/main" id="{12D066CB-92E0-4971-B05F-C4411A492B37}"/>
              </a:ext>
            </a:extLst>
          </p:cNvPr>
          <p:cNvSpPr>
            <a:spLocks xmlns:a="http://schemas.openxmlformats.org/drawingml/2006/main" noGrp="1"/>
          </p:cNvSpPr>
          <p:nvPr/>
        </p:nvSpPr>
        <p:spPr>
          <a:xfrm xmlns:a="http://schemas.openxmlformats.org/drawingml/2006/main">
            <a:off x="6667500" y="1857375"/>
            <a:ext cx="2333625" cy="1295400"/>
          </a:xfrm>
          <a:prstGeom xmlns:a="http://schemas.openxmlformats.org/drawingml/2006/main" prst="roundRect">
            <a:avLst>
              <a:gd name="adj" fmla="val 10294"/>
            </a:avLst>
          </a:prstGeom>
          <a:solidFill xmlns:a="http://schemas.openxmlformats.org/drawingml/2006/main">
            <a:srgbClr val="DDECE6"/>
          </a:solidFill>
          <a:ln xmlns:a="http://schemas.openxmlformats.org/drawingml/2006/main" w="9525">
            <a:solidFill>
              <a:srgbClr val="D6D8D3"/>
            </a:solidFill>
            <a:prstDash val="solid"/>
          </a:ln>
        </p:spPr>
      </p:sp>
      <p:sp>
        <p:nvSpPr>
          <p:cNvPr id="16" name="arch-model-accent">
            <a:extLst xmlns:a="http://schemas.openxmlformats.org/drawingml/2006/main">
              <a:ext uri="{FF2B5EF4-FFF2-40B4-BE49-F238E27FC236}">
                <a16:creationId xmlns:a16="http://schemas.microsoft.com/office/drawing/2014/main" id="{108882BC-F258-4E07-B284-C3EE7997ECCC}"/>
              </a:ext>
            </a:extLst>
          </p:cNvPr>
          <p:cNvSpPr>
            <a:spLocks xmlns:a="http://schemas.openxmlformats.org/drawingml/2006/main" noGrp="1"/>
          </p:cNvSpPr>
          <p:nvPr/>
        </p:nvSpPr>
        <p:spPr>
          <a:xfrm xmlns:a="http://schemas.openxmlformats.org/drawingml/2006/main">
            <a:off x="6667500" y="1857375"/>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arch-model-kicker">
            <a:extLst xmlns:a="http://schemas.openxmlformats.org/drawingml/2006/main">
              <a:ext uri="{FF2B5EF4-FFF2-40B4-BE49-F238E27FC236}">
                <a16:creationId xmlns:a16="http://schemas.microsoft.com/office/drawing/2014/main" id="{F511F52A-0B14-4E64-860F-AD012834A4A1}"/>
              </a:ext>
            </a:extLst>
          </p:cNvPr>
          <p:cNvSpPr>
            <a:spLocks xmlns:a="http://schemas.openxmlformats.org/drawingml/2006/main" noGrp="1"/>
          </p:cNvSpPr>
          <p:nvPr/>
        </p:nvSpPr>
        <p:spPr>
          <a:xfrm xmlns:a="http://schemas.openxmlformats.org/drawingml/2006/main">
            <a:off x="6886575" y="2028825"/>
            <a:ext cx="1933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NLP</a:t>
            </a:r>
          </a:p>
        </p:txBody>
      </p:sp>
      <p:sp>
        <p:nvSpPr>
          <p:cNvPr id="18" name="arch-model-heading">
            <a:extLst xmlns:a="http://schemas.openxmlformats.org/drawingml/2006/main">
              <a:ext uri="{FF2B5EF4-FFF2-40B4-BE49-F238E27FC236}">
                <a16:creationId xmlns:a16="http://schemas.microsoft.com/office/drawing/2014/main" id="{C121E629-19D4-43DF-88B1-59E5F7AD6778}"/>
              </a:ext>
            </a:extLst>
          </p:cNvPr>
          <p:cNvSpPr>
            <a:spLocks xmlns:a="http://schemas.openxmlformats.org/drawingml/2006/main" noGrp="1"/>
          </p:cNvSpPr>
          <p:nvPr/>
        </p:nvSpPr>
        <p:spPr>
          <a:xfrm xmlns:a="http://schemas.openxmlformats.org/drawingml/2006/main">
            <a:off x="6886575" y="2286000"/>
            <a:ext cx="1933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Mô hình đã lưu</a:t>
            </a:r>
          </a:p>
        </p:txBody>
      </p:sp>
      <p:sp>
        <p:nvSpPr>
          <p:cNvPr id="19" name="arch-model-body">
            <a:extLst xmlns:a="http://schemas.openxmlformats.org/drawingml/2006/main">
              <a:ext uri="{FF2B5EF4-FFF2-40B4-BE49-F238E27FC236}">
                <a16:creationId xmlns:a16="http://schemas.microsoft.com/office/drawing/2014/main" id="{27F2B7ED-B628-4941-A8D2-7495DE16CD18}"/>
              </a:ext>
            </a:extLst>
          </p:cNvPr>
          <p:cNvSpPr>
            <a:spLocks xmlns:a="http://schemas.openxmlformats.org/drawingml/2006/main" noGrp="1"/>
          </p:cNvSpPr>
          <p:nvPr/>
        </p:nvSpPr>
        <p:spPr>
          <a:xfrm xmlns:a="http://schemas.openxmlformats.org/drawingml/2006/main">
            <a:off x="6886575" y="2724150"/>
            <a:ext cx="1933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0732"/>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model.joblib</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TF-IDF + Logistic Regression</a:t>
            </a:r>
          </a:p>
        </p:txBody>
      </p:sp>
      <p:sp>
        <p:nvSpPr>
          <p:cNvPr id="20" name="arch-ocr-shape">
            <a:extLst xmlns:a="http://schemas.openxmlformats.org/drawingml/2006/main">
              <a:ext uri="{FF2B5EF4-FFF2-40B4-BE49-F238E27FC236}">
                <a16:creationId xmlns:a16="http://schemas.microsoft.com/office/drawing/2014/main" id="{CDFA4DB9-B67B-4F93-9FCC-91C824711DCF}"/>
              </a:ext>
            </a:extLst>
          </p:cNvPr>
          <p:cNvSpPr>
            <a:spLocks xmlns:a="http://schemas.openxmlformats.org/drawingml/2006/main" noGrp="1"/>
          </p:cNvSpPr>
          <p:nvPr/>
        </p:nvSpPr>
        <p:spPr>
          <a:xfrm xmlns:a="http://schemas.openxmlformats.org/drawingml/2006/main">
            <a:off x="6667500" y="3962400"/>
            <a:ext cx="2333625" cy="1295400"/>
          </a:xfrm>
          <a:prstGeom xmlns:a="http://schemas.openxmlformats.org/drawingml/2006/main" prst="roundRect">
            <a:avLst>
              <a:gd name="adj" fmla="val 10294"/>
            </a:avLst>
          </a:prstGeom>
          <a:solidFill xmlns:a="http://schemas.openxmlformats.org/drawingml/2006/main">
            <a:srgbClr val="F4E1DA"/>
          </a:solidFill>
          <a:ln xmlns:a="http://schemas.openxmlformats.org/drawingml/2006/main" w="9525">
            <a:solidFill>
              <a:srgbClr val="D6D8D3"/>
            </a:solidFill>
            <a:prstDash val="solid"/>
          </a:ln>
        </p:spPr>
      </p:sp>
      <p:sp>
        <p:nvSpPr>
          <p:cNvPr id="21" name="arch-ocr-accent">
            <a:extLst xmlns:a="http://schemas.openxmlformats.org/drawingml/2006/main">
              <a:ext uri="{FF2B5EF4-FFF2-40B4-BE49-F238E27FC236}">
                <a16:creationId xmlns:a16="http://schemas.microsoft.com/office/drawing/2014/main" id="{ABE13F5A-AB3C-4765-851F-B35E91C5CB5E}"/>
              </a:ext>
            </a:extLst>
          </p:cNvPr>
          <p:cNvSpPr>
            <a:spLocks xmlns:a="http://schemas.openxmlformats.org/drawingml/2006/main" noGrp="1"/>
          </p:cNvSpPr>
          <p:nvPr/>
        </p:nvSpPr>
        <p:spPr>
          <a:xfrm xmlns:a="http://schemas.openxmlformats.org/drawingml/2006/main">
            <a:off x="6667500" y="3962400"/>
            <a:ext cx="66675" cy="1295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arch-ocr-kicker">
            <a:extLst xmlns:a="http://schemas.openxmlformats.org/drawingml/2006/main">
              <a:ext uri="{FF2B5EF4-FFF2-40B4-BE49-F238E27FC236}">
                <a16:creationId xmlns:a16="http://schemas.microsoft.com/office/drawing/2014/main" id="{158ECD95-8138-4071-8B9B-8C86EFB555A3}"/>
              </a:ext>
            </a:extLst>
          </p:cNvPr>
          <p:cNvSpPr>
            <a:spLocks xmlns:a="http://schemas.openxmlformats.org/drawingml/2006/main" noGrp="1"/>
          </p:cNvSpPr>
          <p:nvPr/>
        </p:nvSpPr>
        <p:spPr>
          <a:xfrm xmlns:a="http://schemas.openxmlformats.org/drawingml/2006/main">
            <a:off x="6886575" y="4133850"/>
            <a:ext cx="1933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OCR</a:t>
            </a:r>
          </a:p>
        </p:txBody>
      </p:sp>
      <p:sp>
        <p:nvSpPr>
          <p:cNvPr id="23" name="arch-ocr-heading">
            <a:extLst xmlns:a="http://schemas.openxmlformats.org/drawingml/2006/main">
              <a:ext uri="{FF2B5EF4-FFF2-40B4-BE49-F238E27FC236}">
                <a16:creationId xmlns:a16="http://schemas.microsoft.com/office/drawing/2014/main" id="{9BF5E3D0-413E-4E92-B014-33E8CEB0C66C}"/>
              </a:ext>
            </a:extLst>
          </p:cNvPr>
          <p:cNvSpPr>
            <a:spLocks xmlns:a="http://schemas.openxmlformats.org/drawingml/2006/main" noGrp="1"/>
          </p:cNvSpPr>
          <p:nvPr/>
        </p:nvSpPr>
        <p:spPr>
          <a:xfrm xmlns:a="http://schemas.openxmlformats.org/drawingml/2006/main">
            <a:off x="6886575" y="4391025"/>
            <a:ext cx="1933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Tesseract</a:t>
            </a:r>
          </a:p>
        </p:txBody>
      </p:sp>
      <p:sp>
        <p:nvSpPr>
          <p:cNvPr id="24" name="arch-ocr-body">
            <a:extLst xmlns:a="http://schemas.openxmlformats.org/drawingml/2006/main">
              <a:ext uri="{FF2B5EF4-FFF2-40B4-BE49-F238E27FC236}">
                <a16:creationId xmlns:a16="http://schemas.microsoft.com/office/drawing/2014/main" id="{AF71E09D-2907-40A4-8F1E-F252CFC9005E}"/>
              </a:ext>
            </a:extLst>
          </p:cNvPr>
          <p:cNvSpPr>
            <a:spLocks xmlns:a="http://schemas.openxmlformats.org/drawingml/2006/main" noGrp="1"/>
          </p:cNvSpPr>
          <p:nvPr/>
        </p:nvSpPr>
        <p:spPr>
          <a:xfrm xmlns:a="http://schemas.openxmlformats.org/drawingml/2006/main">
            <a:off x="6886575" y="4829175"/>
            <a:ext cx="1933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0732"/>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Ngôn ngữ vie+eng</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Đọc chữ trong ảnh</a:t>
            </a:r>
          </a:p>
        </p:txBody>
      </p:sp>
      <p:sp>
        <p:nvSpPr>
          <p:cNvPr id="25" name="arch-output-shape">
            <a:extLst xmlns:a="http://schemas.openxmlformats.org/drawingml/2006/main">
              <a:ext uri="{FF2B5EF4-FFF2-40B4-BE49-F238E27FC236}">
                <a16:creationId xmlns:a16="http://schemas.microsoft.com/office/drawing/2014/main" id="{92108323-20F8-42B6-AE61-1BEE2030D6F3}"/>
              </a:ext>
            </a:extLst>
          </p:cNvPr>
          <p:cNvSpPr>
            <a:spLocks xmlns:a="http://schemas.openxmlformats.org/drawingml/2006/main" noGrp="1"/>
          </p:cNvSpPr>
          <p:nvPr/>
        </p:nvSpPr>
        <p:spPr>
          <a:xfrm xmlns:a="http://schemas.openxmlformats.org/drawingml/2006/main">
            <a:off x="9525000" y="2762250"/>
            <a:ext cx="200025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9525">
            <a:solidFill>
              <a:srgbClr val="D6D8D3"/>
            </a:solidFill>
            <a:prstDash val="solid"/>
          </a:ln>
        </p:spPr>
      </p:sp>
      <p:sp>
        <p:nvSpPr>
          <p:cNvPr id="26" name="arch-output-accent">
            <a:extLst xmlns:a="http://schemas.openxmlformats.org/drawingml/2006/main">
              <a:ext uri="{FF2B5EF4-FFF2-40B4-BE49-F238E27FC236}">
                <a16:creationId xmlns:a16="http://schemas.microsoft.com/office/drawing/2014/main" id="{D504D600-6370-4E2F-97B5-FD28B6D1DD89}"/>
              </a:ext>
            </a:extLst>
          </p:cNvPr>
          <p:cNvSpPr>
            <a:spLocks xmlns:a="http://schemas.openxmlformats.org/drawingml/2006/main" noGrp="1"/>
          </p:cNvSpPr>
          <p:nvPr/>
        </p:nvSpPr>
        <p:spPr>
          <a:xfrm xmlns:a="http://schemas.openxmlformats.org/drawingml/2006/main">
            <a:off x="9525000" y="2762250"/>
            <a:ext cx="66675" cy="1295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27" name="arch-output-kicker">
            <a:extLst xmlns:a="http://schemas.openxmlformats.org/drawingml/2006/main">
              <a:ext uri="{FF2B5EF4-FFF2-40B4-BE49-F238E27FC236}">
                <a16:creationId xmlns:a16="http://schemas.microsoft.com/office/drawing/2014/main" id="{5F39DAB1-8AAE-4888-AC6D-9712B503B043}"/>
              </a:ext>
            </a:extLst>
          </p:cNvPr>
          <p:cNvSpPr>
            <a:spLocks xmlns:a="http://schemas.openxmlformats.org/drawingml/2006/main" noGrp="1"/>
          </p:cNvSpPr>
          <p:nvPr/>
        </p:nvSpPr>
        <p:spPr>
          <a:xfrm xmlns:a="http://schemas.openxmlformats.org/drawingml/2006/main">
            <a:off x="9744075" y="29337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PHẢN HỒI</a:t>
            </a:r>
          </a:p>
        </p:txBody>
      </p:sp>
      <p:sp>
        <p:nvSpPr>
          <p:cNvPr id="28" name="arch-output-heading">
            <a:extLst xmlns:a="http://schemas.openxmlformats.org/drawingml/2006/main">
              <a:ext uri="{FF2B5EF4-FFF2-40B4-BE49-F238E27FC236}">
                <a16:creationId xmlns:a16="http://schemas.microsoft.com/office/drawing/2014/main" id="{59927F96-0FC0-4680-BB59-C2ECBE234BED}"/>
              </a:ext>
            </a:extLst>
          </p:cNvPr>
          <p:cNvSpPr>
            <a:spLocks xmlns:a="http://schemas.openxmlformats.org/drawingml/2006/main" noGrp="1"/>
          </p:cNvSpPr>
          <p:nvPr/>
        </p:nvSpPr>
        <p:spPr>
          <a:xfrm xmlns:a="http://schemas.openxmlformats.org/drawingml/2006/main">
            <a:off x="9744075" y="3190875"/>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Kết quả chat</a:t>
            </a:r>
          </a:p>
        </p:txBody>
      </p:sp>
      <p:sp>
        <p:nvSpPr>
          <p:cNvPr id="29" name="arch-output-body">
            <a:extLst xmlns:a="http://schemas.openxmlformats.org/drawingml/2006/main">
              <a:ext uri="{FF2B5EF4-FFF2-40B4-BE49-F238E27FC236}">
                <a16:creationId xmlns:a16="http://schemas.microsoft.com/office/drawing/2014/main" id="{A76E7DE8-57CC-46FA-A75B-A7194D95C418}"/>
              </a:ext>
            </a:extLst>
          </p:cNvPr>
          <p:cNvSpPr>
            <a:spLocks xmlns:a="http://schemas.openxmlformats.org/drawingml/2006/main" noGrp="1"/>
          </p:cNvSpPr>
          <p:nvPr/>
        </p:nvSpPr>
        <p:spPr>
          <a:xfrm xmlns:a="http://schemas.openxmlformats.org/drawingml/2006/main">
            <a:off x="9744075" y="3629025"/>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15"/>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Nhãn và điểm dự đoán.</a:t>
            </a:r>
          </a:p>
        </p:txBody>
      </p:sp>
      <p:sp>
        <p:nvSpPr>
          <p:cNvPr id="35" name="arch-caption">
            <a:extLst xmlns:a="http://schemas.openxmlformats.org/drawingml/2006/main">
              <a:ext uri="{FF2B5EF4-FFF2-40B4-BE49-F238E27FC236}">
                <a16:creationId xmlns:a16="http://schemas.microsoft.com/office/drawing/2014/main" id="{9C5AF8E5-9EC2-4377-B400-69BA0608193D}"/>
              </a:ext>
            </a:extLst>
          </p:cNvPr>
          <p:cNvSpPr>
            <a:spLocks xmlns:a="http://schemas.openxmlformats.org/drawingml/2006/main" noGrp="1"/>
          </p:cNvSpPr>
          <p:nvPr/>
        </p:nvSpPr>
        <p:spPr>
          <a:xfrm xmlns:a="http://schemas.openxmlformats.org/drawingml/2006/main">
            <a:off x="781050" y="57340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i="0">
                <a:solidFill>
                  <a:srgbClr val="59656D"/>
                </a:solidFill>
                <a:latin typeface="Arial"/>
                <a:ea typeface="Arial"/>
                <a:cs typeface="Arial"/>
              </a:defRPr>
            </a:defPPr>
            <a:lvl1pPr algn="l">
              <a:defRPr sz="1425" b="0" i="0">
                <a:solidFill>
                  <a:srgbClr val="59656D"/>
                </a:solidFill>
                <a:latin typeface="Arial"/>
                <a:ea typeface="Arial"/>
                <a:cs typeface="Arial"/>
              </a:defRPr>
            </a:lvl1pPr>
            <a:lvl2pPr algn="l">
              <a:defRPr sz="1425" b="0" i="0">
                <a:solidFill>
                  <a:srgbClr val="59656D"/>
                </a:solidFill>
                <a:latin typeface="Arial"/>
                <a:ea typeface="Arial"/>
                <a:cs typeface="Arial"/>
              </a:defRPr>
            </a:lvl2pPr>
            <a:lvl3pPr algn="l">
              <a:defRPr sz="1425" b="0" i="0">
                <a:solidFill>
                  <a:srgbClr val="59656D"/>
                </a:solidFill>
                <a:latin typeface="Arial"/>
                <a:ea typeface="Arial"/>
                <a:cs typeface="Arial"/>
              </a:defRPr>
            </a:lvl3pPr>
            <a:lvl4pPr algn="l">
              <a:defRPr sz="1425" b="0" i="0">
                <a:solidFill>
                  <a:srgbClr val="59656D"/>
                </a:solidFill>
                <a:latin typeface="Arial"/>
                <a:ea typeface="Arial"/>
                <a:cs typeface="Arial"/>
              </a:defRPr>
            </a:lvl4pPr>
            <a:lvl5pPr algn="l">
              <a:defRPr sz="1425" b="0" i="0">
                <a:solidFill>
                  <a:srgbClr val="59656D"/>
                </a:solidFill>
                <a:latin typeface="Arial"/>
                <a:ea typeface="Arial"/>
                <a:cs typeface="Arial"/>
              </a:defRPr>
            </a:lvl5pPr>
            <a:lvl6pPr algn="l">
              <a:defRPr sz="1425" b="0" i="0">
                <a:solidFill>
                  <a:srgbClr val="59656D"/>
                </a:solidFill>
                <a:latin typeface="Arial"/>
                <a:ea typeface="Arial"/>
                <a:cs typeface="Arial"/>
              </a:defRPr>
            </a:lvl6pPr>
            <a:lvl7pPr algn="l">
              <a:defRPr sz="1425" b="0" i="0">
                <a:solidFill>
                  <a:srgbClr val="59656D"/>
                </a:solidFill>
                <a:latin typeface="Arial"/>
                <a:ea typeface="Arial"/>
                <a:cs typeface="Arial"/>
              </a:defRPr>
            </a:lvl7pPr>
            <a:lvl8pPr algn="l">
              <a:defRPr sz="1425" b="0" i="0">
                <a:solidFill>
                  <a:srgbClr val="59656D"/>
                </a:solidFill>
                <a:latin typeface="Arial"/>
                <a:ea typeface="Arial"/>
                <a:cs typeface="Arial"/>
              </a:defRPr>
            </a:lvl8pPr>
            <a:lvl9pPr algn="l">
              <a:defRPr sz="1425" b="0" i="0">
                <a:solidFill>
                  <a:srgbClr val="59656D"/>
                </a:solidFill>
                <a:latin typeface="Arial"/>
                <a:ea typeface="Arial"/>
                <a:cs typeface="Arial"/>
              </a:defRPr>
            </a:lvl9pPr>
          </a:lstStyle>
          <a:p xmlns:a="http://schemas.openxmlformats.org/drawingml/2006/main">
            <a:pPr algn="l">
              <a:lnSpc>
                <a:spcPct val="108000"/>
              </a:lnSpc>
              <a:buNone/>
              <a:defRPr sz="1425" b="0" i="0">
                <a:solidFill>
                  <a:srgbClr val="59656D"/>
                </a:solidFill>
                <a:latin typeface="Arial"/>
                <a:ea typeface="Arial"/>
                <a:cs typeface="Arial"/>
              </a:defRPr>
            </a:pPr>
            <a:r>
              <a:rPr sz="1425" b="0" i="0">
                <a:solidFill>
                  <a:srgbClr val="59656D"/>
                </a:solidFill>
                <a:latin typeface="Arial"/>
                <a:ea typeface="Arial"/>
                <a:cs typeface="Arial"/>
              </a:rPr>
              <a:t>Dữ liệu xử lý trong tiến trình local; OCR tạo văn bản để mô hình phân loại.</a:t>
            </a:r>
          </a:p>
        </p:txBody>
      </p:sp>
      <p:sp>
        <p:nvSpPr>
          <p:cNvPr id="36" name="slide-number">
            <a:extLst xmlns:a="http://schemas.openxmlformats.org/drawingml/2006/main">
              <a:ext uri="{FF2B5EF4-FFF2-40B4-BE49-F238E27FC236}">
                <a16:creationId xmlns:a16="http://schemas.microsoft.com/office/drawing/2014/main" id="{F4966F81-B69F-4A89-9B94-B3424BAC7802}"/>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04</a:t>
            </a:r>
          </a:p>
        </p:txBody>
      </p:sp>
    </p:spTree>
    <p:extLst>
      <p:ext uri="{BB962C8B-B14F-4D97-AF65-F5344CB8AC3E}">
        <p14:creationId xmlns:p14="http://schemas.microsoft.com/office/powerpoint/2010/main" val="1083937075"/>
      </p:ext>
    </p:extLst>
  </p:cSld>
</p:sld>
</file>

<file path=ppt/slides/slide5.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3A27A872-F2EF-4564-BBAC-C05FE10608F5}"/>
              </a:ext>
            </a:extLst>
          </p:cNvPr>
          <p:cNvCxnSpPr>
            <a:stCxn xmlns:a="http://schemas.openxmlformats.org/drawingml/2006/main" id="15" idx="3"/>
            <a:endCxn xmlns:a="http://schemas.openxmlformats.org/drawingml/2006/main" id="20" idx="1"/>
          </p:cNvCxnSpPr>
          <p:nvPr/>
        </p:nvCxnSpPr>
        <p:spPr>
          <a:xfrm xmlns:a="http://schemas.openxmlformats.org/drawingml/2006/main">
            <a:off x="8667750" y="3524250"/>
            <a:ext cx="466725" cy="0"/>
          </a:xfrm>
          <a:prstGeom xmlns:a="http://schemas.openxmlformats.org/drawingml/2006/main" prst="straightConnector1">
            <a:avLst/>
          </a:prstGeom>
          <a:ln xmlns:a="http://schemas.openxmlformats.org/drawingml/2006/main" w="19050">
            <a:solidFill>
              <a:srgbClr val="222E37"/>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98984BB5-85CF-4C94-9FDC-CB845493C700}"/>
              </a:ext>
            </a:extLst>
          </p:cNvPr>
          <p:cNvCxnSpPr>
            <a:stCxn xmlns:a="http://schemas.openxmlformats.org/drawingml/2006/main" id="10" idx="3"/>
            <a:endCxn xmlns:a="http://schemas.openxmlformats.org/drawingml/2006/main" id="15" idx="1"/>
          </p:cNvCxnSpPr>
          <p:nvPr/>
        </p:nvCxnSpPr>
        <p:spPr>
          <a:xfrm xmlns:a="http://schemas.openxmlformats.org/drawingml/2006/main">
            <a:off x="5838825" y="3524250"/>
            <a:ext cx="466725" cy="0"/>
          </a:xfrm>
          <a:prstGeom xmlns:a="http://schemas.openxmlformats.org/drawingml/2006/main" prst="straightConnector1">
            <a:avLst/>
          </a:prstGeom>
          <a:ln xmlns:a="http://schemas.openxmlformats.org/drawingml/2006/main" w="19050">
            <a:solidFill>
              <a:srgbClr val="D66F57"/>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80CB98F1-C8A1-42DA-B3EF-18E25AB980E9}"/>
              </a:ext>
            </a:extLst>
          </p:cNvPr>
          <p:cNvCxnSpPr>
            <a:stCxn xmlns:a="http://schemas.openxmlformats.org/drawingml/2006/main" id="5" idx="3"/>
            <a:endCxn xmlns:a="http://schemas.openxmlformats.org/drawingml/2006/main" id="15" idx="1"/>
          </p:cNvCxnSpPr>
          <p:nvPr/>
        </p:nvCxnSpPr>
        <p:spPr>
          <a:xfrm xmlns:a="http://schemas.openxmlformats.org/drawingml/2006/main">
            <a:off x="3009900" y="3524250"/>
            <a:ext cx="3295650" cy="952500"/>
          </a:xfrm>
          <a:prstGeom xmlns:a="http://schemas.openxmlformats.org/drawingml/2006/main" prst="bentConnector4">
            <a:avLst/>
          </a:prstGeom>
          <a:ln xmlns:a="http://schemas.openxmlformats.org/drawingml/2006/main" w="19050">
            <a:solidFill>
              <a:srgbClr val="317D73"/>
            </a:solidFill>
            <a:prstDash val="solid"/>
            <a:tailEnd type="triangle" w="sm" len="sm"/>
          </a:ln>
        </p:spPr>
      </p:cxnSp>
      <p:sp>
        <p:nvSpPr>
          <p:cNvPr id="30" name="section-label">
            <a:extLst xmlns:a="http://schemas.openxmlformats.org/drawingml/2006/main">
              <a:ext uri="{FF2B5EF4-FFF2-40B4-BE49-F238E27FC236}">
                <a16:creationId xmlns:a16="http://schemas.microsoft.com/office/drawing/2014/main" id="{0A5B8DD3-88D0-4A88-9EC0-D73074BA379F}"/>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6D24492B-DCFA-495F-9BF2-B5F655525F29}"/>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Bộ phân loại văn bản</a:t>
            </a:r>
          </a:p>
        </p:txBody>
      </p:sp>
      <p:sp>
        <p:nvSpPr>
          <p:cNvPr id="3" name="slide-subtitle">
            <a:extLst xmlns:a="http://schemas.openxmlformats.org/drawingml/2006/main">
              <a:ext uri="{FF2B5EF4-FFF2-40B4-BE49-F238E27FC236}">
                <a16:creationId xmlns:a16="http://schemas.microsoft.com/office/drawing/2014/main" id="{E397FC4C-FC04-4D5C-B3ED-928928A7159B}"/>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Baseline hiện tại kết hợp tín hiệu từ cụm từ và mẫu ký tự.</a:t>
            </a:r>
          </a:p>
        </p:txBody>
      </p:sp>
      <p:sp>
        <p:nvSpPr>
          <p:cNvPr id="4" name="title-rule">
            <a:extLst xmlns:a="http://schemas.openxmlformats.org/drawingml/2006/main">
              <a:ext uri="{FF2B5EF4-FFF2-40B4-BE49-F238E27FC236}">
                <a16:creationId xmlns:a16="http://schemas.microsoft.com/office/drawing/2014/main" id="{2A4BF02F-C6BF-464F-AAF0-653E61A78DA3}"/>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model-words-shape">
            <a:extLst xmlns:a="http://schemas.openxmlformats.org/drawingml/2006/main">
              <a:ext uri="{FF2B5EF4-FFF2-40B4-BE49-F238E27FC236}">
                <a16:creationId xmlns:a16="http://schemas.microsoft.com/office/drawing/2014/main" id="{6CB7C01E-7D63-49FA-8537-D6AD300EC1D0}"/>
              </a:ext>
            </a:extLst>
          </p:cNvPr>
          <p:cNvSpPr>
            <a:spLocks xmlns:a="http://schemas.openxmlformats.org/drawingml/2006/main" noGrp="1"/>
          </p:cNvSpPr>
          <p:nvPr/>
        </p:nvSpPr>
        <p:spPr>
          <a:xfrm xmlns:a="http://schemas.openxmlformats.org/drawingml/2006/main">
            <a:off x="647700"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6" name="model-words-accent">
            <a:extLst xmlns:a="http://schemas.openxmlformats.org/drawingml/2006/main">
              <a:ext uri="{FF2B5EF4-FFF2-40B4-BE49-F238E27FC236}">
                <a16:creationId xmlns:a16="http://schemas.microsoft.com/office/drawing/2014/main" id="{650DD2FC-CDC7-4A28-92ED-AF7C9215F4CE}"/>
              </a:ext>
            </a:extLst>
          </p:cNvPr>
          <p:cNvSpPr>
            <a:spLocks xmlns:a="http://schemas.openxmlformats.org/drawingml/2006/main" noGrp="1"/>
          </p:cNvSpPr>
          <p:nvPr/>
        </p:nvSpPr>
        <p:spPr>
          <a:xfrm xmlns:a="http://schemas.openxmlformats.org/drawingml/2006/main">
            <a:off x="647700" y="2686050"/>
            <a:ext cx="66675" cy="1676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7" name="model-words-kicker">
            <a:extLst xmlns:a="http://schemas.openxmlformats.org/drawingml/2006/main">
              <a:ext uri="{FF2B5EF4-FFF2-40B4-BE49-F238E27FC236}">
                <a16:creationId xmlns:a16="http://schemas.microsoft.com/office/drawing/2014/main" id="{2516F509-D8B1-422D-A9CD-20F0BD72B731}"/>
              </a:ext>
            </a:extLst>
          </p:cNvPr>
          <p:cNvSpPr>
            <a:spLocks xmlns:a="http://schemas.openxmlformats.org/drawingml/2006/main" noGrp="1"/>
          </p:cNvSpPr>
          <p:nvPr/>
        </p:nvSpPr>
        <p:spPr>
          <a:xfrm xmlns:a="http://schemas.openxmlformats.org/drawingml/2006/main">
            <a:off x="866775"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ĐẶC TRƯNG 1</a:t>
            </a:r>
          </a:p>
        </p:txBody>
      </p:sp>
      <p:sp>
        <p:nvSpPr>
          <p:cNvPr id="8" name="model-words-heading">
            <a:extLst xmlns:a="http://schemas.openxmlformats.org/drawingml/2006/main">
              <a:ext uri="{FF2B5EF4-FFF2-40B4-BE49-F238E27FC236}">
                <a16:creationId xmlns:a16="http://schemas.microsoft.com/office/drawing/2014/main" id="{328E4BA2-14D5-4552-93DB-6E4981538774}"/>
              </a:ext>
            </a:extLst>
          </p:cNvPr>
          <p:cNvSpPr>
            <a:spLocks xmlns:a="http://schemas.openxmlformats.org/drawingml/2006/main" noGrp="1"/>
          </p:cNvSpPr>
          <p:nvPr/>
        </p:nvSpPr>
        <p:spPr>
          <a:xfrm xmlns:a="http://schemas.openxmlformats.org/drawingml/2006/main">
            <a:off x="866775"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TF-IDF theo từ</a:t>
            </a:r>
          </a:p>
        </p:txBody>
      </p:sp>
      <p:sp>
        <p:nvSpPr>
          <p:cNvPr id="9" name="model-words-body">
            <a:extLst xmlns:a="http://schemas.openxmlformats.org/drawingml/2006/main">
              <a:ext uri="{FF2B5EF4-FFF2-40B4-BE49-F238E27FC236}">
                <a16:creationId xmlns:a16="http://schemas.microsoft.com/office/drawing/2014/main" id="{0A5DD95B-959F-4B2C-9359-6293AE8C9905}"/>
              </a:ext>
            </a:extLst>
          </p:cNvPr>
          <p:cNvSpPr>
            <a:spLocks xmlns:a="http://schemas.openxmlformats.org/drawingml/2006/main" noGrp="1"/>
          </p:cNvSpPr>
          <p:nvPr/>
        </p:nvSpPr>
        <p:spPr>
          <a:xfrm xmlns:a="http://schemas.openxmlformats.org/drawingml/2006/main">
            <a:off x="866775"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28"/>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N-gram 1–2 từ</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Giữ cụm từ thường đi cùng nhau.</a:t>
            </a:r>
          </a:p>
        </p:txBody>
      </p:sp>
      <p:sp>
        <p:nvSpPr>
          <p:cNvPr id="10" name="model-chars-shape">
            <a:extLst xmlns:a="http://schemas.openxmlformats.org/drawingml/2006/main">
              <a:ext uri="{FF2B5EF4-FFF2-40B4-BE49-F238E27FC236}">
                <a16:creationId xmlns:a16="http://schemas.microsoft.com/office/drawing/2014/main" id="{F261FB8D-D9EB-47B0-9771-D7BE2591A295}"/>
              </a:ext>
            </a:extLst>
          </p:cNvPr>
          <p:cNvSpPr>
            <a:spLocks xmlns:a="http://schemas.openxmlformats.org/drawingml/2006/main" noGrp="1"/>
          </p:cNvSpPr>
          <p:nvPr/>
        </p:nvSpPr>
        <p:spPr>
          <a:xfrm xmlns:a="http://schemas.openxmlformats.org/drawingml/2006/main">
            <a:off x="3476625"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11" name="model-chars-accent">
            <a:extLst xmlns:a="http://schemas.openxmlformats.org/drawingml/2006/main">
              <a:ext uri="{FF2B5EF4-FFF2-40B4-BE49-F238E27FC236}">
                <a16:creationId xmlns:a16="http://schemas.microsoft.com/office/drawing/2014/main" id="{4BC0A7CE-37C8-4701-8A73-109D194BF9EC}"/>
              </a:ext>
            </a:extLst>
          </p:cNvPr>
          <p:cNvSpPr>
            <a:spLocks xmlns:a="http://schemas.openxmlformats.org/drawingml/2006/main" noGrp="1"/>
          </p:cNvSpPr>
          <p:nvPr/>
        </p:nvSpPr>
        <p:spPr>
          <a:xfrm xmlns:a="http://schemas.openxmlformats.org/drawingml/2006/main">
            <a:off x="3476625" y="2686050"/>
            <a:ext cx="66675" cy="1676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2" name="model-chars-kicker">
            <a:extLst xmlns:a="http://schemas.openxmlformats.org/drawingml/2006/main">
              <a:ext uri="{FF2B5EF4-FFF2-40B4-BE49-F238E27FC236}">
                <a16:creationId xmlns:a16="http://schemas.microsoft.com/office/drawing/2014/main" id="{33CC8965-A9E1-41FE-9084-882BAA212DEE}"/>
              </a:ext>
            </a:extLst>
          </p:cNvPr>
          <p:cNvSpPr>
            <a:spLocks xmlns:a="http://schemas.openxmlformats.org/drawingml/2006/main" noGrp="1"/>
          </p:cNvSpPr>
          <p:nvPr/>
        </p:nvSpPr>
        <p:spPr>
          <a:xfrm xmlns:a="http://schemas.openxmlformats.org/drawingml/2006/main">
            <a:off x="3695700"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ĐẶC TRƯNG 2</a:t>
            </a:r>
          </a:p>
        </p:txBody>
      </p:sp>
      <p:sp>
        <p:nvSpPr>
          <p:cNvPr id="13" name="model-chars-heading">
            <a:extLst xmlns:a="http://schemas.openxmlformats.org/drawingml/2006/main">
              <a:ext uri="{FF2B5EF4-FFF2-40B4-BE49-F238E27FC236}">
                <a16:creationId xmlns:a16="http://schemas.microsoft.com/office/drawing/2014/main" id="{9A139200-92DE-416A-BDA3-D2341D34C4AF}"/>
              </a:ext>
            </a:extLst>
          </p:cNvPr>
          <p:cNvSpPr>
            <a:spLocks xmlns:a="http://schemas.openxmlformats.org/drawingml/2006/main" noGrp="1"/>
          </p:cNvSpPr>
          <p:nvPr/>
        </p:nvSpPr>
        <p:spPr>
          <a:xfrm xmlns:a="http://schemas.openxmlformats.org/drawingml/2006/main">
            <a:off x="3695700"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TF-IDF ký tự</a:t>
            </a:r>
          </a:p>
        </p:txBody>
      </p:sp>
      <p:sp>
        <p:nvSpPr>
          <p:cNvPr id="14" name="model-chars-body">
            <a:extLst xmlns:a="http://schemas.openxmlformats.org/drawingml/2006/main">
              <a:ext uri="{FF2B5EF4-FFF2-40B4-BE49-F238E27FC236}">
                <a16:creationId xmlns:a16="http://schemas.microsoft.com/office/drawing/2014/main" id="{1A784ABC-9DB9-4E15-8B9C-34AE2A147AEF}"/>
              </a:ext>
            </a:extLst>
          </p:cNvPr>
          <p:cNvSpPr>
            <a:spLocks xmlns:a="http://schemas.openxmlformats.org/drawingml/2006/main" noGrp="1"/>
          </p:cNvSpPr>
          <p:nvPr/>
        </p:nvSpPr>
        <p:spPr>
          <a:xfrm xmlns:a="http://schemas.openxmlformats.org/drawingml/2006/main">
            <a:off x="3695700"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N-gram 2–5 ký tự</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Hỗ trợ biến thể chính tả.</a:t>
            </a:r>
          </a:p>
        </p:txBody>
      </p:sp>
      <p:sp>
        <p:nvSpPr>
          <p:cNvPr id="15" name="model-combine-shape">
            <a:extLst xmlns:a="http://schemas.openxmlformats.org/drawingml/2006/main">
              <a:ext uri="{FF2B5EF4-FFF2-40B4-BE49-F238E27FC236}">
                <a16:creationId xmlns:a16="http://schemas.microsoft.com/office/drawing/2014/main" id="{5A835AD7-F961-4D15-8169-FD1855DE12C7}"/>
              </a:ext>
            </a:extLst>
          </p:cNvPr>
          <p:cNvSpPr>
            <a:spLocks xmlns:a="http://schemas.openxmlformats.org/drawingml/2006/main" noGrp="1"/>
          </p:cNvSpPr>
          <p:nvPr/>
        </p:nvSpPr>
        <p:spPr>
          <a:xfrm xmlns:a="http://schemas.openxmlformats.org/drawingml/2006/main">
            <a:off x="6305550" y="2686050"/>
            <a:ext cx="2362200" cy="1676400"/>
          </a:xfrm>
          <a:prstGeom xmlns:a="http://schemas.openxmlformats.org/drawingml/2006/main" prst="roundRect">
            <a:avLst>
              <a:gd name="adj" fmla="val 7955"/>
            </a:avLst>
          </a:prstGeom>
          <a:solidFill xmlns:a="http://schemas.openxmlformats.org/drawingml/2006/main">
            <a:srgbClr val="DDECE6"/>
          </a:solidFill>
          <a:ln xmlns:a="http://schemas.openxmlformats.org/drawingml/2006/main" w="9525">
            <a:solidFill>
              <a:srgbClr val="D6D8D3"/>
            </a:solidFill>
            <a:prstDash val="solid"/>
          </a:ln>
        </p:spPr>
      </p:sp>
      <p:sp>
        <p:nvSpPr>
          <p:cNvPr id="16" name="model-combine-accent">
            <a:extLst xmlns:a="http://schemas.openxmlformats.org/drawingml/2006/main">
              <a:ext uri="{FF2B5EF4-FFF2-40B4-BE49-F238E27FC236}">
                <a16:creationId xmlns:a16="http://schemas.microsoft.com/office/drawing/2014/main" id="{6C7B611D-C74E-479A-A660-30C3918CF7AC}"/>
              </a:ext>
            </a:extLst>
          </p:cNvPr>
          <p:cNvSpPr>
            <a:spLocks xmlns:a="http://schemas.openxmlformats.org/drawingml/2006/main" noGrp="1"/>
          </p:cNvSpPr>
          <p:nvPr/>
        </p:nvSpPr>
        <p:spPr>
          <a:xfrm xmlns:a="http://schemas.openxmlformats.org/drawingml/2006/main">
            <a:off x="6305550" y="2686050"/>
            <a:ext cx="66675" cy="167640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7" name="model-combine-kicker">
            <a:extLst xmlns:a="http://schemas.openxmlformats.org/drawingml/2006/main">
              <a:ext uri="{FF2B5EF4-FFF2-40B4-BE49-F238E27FC236}">
                <a16:creationId xmlns:a16="http://schemas.microsoft.com/office/drawing/2014/main" id="{28E13432-8B1E-4B3E-BA82-32C975D871C8}"/>
              </a:ext>
            </a:extLst>
          </p:cNvPr>
          <p:cNvSpPr>
            <a:spLocks xmlns:a="http://schemas.openxmlformats.org/drawingml/2006/main" noGrp="1"/>
          </p:cNvSpPr>
          <p:nvPr/>
        </p:nvSpPr>
        <p:spPr>
          <a:xfrm xmlns:a="http://schemas.openxmlformats.org/drawingml/2006/main">
            <a:off x="6524625"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KẾT HỢP</a:t>
            </a:r>
          </a:p>
        </p:txBody>
      </p:sp>
      <p:sp>
        <p:nvSpPr>
          <p:cNvPr id="18" name="model-combine-heading">
            <a:extLst xmlns:a="http://schemas.openxmlformats.org/drawingml/2006/main">
              <a:ext uri="{FF2B5EF4-FFF2-40B4-BE49-F238E27FC236}">
                <a16:creationId xmlns:a16="http://schemas.microsoft.com/office/drawing/2014/main" id="{4FD2D16C-7F2B-46DC-A577-547210185668}"/>
              </a:ext>
            </a:extLst>
          </p:cNvPr>
          <p:cNvSpPr>
            <a:spLocks xmlns:a="http://schemas.openxmlformats.org/drawingml/2006/main" noGrp="1"/>
          </p:cNvSpPr>
          <p:nvPr/>
        </p:nvSpPr>
        <p:spPr>
          <a:xfrm xmlns:a="http://schemas.openxmlformats.org/drawingml/2006/main">
            <a:off x="6524625"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FeatureUnion</a:t>
            </a:r>
          </a:p>
        </p:txBody>
      </p:sp>
      <p:sp>
        <p:nvSpPr>
          <p:cNvPr id="19" name="model-combine-body">
            <a:extLst xmlns:a="http://schemas.openxmlformats.org/drawingml/2006/main">
              <a:ext uri="{FF2B5EF4-FFF2-40B4-BE49-F238E27FC236}">
                <a16:creationId xmlns:a16="http://schemas.microsoft.com/office/drawing/2014/main" id="{0E4FF71E-6532-4B2E-AEDF-032BF127D0E3}"/>
              </a:ext>
            </a:extLst>
          </p:cNvPr>
          <p:cNvSpPr>
            <a:spLocks xmlns:a="http://schemas.openxmlformats.org/drawingml/2006/main" noGrp="1"/>
          </p:cNvSpPr>
          <p:nvPr/>
        </p:nvSpPr>
        <p:spPr>
          <a:xfrm xmlns:a="http://schemas.openxmlformats.org/drawingml/2006/main">
            <a:off x="6524625"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Ghép hai biểu diễn thành véc-tơ đầu vào.</a:t>
            </a:r>
          </a:p>
        </p:txBody>
      </p:sp>
      <p:sp>
        <p:nvSpPr>
          <p:cNvPr id="20" name="model-classifier-shape">
            <a:extLst xmlns:a="http://schemas.openxmlformats.org/drawingml/2006/main">
              <a:ext uri="{FF2B5EF4-FFF2-40B4-BE49-F238E27FC236}">
                <a16:creationId xmlns:a16="http://schemas.microsoft.com/office/drawing/2014/main" id="{F77A9779-C8AE-42C0-B035-0AA41939B45F}"/>
              </a:ext>
            </a:extLst>
          </p:cNvPr>
          <p:cNvSpPr>
            <a:spLocks xmlns:a="http://schemas.openxmlformats.org/drawingml/2006/main" noGrp="1"/>
          </p:cNvSpPr>
          <p:nvPr/>
        </p:nvSpPr>
        <p:spPr>
          <a:xfrm xmlns:a="http://schemas.openxmlformats.org/drawingml/2006/main">
            <a:off x="9134475" y="2686050"/>
            <a:ext cx="236220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9525">
            <a:solidFill>
              <a:srgbClr val="D6D8D3"/>
            </a:solidFill>
            <a:prstDash val="solid"/>
          </a:ln>
        </p:spPr>
      </p:sp>
      <p:sp>
        <p:nvSpPr>
          <p:cNvPr id="21" name="model-classifier-accent">
            <a:extLst xmlns:a="http://schemas.openxmlformats.org/drawingml/2006/main">
              <a:ext uri="{FF2B5EF4-FFF2-40B4-BE49-F238E27FC236}">
                <a16:creationId xmlns:a16="http://schemas.microsoft.com/office/drawing/2014/main" id="{FE3BA79E-7711-4B03-853B-7A184F19ACB6}"/>
              </a:ext>
            </a:extLst>
          </p:cNvPr>
          <p:cNvSpPr>
            <a:spLocks xmlns:a="http://schemas.openxmlformats.org/drawingml/2006/main" noGrp="1"/>
          </p:cNvSpPr>
          <p:nvPr/>
        </p:nvSpPr>
        <p:spPr>
          <a:xfrm xmlns:a="http://schemas.openxmlformats.org/drawingml/2006/main">
            <a:off x="9134475" y="2686050"/>
            <a:ext cx="66675" cy="167640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22" name="model-classifier-kicker">
            <a:extLst xmlns:a="http://schemas.openxmlformats.org/drawingml/2006/main">
              <a:ext uri="{FF2B5EF4-FFF2-40B4-BE49-F238E27FC236}">
                <a16:creationId xmlns:a16="http://schemas.microsoft.com/office/drawing/2014/main" id="{4301836F-A18A-4735-B34E-CE89C918EA81}"/>
              </a:ext>
            </a:extLst>
          </p:cNvPr>
          <p:cNvSpPr>
            <a:spLocks xmlns:a="http://schemas.openxmlformats.org/drawingml/2006/main" noGrp="1"/>
          </p:cNvSpPr>
          <p:nvPr/>
        </p:nvSpPr>
        <p:spPr>
          <a:xfrm xmlns:a="http://schemas.openxmlformats.org/drawingml/2006/main">
            <a:off x="9353550" y="28575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PHÂN LOẠI</a:t>
            </a:r>
          </a:p>
        </p:txBody>
      </p:sp>
      <p:sp>
        <p:nvSpPr>
          <p:cNvPr id="23" name="model-classifier-heading">
            <a:extLst xmlns:a="http://schemas.openxmlformats.org/drawingml/2006/main">
              <a:ext uri="{FF2B5EF4-FFF2-40B4-BE49-F238E27FC236}">
                <a16:creationId xmlns:a16="http://schemas.microsoft.com/office/drawing/2014/main" id="{0A9A421E-5872-428E-927E-1D7ED198BEDD}"/>
              </a:ext>
            </a:extLst>
          </p:cNvPr>
          <p:cNvSpPr>
            <a:spLocks xmlns:a="http://schemas.openxmlformats.org/drawingml/2006/main" noGrp="1"/>
          </p:cNvSpPr>
          <p:nvPr/>
        </p:nvSpPr>
        <p:spPr>
          <a:xfrm xmlns:a="http://schemas.openxmlformats.org/drawingml/2006/main">
            <a:off x="9353550" y="311467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824"/>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Logistic Regression</a:t>
            </a:r>
          </a:p>
        </p:txBody>
      </p:sp>
      <p:sp>
        <p:nvSpPr>
          <p:cNvPr id="24" name="model-classifier-body">
            <a:extLst xmlns:a="http://schemas.openxmlformats.org/drawingml/2006/main">
              <a:ext uri="{FF2B5EF4-FFF2-40B4-BE49-F238E27FC236}">
                <a16:creationId xmlns:a16="http://schemas.microsoft.com/office/drawing/2014/main" id="{3C903335-9F17-4BEF-9DF4-8F65004ACE3C}"/>
              </a:ext>
            </a:extLst>
          </p:cNvPr>
          <p:cNvSpPr>
            <a:spLocks xmlns:a="http://schemas.openxmlformats.org/drawingml/2006/main" noGrp="1"/>
          </p:cNvSpPr>
          <p:nvPr/>
        </p:nvSpPr>
        <p:spPr>
          <a:xfrm xmlns:a="http://schemas.openxmlformats.org/drawingml/2006/main">
            <a:off x="9353550" y="3552825"/>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class_weight=balanced</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Hai nhãn: hate / non_hate.</a:t>
            </a:r>
          </a:p>
        </p:txBody>
      </p:sp>
      <p:sp>
        <p:nvSpPr>
          <p:cNvPr id="28" name="model-output-note">
            <a:extLst xmlns:a="http://schemas.openxmlformats.org/drawingml/2006/main">
              <a:ext uri="{FF2B5EF4-FFF2-40B4-BE49-F238E27FC236}">
                <a16:creationId xmlns:a16="http://schemas.microsoft.com/office/drawing/2014/main" id="{827A9DC4-5E48-401A-B6CB-9DF07BC21169}"/>
              </a:ext>
            </a:extLst>
          </p:cNvPr>
          <p:cNvSpPr>
            <a:spLocks xmlns:a="http://schemas.openxmlformats.org/drawingml/2006/main" noGrp="1"/>
          </p:cNvSpPr>
          <p:nvPr/>
        </p:nvSpPr>
        <p:spPr>
          <a:xfrm xmlns:a="http://schemas.openxmlformats.org/drawingml/2006/main">
            <a:off x="819150" y="5048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Điểm predict_proba là điểm mô hình, chưa được hiệu chuẩn thành xác suất đúng.</a:t>
            </a:r>
          </a:p>
        </p:txBody>
      </p:sp>
      <p:sp>
        <p:nvSpPr>
          <p:cNvPr id="29" name="slide-number">
            <a:extLst xmlns:a="http://schemas.openxmlformats.org/drawingml/2006/main">
              <a:ext uri="{FF2B5EF4-FFF2-40B4-BE49-F238E27FC236}">
                <a16:creationId xmlns:a16="http://schemas.microsoft.com/office/drawing/2014/main" id="{7D3381FE-807A-425F-B4CF-7582BC9D1619}"/>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05</a:t>
            </a:r>
          </a:p>
        </p:txBody>
      </p:sp>
    </p:spTree>
    <p:extLst>
      <p:ext uri="{BB962C8B-B14F-4D97-AF65-F5344CB8AC3E}">
        <p14:creationId xmlns:p14="http://schemas.microsoft.com/office/powerpoint/2010/main" val="1140673861"/>
      </p:ext>
    </p:extLst>
  </p:cSld>
</p:sld>
</file>

<file path=ppt/slides/slide6.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CBBA1220-3302-44DF-9DC4-264F4D7D7348}"/>
              </a:ext>
            </a:extLst>
          </p:cNvPr>
          <p:cNvCxnSpPr>
            <a:stCxn xmlns:a="http://schemas.openxmlformats.org/drawingml/2006/main" id="15" idx="3"/>
            <a:endCxn xmlns:a="http://schemas.openxmlformats.org/drawingml/2006/main" id="20" idx="1"/>
          </p:cNvCxnSpPr>
          <p:nvPr/>
        </p:nvCxnSpPr>
        <p:spPr>
          <a:xfrm xmlns:a="http://schemas.openxmlformats.org/drawingml/2006/main">
            <a:off x="8153400" y="3609975"/>
            <a:ext cx="438150" cy="0"/>
          </a:xfrm>
          <a:prstGeom xmlns:a="http://schemas.openxmlformats.org/drawingml/2006/main" prst="straightConnector1">
            <a:avLst/>
          </a:prstGeom>
          <a:ln xmlns:a="http://schemas.openxmlformats.org/drawingml/2006/main" w="19050">
            <a:solidFill>
              <a:srgbClr val="D66F57"/>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2826B45-7C19-47FE-A2E7-C4773ECD86BD}"/>
              </a:ext>
            </a:extLst>
          </p:cNvPr>
          <p:cNvCxnSpPr>
            <a:stCxn xmlns:a="http://schemas.openxmlformats.org/drawingml/2006/main" id="10" idx="3"/>
            <a:endCxn xmlns:a="http://schemas.openxmlformats.org/drawingml/2006/main" id="15" idx="1"/>
          </p:cNvCxnSpPr>
          <p:nvPr/>
        </p:nvCxnSpPr>
        <p:spPr>
          <a:xfrm xmlns:a="http://schemas.openxmlformats.org/drawingml/2006/main">
            <a:off x="5524500" y="3609975"/>
            <a:ext cx="438150" cy="0"/>
          </a:xfrm>
          <a:prstGeom xmlns:a="http://schemas.openxmlformats.org/drawingml/2006/main" prst="straightConnector1">
            <a:avLst/>
          </a:prstGeom>
          <a:ln xmlns:a="http://schemas.openxmlformats.org/drawingml/2006/main" w="19050">
            <a:solidFill>
              <a:srgbClr val="317D73"/>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31A726D9-6ACA-4211-8A4A-910A57ED73A7}"/>
              </a:ext>
            </a:extLst>
          </p:cNvPr>
          <p:cNvCxnSpPr>
            <a:stCxn xmlns:a="http://schemas.openxmlformats.org/drawingml/2006/main" id="5" idx="3"/>
            <a:endCxn xmlns:a="http://schemas.openxmlformats.org/drawingml/2006/main" id="10" idx="1"/>
          </p:cNvCxnSpPr>
          <p:nvPr/>
        </p:nvCxnSpPr>
        <p:spPr>
          <a:xfrm xmlns:a="http://schemas.openxmlformats.org/drawingml/2006/main">
            <a:off x="2895600" y="3609975"/>
            <a:ext cx="438150" cy="0"/>
          </a:xfrm>
          <a:prstGeom xmlns:a="http://schemas.openxmlformats.org/drawingml/2006/main" prst="straightConnector1">
            <a:avLst/>
          </a:prstGeom>
          <a:ln xmlns:a="http://schemas.openxmlformats.org/drawingml/2006/main" w="19050">
            <a:solidFill>
              <a:srgbClr val="D66F57"/>
            </a:solidFill>
            <a:prstDash val="solid"/>
            <a:tailEnd type="triangle" w="sm" len="sm"/>
          </a:ln>
        </p:spPr>
      </p:cxnSp>
      <p:sp>
        <p:nvSpPr>
          <p:cNvPr id="30" name="section-label">
            <a:extLst xmlns:a="http://schemas.openxmlformats.org/drawingml/2006/main">
              <a:ext uri="{FF2B5EF4-FFF2-40B4-BE49-F238E27FC236}">
                <a16:creationId xmlns:a16="http://schemas.microsoft.com/office/drawing/2014/main" id="{6585A796-348F-4C9D-900E-6710B36C23BA}"/>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1C1E9DCA-D16B-4AD9-A460-AB360643115F}"/>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Quét chữ trong ảnh</a:t>
            </a:r>
          </a:p>
        </p:txBody>
      </p:sp>
      <p:sp>
        <p:nvSpPr>
          <p:cNvPr id="3" name="slide-subtitle">
            <a:extLst xmlns:a="http://schemas.openxmlformats.org/drawingml/2006/main">
              <a:ext uri="{FF2B5EF4-FFF2-40B4-BE49-F238E27FC236}">
                <a16:creationId xmlns:a16="http://schemas.microsoft.com/office/drawing/2014/main" id="{B2F943EA-ED76-46A3-926E-01F4648545F6}"/>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OCR biến ảnh thành văn bản; bộ NLP không phân tích hình ảnh trực tiếp.</a:t>
            </a:r>
          </a:p>
        </p:txBody>
      </p:sp>
      <p:sp>
        <p:nvSpPr>
          <p:cNvPr id="4" name="title-rule">
            <a:extLst xmlns:a="http://schemas.openxmlformats.org/drawingml/2006/main">
              <a:ext uri="{FF2B5EF4-FFF2-40B4-BE49-F238E27FC236}">
                <a16:creationId xmlns:a16="http://schemas.microsoft.com/office/drawing/2014/main" id="{A68C5FA0-AB8E-4C5C-8145-2EC09E2D9D79}"/>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ocr-upload-shape">
            <a:extLst xmlns:a="http://schemas.openxmlformats.org/drawingml/2006/main">
              <a:ext uri="{FF2B5EF4-FFF2-40B4-BE49-F238E27FC236}">
                <a16:creationId xmlns:a16="http://schemas.microsoft.com/office/drawing/2014/main" id="{C43EA118-95FD-49E9-832F-A5F0B3FE1959}"/>
              </a:ext>
            </a:extLst>
          </p:cNvPr>
          <p:cNvSpPr>
            <a:spLocks xmlns:a="http://schemas.openxmlformats.org/drawingml/2006/main" noGrp="1"/>
          </p:cNvSpPr>
          <p:nvPr/>
        </p:nvSpPr>
        <p:spPr>
          <a:xfrm xmlns:a="http://schemas.openxmlformats.org/drawingml/2006/main">
            <a:off x="7048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6" name="ocr-upload-accent">
            <a:extLst xmlns:a="http://schemas.openxmlformats.org/drawingml/2006/main">
              <a:ext uri="{FF2B5EF4-FFF2-40B4-BE49-F238E27FC236}">
                <a16:creationId xmlns:a16="http://schemas.microsoft.com/office/drawing/2014/main" id="{3DD0D112-DA07-4BFF-B993-992997CD0133}"/>
              </a:ext>
            </a:extLst>
          </p:cNvPr>
          <p:cNvSpPr>
            <a:spLocks xmlns:a="http://schemas.openxmlformats.org/drawingml/2006/main" noGrp="1"/>
          </p:cNvSpPr>
          <p:nvPr/>
        </p:nvSpPr>
        <p:spPr>
          <a:xfrm xmlns:a="http://schemas.openxmlformats.org/drawingml/2006/main">
            <a:off x="704850" y="2762250"/>
            <a:ext cx="66675" cy="169545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7" name="ocr-upload-kicker">
            <a:extLst xmlns:a="http://schemas.openxmlformats.org/drawingml/2006/main">
              <a:ext uri="{FF2B5EF4-FFF2-40B4-BE49-F238E27FC236}">
                <a16:creationId xmlns:a16="http://schemas.microsoft.com/office/drawing/2014/main" id="{BC8EFBBB-BA85-457B-95B2-EEBF4EA8CE3B}"/>
              </a:ext>
            </a:extLst>
          </p:cNvPr>
          <p:cNvSpPr>
            <a:spLocks xmlns:a="http://schemas.openxmlformats.org/drawingml/2006/main" noGrp="1"/>
          </p:cNvSpPr>
          <p:nvPr/>
        </p:nvSpPr>
        <p:spPr>
          <a:xfrm xmlns:a="http://schemas.openxmlformats.org/drawingml/2006/main">
            <a:off x="9239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ĐẦU VÀO</a:t>
            </a:r>
          </a:p>
        </p:txBody>
      </p:sp>
      <p:sp>
        <p:nvSpPr>
          <p:cNvPr id="8" name="ocr-upload-heading">
            <a:extLst xmlns:a="http://schemas.openxmlformats.org/drawingml/2006/main">
              <a:ext uri="{FF2B5EF4-FFF2-40B4-BE49-F238E27FC236}">
                <a16:creationId xmlns:a16="http://schemas.microsoft.com/office/drawing/2014/main" id="{663825D1-4DA4-4A5A-9E8C-36F37B489FE5}"/>
              </a:ext>
            </a:extLst>
          </p:cNvPr>
          <p:cNvSpPr>
            <a:spLocks xmlns:a="http://schemas.openxmlformats.org/drawingml/2006/main" noGrp="1"/>
          </p:cNvSpPr>
          <p:nvPr/>
        </p:nvSpPr>
        <p:spPr>
          <a:xfrm xmlns:a="http://schemas.openxmlformats.org/drawingml/2006/main">
            <a:off x="9239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Ảnh</a:t>
            </a:r>
          </a:p>
        </p:txBody>
      </p:sp>
      <p:sp>
        <p:nvSpPr>
          <p:cNvPr id="9" name="ocr-upload-body">
            <a:extLst xmlns:a="http://schemas.openxmlformats.org/drawingml/2006/main">
              <a:ext uri="{FF2B5EF4-FFF2-40B4-BE49-F238E27FC236}">
                <a16:creationId xmlns:a16="http://schemas.microsoft.com/office/drawing/2014/main" id="{6F3DAB4A-CC48-4164-87D9-1B5521B01577}"/>
              </a:ext>
            </a:extLst>
          </p:cNvPr>
          <p:cNvSpPr>
            <a:spLocks xmlns:a="http://schemas.openxmlformats.org/drawingml/2006/main" noGrp="1"/>
          </p:cNvSpPr>
          <p:nvPr/>
        </p:nvSpPr>
        <p:spPr>
          <a:xfrm xmlns:a="http://schemas.openxmlformats.org/drawingml/2006/main">
            <a:off x="9239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PNG, JPG hoặc WebP</a:t>
            </a:r>
          </a:p>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Tối đa 10 MB.</a:t>
            </a:r>
          </a:p>
        </p:txBody>
      </p:sp>
      <p:sp>
        <p:nvSpPr>
          <p:cNvPr id="10" name="ocr-prep-shape">
            <a:extLst xmlns:a="http://schemas.openxmlformats.org/drawingml/2006/main">
              <a:ext uri="{FF2B5EF4-FFF2-40B4-BE49-F238E27FC236}">
                <a16:creationId xmlns:a16="http://schemas.microsoft.com/office/drawing/2014/main" id="{BB990250-0DF3-4142-B534-7F796946CC95}"/>
              </a:ext>
            </a:extLst>
          </p:cNvPr>
          <p:cNvSpPr>
            <a:spLocks xmlns:a="http://schemas.openxmlformats.org/drawingml/2006/main" noGrp="1"/>
          </p:cNvSpPr>
          <p:nvPr/>
        </p:nvSpPr>
        <p:spPr>
          <a:xfrm xmlns:a="http://schemas.openxmlformats.org/drawingml/2006/main">
            <a:off x="33337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11" name="ocr-prep-accent">
            <a:extLst xmlns:a="http://schemas.openxmlformats.org/drawingml/2006/main">
              <a:ext uri="{FF2B5EF4-FFF2-40B4-BE49-F238E27FC236}">
                <a16:creationId xmlns:a16="http://schemas.microsoft.com/office/drawing/2014/main" id="{F1B48376-1478-41D4-8FD6-4694EF9F6C26}"/>
              </a:ext>
            </a:extLst>
          </p:cNvPr>
          <p:cNvSpPr>
            <a:spLocks xmlns:a="http://schemas.openxmlformats.org/drawingml/2006/main" noGrp="1"/>
          </p:cNvSpPr>
          <p:nvPr/>
        </p:nvSpPr>
        <p:spPr>
          <a:xfrm xmlns:a="http://schemas.openxmlformats.org/drawingml/2006/main">
            <a:off x="3333750" y="2762250"/>
            <a:ext cx="66675" cy="169545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12" name="ocr-prep-kicker">
            <a:extLst xmlns:a="http://schemas.openxmlformats.org/drawingml/2006/main">
              <a:ext uri="{FF2B5EF4-FFF2-40B4-BE49-F238E27FC236}">
                <a16:creationId xmlns:a16="http://schemas.microsoft.com/office/drawing/2014/main" id="{0D423578-A440-46E1-9A63-2071A0DF731B}"/>
              </a:ext>
            </a:extLst>
          </p:cNvPr>
          <p:cNvSpPr>
            <a:spLocks xmlns:a="http://schemas.openxmlformats.org/drawingml/2006/main" noGrp="1"/>
          </p:cNvSpPr>
          <p:nvPr/>
        </p:nvSpPr>
        <p:spPr>
          <a:xfrm xmlns:a="http://schemas.openxmlformats.org/drawingml/2006/main">
            <a:off x="35528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CHUẨN HÓA</a:t>
            </a:r>
          </a:p>
        </p:txBody>
      </p:sp>
      <p:sp>
        <p:nvSpPr>
          <p:cNvPr id="13" name="ocr-prep-heading">
            <a:extLst xmlns:a="http://schemas.openxmlformats.org/drawingml/2006/main">
              <a:ext uri="{FF2B5EF4-FFF2-40B4-BE49-F238E27FC236}">
                <a16:creationId xmlns:a16="http://schemas.microsoft.com/office/drawing/2014/main" id="{6CF03547-2DB7-49D4-B63B-0F94A1FCDCC5}"/>
              </a:ext>
            </a:extLst>
          </p:cNvPr>
          <p:cNvSpPr>
            <a:spLocks xmlns:a="http://schemas.openxmlformats.org/drawingml/2006/main" noGrp="1"/>
          </p:cNvSpPr>
          <p:nvPr/>
        </p:nvSpPr>
        <p:spPr>
          <a:xfrm xmlns:a="http://schemas.openxmlformats.org/drawingml/2006/main">
            <a:off x="35528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Pillow</a:t>
            </a:r>
          </a:p>
        </p:txBody>
      </p:sp>
      <p:sp>
        <p:nvSpPr>
          <p:cNvPr id="14" name="ocr-prep-body">
            <a:extLst xmlns:a="http://schemas.openxmlformats.org/drawingml/2006/main">
              <a:ext uri="{FF2B5EF4-FFF2-40B4-BE49-F238E27FC236}">
                <a16:creationId xmlns:a16="http://schemas.microsoft.com/office/drawing/2014/main" id="{A6C4C1AF-37C1-4098-B44A-0B2FDFCAFD54}"/>
              </a:ext>
            </a:extLst>
          </p:cNvPr>
          <p:cNvSpPr>
            <a:spLocks xmlns:a="http://schemas.openxmlformats.org/drawingml/2006/main" noGrp="1"/>
          </p:cNvSpPr>
          <p:nvPr/>
        </p:nvSpPr>
        <p:spPr>
          <a:xfrm xmlns:a="http://schemas.openxmlformats.org/drawingml/2006/main">
            <a:off x="35528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Đọc ảnh, xoay theo EXIF, chuyển RGB.</a:t>
            </a:r>
          </a:p>
        </p:txBody>
      </p:sp>
      <p:sp>
        <p:nvSpPr>
          <p:cNvPr id="15" name="ocr-engine-shape">
            <a:extLst xmlns:a="http://schemas.openxmlformats.org/drawingml/2006/main">
              <a:ext uri="{FF2B5EF4-FFF2-40B4-BE49-F238E27FC236}">
                <a16:creationId xmlns:a16="http://schemas.microsoft.com/office/drawing/2014/main" id="{C0004ECC-82C6-49CC-81D1-406885370E2B}"/>
              </a:ext>
            </a:extLst>
          </p:cNvPr>
          <p:cNvSpPr>
            <a:spLocks xmlns:a="http://schemas.openxmlformats.org/drawingml/2006/main" noGrp="1"/>
          </p:cNvSpPr>
          <p:nvPr/>
        </p:nvSpPr>
        <p:spPr>
          <a:xfrm xmlns:a="http://schemas.openxmlformats.org/drawingml/2006/main">
            <a:off x="5962650" y="2762250"/>
            <a:ext cx="2190750" cy="1695450"/>
          </a:xfrm>
          <a:prstGeom xmlns:a="http://schemas.openxmlformats.org/drawingml/2006/main" prst="roundRect">
            <a:avLst>
              <a:gd name="adj" fmla="val 7865"/>
            </a:avLst>
          </a:prstGeom>
          <a:solidFill xmlns:a="http://schemas.openxmlformats.org/drawingml/2006/main">
            <a:srgbClr val="F4E1DA"/>
          </a:solidFill>
          <a:ln xmlns:a="http://schemas.openxmlformats.org/drawingml/2006/main" w="9525">
            <a:solidFill>
              <a:srgbClr val="D6D8D3"/>
            </a:solidFill>
            <a:prstDash val="solid"/>
          </a:ln>
        </p:spPr>
      </p:sp>
      <p:sp>
        <p:nvSpPr>
          <p:cNvPr id="16" name="ocr-engine-accent">
            <a:extLst xmlns:a="http://schemas.openxmlformats.org/drawingml/2006/main">
              <a:ext uri="{FF2B5EF4-FFF2-40B4-BE49-F238E27FC236}">
                <a16:creationId xmlns:a16="http://schemas.microsoft.com/office/drawing/2014/main" id="{34C0A9DA-BF43-41EC-9A1F-45F7907A36A6}"/>
              </a:ext>
            </a:extLst>
          </p:cNvPr>
          <p:cNvSpPr>
            <a:spLocks xmlns:a="http://schemas.openxmlformats.org/drawingml/2006/main" noGrp="1"/>
          </p:cNvSpPr>
          <p:nvPr/>
        </p:nvSpPr>
        <p:spPr>
          <a:xfrm xmlns:a="http://schemas.openxmlformats.org/drawingml/2006/main">
            <a:off x="5962650" y="2762250"/>
            <a:ext cx="66675" cy="1695450"/>
          </a:xfrm>
          <a:prstGeom xmlns:a="http://schemas.openxmlformats.org/drawingml/2006/main" prst="roundRect">
            <a:avLst>
              <a:gd name="adj" fmla="val 50000"/>
            </a:avLst>
          </a:prstGeom>
          <a:solidFill xmlns:a="http://schemas.openxmlformats.org/drawingml/2006/main">
            <a:srgbClr val="D66F57"/>
          </a:solidFill>
          <a:ln xmlns:a="http://schemas.openxmlformats.org/drawingml/2006/main" w="0">
            <a:noFill/>
            <a:prstDash val="solid"/>
          </a:ln>
        </p:spPr>
      </p:sp>
      <p:sp>
        <p:nvSpPr>
          <p:cNvPr id="17" name="ocr-engine-kicker">
            <a:extLst xmlns:a="http://schemas.openxmlformats.org/drawingml/2006/main">
              <a:ext uri="{FF2B5EF4-FFF2-40B4-BE49-F238E27FC236}">
                <a16:creationId xmlns:a16="http://schemas.microsoft.com/office/drawing/2014/main" id="{87A30EE9-6EC8-4D53-B0B4-2798DCB7B7BA}"/>
              </a:ext>
            </a:extLst>
          </p:cNvPr>
          <p:cNvSpPr>
            <a:spLocks xmlns:a="http://schemas.openxmlformats.org/drawingml/2006/main" noGrp="1"/>
          </p:cNvSpPr>
          <p:nvPr/>
        </p:nvSpPr>
        <p:spPr>
          <a:xfrm xmlns:a="http://schemas.openxmlformats.org/drawingml/2006/main">
            <a:off x="61817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D66F57"/>
                </a:solidFill>
                <a:latin typeface="Arial"/>
                <a:ea typeface="Arial"/>
                <a:cs typeface="Arial"/>
              </a:defRPr>
            </a:defPPr>
            <a:lvl1pPr algn="l">
              <a:defRPr sz="975" b="1" i="0">
                <a:solidFill>
                  <a:srgbClr val="D66F57"/>
                </a:solidFill>
                <a:latin typeface="Arial"/>
                <a:ea typeface="Arial"/>
                <a:cs typeface="Arial"/>
              </a:defRPr>
            </a:lvl1pPr>
            <a:lvl2pPr algn="l">
              <a:defRPr sz="975" b="1" i="0">
                <a:solidFill>
                  <a:srgbClr val="D66F57"/>
                </a:solidFill>
                <a:latin typeface="Arial"/>
                <a:ea typeface="Arial"/>
                <a:cs typeface="Arial"/>
              </a:defRPr>
            </a:lvl2pPr>
            <a:lvl3pPr algn="l">
              <a:defRPr sz="975" b="1" i="0">
                <a:solidFill>
                  <a:srgbClr val="D66F57"/>
                </a:solidFill>
                <a:latin typeface="Arial"/>
                <a:ea typeface="Arial"/>
                <a:cs typeface="Arial"/>
              </a:defRPr>
            </a:lvl3pPr>
            <a:lvl4pPr algn="l">
              <a:defRPr sz="975" b="1" i="0">
                <a:solidFill>
                  <a:srgbClr val="D66F57"/>
                </a:solidFill>
                <a:latin typeface="Arial"/>
                <a:ea typeface="Arial"/>
                <a:cs typeface="Arial"/>
              </a:defRPr>
            </a:lvl4pPr>
            <a:lvl5pPr algn="l">
              <a:defRPr sz="975" b="1" i="0">
                <a:solidFill>
                  <a:srgbClr val="D66F57"/>
                </a:solidFill>
                <a:latin typeface="Arial"/>
                <a:ea typeface="Arial"/>
                <a:cs typeface="Arial"/>
              </a:defRPr>
            </a:lvl5pPr>
            <a:lvl6pPr algn="l">
              <a:defRPr sz="975" b="1" i="0">
                <a:solidFill>
                  <a:srgbClr val="D66F57"/>
                </a:solidFill>
                <a:latin typeface="Arial"/>
                <a:ea typeface="Arial"/>
                <a:cs typeface="Arial"/>
              </a:defRPr>
            </a:lvl6pPr>
            <a:lvl7pPr algn="l">
              <a:defRPr sz="975" b="1" i="0">
                <a:solidFill>
                  <a:srgbClr val="D66F57"/>
                </a:solidFill>
                <a:latin typeface="Arial"/>
                <a:ea typeface="Arial"/>
                <a:cs typeface="Arial"/>
              </a:defRPr>
            </a:lvl7pPr>
            <a:lvl8pPr algn="l">
              <a:defRPr sz="975" b="1" i="0">
                <a:solidFill>
                  <a:srgbClr val="D66F57"/>
                </a:solidFill>
                <a:latin typeface="Arial"/>
                <a:ea typeface="Arial"/>
                <a:cs typeface="Arial"/>
              </a:defRPr>
            </a:lvl8pPr>
            <a:lvl9pPr algn="l">
              <a:defRPr sz="975" b="1" i="0">
                <a:solidFill>
                  <a:srgbClr val="D66F57"/>
                </a:solidFill>
                <a:latin typeface="Arial"/>
                <a:ea typeface="Arial"/>
                <a:cs typeface="Arial"/>
              </a:defRPr>
            </a:lvl9pPr>
          </a:lstStyle>
          <a:p xmlns:a="http://schemas.openxmlformats.org/drawingml/2006/main">
            <a:pPr algn="l">
              <a:lnSpc>
                <a:spcPct val="108000"/>
              </a:lnSpc>
              <a:buNone/>
              <a:defRPr sz="975" b="1" i="0">
                <a:solidFill>
                  <a:srgbClr val="D66F57"/>
                </a:solidFill>
                <a:latin typeface="Arial"/>
                <a:ea typeface="Arial"/>
                <a:cs typeface="Arial"/>
              </a:defRPr>
            </a:pPr>
            <a:r>
              <a:rPr sz="975" b="1" i="0">
                <a:solidFill>
                  <a:srgbClr val="D66F57"/>
                </a:solidFill>
                <a:latin typeface="Arial"/>
                <a:ea typeface="Arial"/>
                <a:cs typeface="Arial"/>
              </a:rPr>
              <a:t>NHẬN DẠNG</a:t>
            </a:r>
          </a:p>
        </p:txBody>
      </p:sp>
      <p:sp>
        <p:nvSpPr>
          <p:cNvPr id="18" name="ocr-engine-heading">
            <a:extLst xmlns:a="http://schemas.openxmlformats.org/drawingml/2006/main">
              <a:ext uri="{FF2B5EF4-FFF2-40B4-BE49-F238E27FC236}">
                <a16:creationId xmlns:a16="http://schemas.microsoft.com/office/drawing/2014/main" id="{47616643-9083-486E-9B82-31BEF30D4B95}"/>
              </a:ext>
            </a:extLst>
          </p:cNvPr>
          <p:cNvSpPr>
            <a:spLocks xmlns:a="http://schemas.openxmlformats.org/drawingml/2006/main" noGrp="1"/>
          </p:cNvSpPr>
          <p:nvPr/>
        </p:nvSpPr>
        <p:spPr>
          <a:xfrm xmlns:a="http://schemas.openxmlformats.org/drawingml/2006/main">
            <a:off x="61817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Tesseract OCR</a:t>
            </a:r>
          </a:p>
        </p:txBody>
      </p:sp>
      <p:sp>
        <p:nvSpPr>
          <p:cNvPr id="19" name="ocr-engine-body">
            <a:extLst xmlns:a="http://schemas.openxmlformats.org/drawingml/2006/main">
              <a:ext uri="{FF2B5EF4-FFF2-40B4-BE49-F238E27FC236}">
                <a16:creationId xmlns:a16="http://schemas.microsoft.com/office/drawing/2014/main" id="{31A08359-6963-4441-878A-A163FB36B1B5}"/>
              </a:ext>
            </a:extLst>
          </p:cNvPr>
          <p:cNvSpPr>
            <a:spLocks xmlns:a="http://schemas.openxmlformats.org/drawingml/2006/main" noGrp="1"/>
          </p:cNvSpPr>
          <p:nvPr/>
        </p:nvSpPr>
        <p:spPr>
          <a:xfrm xmlns:a="http://schemas.openxmlformats.org/drawingml/2006/main">
            <a:off x="61817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Ngôn ngữ tiếng Việt vie+eng.</a:t>
            </a:r>
          </a:p>
        </p:txBody>
      </p:sp>
      <p:sp>
        <p:nvSpPr>
          <p:cNvPr id="20" name="ocr-classify-shape">
            <a:extLst xmlns:a="http://schemas.openxmlformats.org/drawingml/2006/main">
              <a:ext uri="{FF2B5EF4-FFF2-40B4-BE49-F238E27FC236}">
                <a16:creationId xmlns:a16="http://schemas.microsoft.com/office/drawing/2014/main" id="{EF540631-3542-4998-929A-7F2FFAC03DC3}"/>
              </a:ext>
            </a:extLst>
          </p:cNvPr>
          <p:cNvSpPr>
            <a:spLocks xmlns:a="http://schemas.openxmlformats.org/drawingml/2006/main" noGrp="1"/>
          </p:cNvSpPr>
          <p:nvPr/>
        </p:nvSpPr>
        <p:spPr>
          <a:xfrm xmlns:a="http://schemas.openxmlformats.org/drawingml/2006/main">
            <a:off x="8591550" y="2762250"/>
            <a:ext cx="2190750" cy="1695450"/>
          </a:xfrm>
          <a:prstGeom xmlns:a="http://schemas.openxmlformats.org/drawingml/2006/main" prst="roundRect">
            <a:avLst>
              <a:gd name="adj" fmla="val 7865"/>
            </a:avLst>
          </a:prstGeom>
          <a:solidFill xmlns:a="http://schemas.openxmlformats.org/drawingml/2006/main">
            <a:srgbClr val="FFFFFF"/>
          </a:solidFill>
          <a:ln xmlns:a="http://schemas.openxmlformats.org/drawingml/2006/main" w="9525">
            <a:solidFill>
              <a:srgbClr val="D6D8D3"/>
            </a:solidFill>
            <a:prstDash val="solid"/>
          </a:ln>
        </p:spPr>
      </p:sp>
      <p:sp>
        <p:nvSpPr>
          <p:cNvPr id="21" name="ocr-classify-accent">
            <a:extLst xmlns:a="http://schemas.openxmlformats.org/drawingml/2006/main">
              <a:ext uri="{FF2B5EF4-FFF2-40B4-BE49-F238E27FC236}">
                <a16:creationId xmlns:a16="http://schemas.microsoft.com/office/drawing/2014/main" id="{1BA50B74-6193-48C6-86A7-201B2466820A}"/>
              </a:ext>
            </a:extLst>
          </p:cNvPr>
          <p:cNvSpPr>
            <a:spLocks xmlns:a="http://schemas.openxmlformats.org/drawingml/2006/main" noGrp="1"/>
          </p:cNvSpPr>
          <p:nvPr/>
        </p:nvSpPr>
        <p:spPr>
          <a:xfrm xmlns:a="http://schemas.openxmlformats.org/drawingml/2006/main">
            <a:off x="8591550" y="2762250"/>
            <a:ext cx="66675" cy="1695450"/>
          </a:xfrm>
          <a:prstGeom xmlns:a="http://schemas.openxmlformats.org/drawingml/2006/main" prst="roundRect">
            <a:avLst>
              <a:gd name="adj" fmla="val 50000"/>
            </a:avLst>
          </a:prstGeom>
          <a:solidFill xmlns:a="http://schemas.openxmlformats.org/drawingml/2006/main">
            <a:srgbClr val="317D73"/>
          </a:solidFill>
          <a:ln xmlns:a="http://schemas.openxmlformats.org/drawingml/2006/main" w="0">
            <a:noFill/>
            <a:prstDash val="solid"/>
          </a:ln>
        </p:spPr>
      </p:sp>
      <p:sp>
        <p:nvSpPr>
          <p:cNvPr id="22" name="ocr-classify-kicker">
            <a:extLst xmlns:a="http://schemas.openxmlformats.org/drawingml/2006/main">
              <a:ext uri="{FF2B5EF4-FFF2-40B4-BE49-F238E27FC236}">
                <a16:creationId xmlns:a16="http://schemas.microsoft.com/office/drawing/2014/main" id="{16E11AD1-C0FE-4577-B7D0-83CBD9196E1C}"/>
              </a:ext>
            </a:extLst>
          </p:cNvPr>
          <p:cNvSpPr>
            <a:spLocks xmlns:a="http://schemas.openxmlformats.org/drawingml/2006/main" noGrp="1"/>
          </p:cNvSpPr>
          <p:nvPr/>
        </p:nvSpPr>
        <p:spPr>
          <a:xfrm xmlns:a="http://schemas.openxmlformats.org/drawingml/2006/main">
            <a:off x="8810625" y="29337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317D73"/>
                </a:solidFill>
                <a:latin typeface="Arial"/>
                <a:ea typeface="Arial"/>
                <a:cs typeface="Arial"/>
              </a:defRPr>
            </a:defPPr>
            <a:lvl1pPr algn="l">
              <a:defRPr sz="975" b="1" i="0">
                <a:solidFill>
                  <a:srgbClr val="317D73"/>
                </a:solidFill>
                <a:latin typeface="Arial"/>
                <a:ea typeface="Arial"/>
                <a:cs typeface="Arial"/>
              </a:defRPr>
            </a:lvl1pPr>
            <a:lvl2pPr algn="l">
              <a:defRPr sz="975" b="1" i="0">
                <a:solidFill>
                  <a:srgbClr val="317D73"/>
                </a:solidFill>
                <a:latin typeface="Arial"/>
                <a:ea typeface="Arial"/>
                <a:cs typeface="Arial"/>
              </a:defRPr>
            </a:lvl2pPr>
            <a:lvl3pPr algn="l">
              <a:defRPr sz="975" b="1" i="0">
                <a:solidFill>
                  <a:srgbClr val="317D73"/>
                </a:solidFill>
                <a:latin typeface="Arial"/>
                <a:ea typeface="Arial"/>
                <a:cs typeface="Arial"/>
              </a:defRPr>
            </a:lvl3pPr>
            <a:lvl4pPr algn="l">
              <a:defRPr sz="975" b="1" i="0">
                <a:solidFill>
                  <a:srgbClr val="317D73"/>
                </a:solidFill>
                <a:latin typeface="Arial"/>
                <a:ea typeface="Arial"/>
                <a:cs typeface="Arial"/>
              </a:defRPr>
            </a:lvl4pPr>
            <a:lvl5pPr algn="l">
              <a:defRPr sz="975" b="1" i="0">
                <a:solidFill>
                  <a:srgbClr val="317D73"/>
                </a:solidFill>
                <a:latin typeface="Arial"/>
                <a:ea typeface="Arial"/>
                <a:cs typeface="Arial"/>
              </a:defRPr>
            </a:lvl5pPr>
            <a:lvl6pPr algn="l">
              <a:defRPr sz="975" b="1" i="0">
                <a:solidFill>
                  <a:srgbClr val="317D73"/>
                </a:solidFill>
                <a:latin typeface="Arial"/>
                <a:ea typeface="Arial"/>
                <a:cs typeface="Arial"/>
              </a:defRPr>
            </a:lvl6pPr>
            <a:lvl7pPr algn="l">
              <a:defRPr sz="975" b="1" i="0">
                <a:solidFill>
                  <a:srgbClr val="317D73"/>
                </a:solidFill>
                <a:latin typeface="Arial"/>
                <a:ea typeface="Arial"/>
                <a:cs typeface="Arial"/>
              </a:defRPr>
            </a:lvl7pPr>
            <a:lvl8pPr algn="l">
              <a:defRPr sz="975" b="1" i="0">
                <a:solidFill>
                  <a:srgbClr val="317D73"/>
                </a:solidFill>
                <a:latin typeface="Arial"/>
                <a:ea typeface="Arial"/>
                <a:cs typeface="Arial"/>
              </a:defRPr>
            </a:lvl8pPr>
            <a:lvl9pPr algn="l">
              <a:defRPr sz="975" b="1" i="0">
                <a:solidFill>
                  <a:srgbClr val="317D73"/>
                </a:solidFill>
                <a:latin typeface="Arial"/>
                <a:ea typeface="Arial"/>
                <a:cs typeface="Arial"/>
              </a:defRPr>
            </a:lvl9pPr>
          </a:lstStyle>
          <a:p xmlns:a="http://schemas.openxmlformats.org/drawingml/2006/main">
            <a:pPr algn="l">
              <a:lnSpc>
                <a:spcPct val="108000"/>
              </a:lnSpc>
              <a:buNone/>
              <a:defRPr sz="975" b="1" i="0">
                <a:solidFill>
                  <a:srgbClr val="317D73"/>
                </a:solidFill>
                <a:latin typeface="Arial"/>
                <a:ea typeface="Arial"/>
                <a:cs typeface="Arial"/>
              </a:defRPr>
            </a:pPr>
            <a:r>
              <a:rPr sz="975" b="1" i="0">
                <a:solidFill>
                  <a:srgbClr val="317D73"/>
                </a:solidFill>
                <a:latin typeface="Arial"/>
                <a:ea typeface="Arial"/>
                <a:cs typeface="Arial"/>
              </a:rPr>
              <a:t>SAU OCR</a:t>
            </a:r>
          </a:p>
        </p:txBody>
      </p:sp>
      <p:sp>
        <p:nvSpPr>
          <p:cNvPr id="23" name="ocr-classify-heading">
            <a:extLst xmlns:a="http://schemas.openxmlformats.org/drawingml/2006/main">
              <a:ext uri="{FF2B5EF4-FFF2-40B4-BE49-F238E27FC236}">
                <a16:creationId xmlns:a16="http://schemas.microsoft.com/office/drawing/2014/main" id="{82094418-7CDD-4678-9D80-D9F4B6A2CA97}"/>
              </a:ext>
            </a:extLst>
          </p:cNvPr>
          <p:cNvSpPr>
            <a:spLocks xmlns:a="http://schemas.openxmlformats.org/drawingml/2006/main" noGrp="1"/>
          </p:cNvSpPr>
          <p:nvPr/>
        </p:nvSpPr>
        <p:spPr>
          <a:xfrm xmlns:a="http://schemas.openxmlformats.org/drawingml/2006/main">
            <a:off x="8810625" y="3190875"/>
            <a:ext cx="1790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151D24"/>
                </a:solidFill>
                <a:latin typeface="Arial"/>
                <a:ea typeface="Arial"/>
                <a:cs typeface="Arial"/>
              </a:defRPr>
            </a:defPPr>
            <a:lvl1pPr algn="l">
              <a:defRPr sz="1725" b="1" i="0">
                <a:solidFill>
                  <a:srgbClr val="151D24"/>
                </a:solidFill>
                <a:latin typeface="Arial"/>
                <a:ea typeface="Arial"/>
                <a:cs typeface="Arial"/>
              </a:defRPr>
            </a:lvl1pPr>
            <a:lvl2pPr algn="l">
              <a:defRPr sz="1725" b="1" i="0">
                <a:solidFill>
                  <a:srgbClr val="151D24"/>
                </a:solidFill>
                <a:latin typeface="Arial"/>
                <a:ea typeface="Arial"/>
                <a:cs typeface="Arial"/>
              </a:defRPr>
            </a:lvl2pPr>
            <a:lvl3pPr algn="l">
              <a:defRPr sz="1725" b="1" i="0">
                <a:solidFill>
                  <a:srgbClr val="151D24"/>
                </a:solidFill>
                <a:latin typeface="Arial"/>
                <a:ea typeface="Arial"/>
                <a:cs typeface="Arial"/>
              </a:defRPr>
            </a:lvl3pPr>
            <a:lvl4pPr algn="l">
              <a:defRPr sz="1725" b="1" i="0">
                <a:solidFill>
                  <a:srgbClr val="151D24"/>
                </a:solidFill>
                <a:latin typeface="Arial"/>
                <a:ea typeface="Arial"/>
                <a:cs typeface="Arial"/>
              </a:defRPr>
            </a:lvl4pPr>
            <a:lvl5pPr algn="l">
              <a:defRPr sz="1725" b="1" i="0">
                <a:solidFill>
                  <a:srgbClr val="151D24"/>
                </a:solidFill>
                <a:latin typeface="Arial"/>
                <a:ea typeface="Arial"/>
                <a:cs typeface="Arial"/>
              </a:defRPr>
            </a:lvl5pPr>
            <a:lvl6pPr algn="l">
              <a:defRPr sz="1725" b="1" i="0">
                <a:solidFill>
                  <a:srgbClr val="151D24"/>
                </a:solidFill>
                <a:latin typeface="Arial"/>
                <a:ea typeface="Arial"/>
                <a:cs typeface="Arial"/>
              </a:defRPr>
            </a:lvl6pPr>
            <a:lvl7pPr algn="l">
              <a:defRPr sz="1725" b="1" i="0">
                <a:solidFill>
                  <a:srgbClr val="151D24"/>
                </a:solidFill>
                <a:latin typeface="Arial"/>
                <a:ea typeface="Arial"/>
                <a:cs typeface="Arial"/>
              </a:defRPr>
            </a:lvl7pPr>
            <a:lvl8pPr algn="l">
              <a:defRPr sz="1725" b="1" i="0">
                <a:solidFill>
                  <a:srgbClr val="151D24"/>
                </a:solidFill>
                <a:latin typeface="Arial"/>
                <a:ea typeface="Arial"/>
                <a:cs typeface="Arial"/>
              </a:defRPr>
            </a:lvl8pPr>
            <a:lvl9pPr algn="l">
              <a:defRPr sz="1725" b="1" i="0">
                <a:solidFill>
                  <a:srgbClr val="151D24"/>
                </a:solidFill>
                <a:latin typeface="Arial"/>
                <a:ea typeface="Arial"/>
                <a:cs typeface="Arial"/>
              </a:defRPr>
            </a:lvl9pPr>
          </a:lstStyle>
          <a:p xmlns:a="http://schemas.openxmlformats.org/drawingml/2006/main">
            <a:pPr algn="l">
              <a:lnSpc>
                <a:spcPct val="108000"/>
              </a:lnSpc>
              <a:buNone/>
              <a:defRPr sz="1725" b="1" i="0">
                <a:solidFill>
                  <a:srgbClr val="151D24"/>
                </a:solidFill>
                <a:latin typeface="Arial"/>
                <a:ea typeface="Arial"/>
                <a:cs typeface="Arial"/>
              </a:defRPr>
            </a:pPr>
            <a:r>
              <a:rPr sz="1725" b="1" i="0">
                <a:solidFill>
                  <a:srgbClr val="151D24"/>
                </a:solidFill>
                <a:latin typeface="Arial"/>
                <a:ea typeface="Arial"/>
                <a:cs typeface="Arial"/>
              </a:rPr>
              <a:t>Phân loại chữ</a:t>
            </a:r>
          </a:p>
        </p:txBody>
      </p:sp>
      <p:sp>
        <p:nvSpPr>
          <p:cNvPr id="24" name="ocr-classify-body">
            <a:extLst xmlns:a="http://schemas.openxmlformats.org/drawingml/2006/main">
              <a:ext uri="{FF2B5EF4-FFF2-40B4-BE49-F238E27FC236}">
                <a16:creationId xmlns:a16="http://schemas.microsoft.com/office/drawing/2014/main" id="{B62C2666-B636-4093-8C9D-F58DD2C2B80B}"/>
              </a:ext>
            </a:extLst>
          </p:cNvPr>
          <p:cNvSpPr>
            <a:spLocks xmlns:a="http://schemas.openxmlformats.org/drawingml/2006/main" noGrp="1"/>
          </p:cNvSpPr>
          <p:nvPr/>
        </p:nvSpPr>
        <p:spPr>
          <a:xfrm xmlns:a="http://schemas.openxmlformats.org/drawingml/2006/main">
            <a:off x="8810625" y="3629025"/>
            <a:ext cx="1790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3000"/>
              </a:lnSpc>
              <a:buNone/>
              <a:defRPr sz="1275" b="0" i="0">
                <a:solidFill>
                  <a:srgbClr val="59656D"/>
                </a:solidFill>
                <a:latin typeface="Arial"/>
                <a:ea typeface="Arial"/>
                <a:cs typeface="Arial"/>
              </a:defRPr>
            </a:pPr>
            <a:r>
              <a:rPr sz="1275" b="0" i="0">
                <a:solidFill>
                  <a:srgbClr val="59656D"/>
                </a:solidFill>
                <a:latin typeface="Arial"/>
                <a:ea typeface="Arial"/>
                <a:cs typeface="Arial"/>
              </a:rPr>
              <a:t>Cùng pipeline dùng cho tin nhắn văn bản.</a:t>
            </a:r>
          </a:p>
        </p:txBody>
      </p:sp>
      <p:sp>
        <p:nvSpPr>
          <p:cNvPr id="28" name="ocr-warning">
            <a:extLst xmlns:a="http://schemas.openxmlformats.org/drawingml/2006/main">
              <a:ext uri="{FF2B5EF4-FFF2-40B4-BE49-F238E27FC236}">
                <a16:creationId xmlns:a16="http://schemas.microsoft.com/office/drawing/2014/main" id="{CCA9B391-AEC7-42D7-92BE-A17930A1E53A}"/>
              </a:ext>
            </a:extLst>
          </p:cNvPr>
          <p:cNvSpPr>
            <a:spLocks xmlns:a="http://schemas.openxmlformats.org/drawingml/2006/main" noGrp="1"/>
          </p:cNvSpPr>
          <p:nvPr/>
        </p:nvSpPr>
        <p:spPr>
          <a:xfrm xmlns:a="http://schemas.openxmlformats.org/drawingml/2006/main">
            <a:off x="781050" y="51054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Cần cài riêng Tesseract và dữ liệu ngôn ngữ vie. Chữ mờ, cách điệu hoặc nền phức tạp có thể làm OCR sai.</a:t>
            </a:r>
          </a:p>
        </p:txBody>
      </p:sp>
      <p:sp>
        <p:nvSpPr>
          <p:cNvPr id="29" name="slide-number">
            <a:extLst xmlns:a="http://schemas.openxmlformats.org/drawingml/2006/main">
              <a:ext uri="{FF2B5EF4-FFF2-40B4-BE49-F238E27FC236}">
                <a16:creationId xmlns:a16="http://schemas.microsoft.com/office/drawing/2014/main" id="{5955B389-8092-489F-B02E-5AE26DAD9175}"/>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06</a:t>
            </a:r>
          </a:p>
        </p:txBody>
      </p:sp>
    </p:spTree>
    <p:extLst>
      <p:ext uri="{BB962C8B-B14F-4D97-AF65-F5344CB8AC3E}">
        <p14:creationId xmlns:p14="http://schemas.microsoft.com/office/powerpoint/2010/main" val="1893887462"/>
      </p:ext>
    </p:extLst>
  </p:cSld>
</p:sld>
</file>

<file path=ppt/slides/slide7.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9B85193C-D0CC-4338-93CD-36CA57E13DB1}"/>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C2EC50C9-DA55-4774-97FC-F8543037804E}"/>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Nhãn dữ liệu và ngữ cảnh</a:t>
            </a:r>
          </a:p>
        </p:txBody>
      </p:sp>
      <p:sp>
        <p:nvSpPr>
          <p:cNvPr id="3" name="slide-subtitle">
            <a:extLst xmlns:a="http://schemas.openxmlformats.org/drawingml/2006/main">
              <a:ext uri="{FF2B5EF4-FFF2-40B4-BE49-F238E27FC236}">
                <a16:creationId xmlns:a16="http://schemas.microsoft.com/office/drawing/2014/main" id="{23ED9DC2-1832-463F-8837-24C05BF1350E}"/>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Hai nhãn hiện tại dễ dùng cho baseline nhưng chưa diễn tả hết sắc thái.</a:t>
            </a:r>
          </a:p>
        </p:txBody>
      </p:sp>
      <p:sp>
        <p:nvSpPr>
          <p:cNvPr id="4" name="title-rule">
            <a:extLst xmlns:a="http://schemas.openxmlformats.org/drawingml/2006/main">
              <a:ext uri="{FF2B5EF4-FFF2-40B4-BE49-F238E27FC236}">
                <a16:creationId xmlns:a16="http://schemas.microsoft.com/office/drawing/2014/main" id="{D9454E4C-89CA-4E7A-8973-7DC5EF3F3E4B}"/>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labels-hate">
            <a:extLst xmlns:a="http://schemas.openxmlformats.org/drawingml/2006/main">
              <a:ext uri="{FF2B5EF4-FFF2-40B4-BE49-F238E27FC236}">
                <a16:creationId xmlns:a16="http://schemas.microsoft.com/office/drawing/2014/main" id="{9B32F28E-3089-450A-8259-A056E4C2CC5B}"/>
              </a:ext>
            </a:extLst>
          </p:cNvPr>
          <p:cNvSpPr>
            <a:spLocks xmlns:a="http://schemas.openxmlformats.org/drawingml/2006/main" noGrp="1"/>
          </p:cNvSpPr>
          <p:nvPr/>
        </p:nvSpPr>
        <p:spPr>
          <a:xfrm xmlns:a="http://schemas.openxmlformats.org/drawingml/2006/main">
            <a:off x="781050"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D66F57"/>
                </a:solidFill>
                <a:latin typeface="Arial"/>
                <a:ea typeface="Arial"/>
                <a:cs typeface="Arial"/>
              </a:defRPr>
            </a:defPPr>
            <a:lvl1pPr algn="l">
              <a:defRPr sz="1350" b="1" i="0">
                <a:solidFill>
                  <a:srgbClr val="D66F57"/>
                </a:solidFill>
                <a:latin typeface="Arial"/>
                <a:ea typeface="Arial"/>
                <a:cs typeface="Arial"/>
              </a:defRPr>
            </a:lvl1pPr>
            <a:lvl2pPr algn="l">
              <a:defRPr sz="1350" b="1" i="0">
                <a:solidFill>
                  <a:srgbClr val="D66F57"/>
                </a:solidFill>
                <a:latin typeface="Arial"/>
                <a:ea typeface="Arial"/>
                <a:cs typeface="Arial"/>
              </a:defRPr>
            </a:lvl2pPr>
            <a:lvl3pPr algn="l">
              <a:defRPr sz="1350" b="1" i="0">
                <a:solidFill>
                  <a:srgbClr val="D66F57"/>
                </a:solidFill>
                <a:latin typeface="Arial"/>
                <a:ea typeface="Arial"/>
                <a:cs typeface="Arial"/>
              </a:defRPr>
            </a:lvl3pPr>
            <a:lvl4pPr algn="l">
              <a:defRPr sz="1350" b="1" i="0">
                <a:solidFill>
                  <a:srgbClr val="D66F57"/>
                </a:solidFill>
                <a:latin typeface="Arial"/>
                <a:ea typeface="Arial"/>
                <a:cs typeface="Arial"/>
              </a:defRPr>
            </a:lvl4pPr>
            <a:lvl5pPr algn="l">
              <a:defRPr sz="1350" b="1" i="0">
                <a:solidFill>
                  <a:srgbClr val="D66F57"/>
                </a:solidFill>
                <a:latin typeface="Arial"/>
                <a:ea typeface="Arial"/>
                <a:cs typeface="Arial"/>
              </a:defRPr>
            </a:lvl5pPr>
            <a:lvl6pPr algn="l">
              <a:defRPr sz="1350" b="1" i="0">
                <a:solidFill>
                  <a:srgbClr val="D66F57"/>
                </a:solidFill>
                <a:latin typeface="Arial"/>
                <a:ea typeface="Arial"/>
                <a:cs typeface="Arial"/>
              </a:defRPr>
            </a:lvl6pPr>
            <a:lvl7pPr algn="l">
              <a:defRPr sz="1350" b="1" i="0">
                <a:solidFill>
                  <a:srgbClr val="D66F57"/>
                </a:solidFill>
                <a:latin typeface="Arial"/>
                <a:ea typeface="Arial"/>
                <a:cs typeface="Arial"/>
              </a:defRPr>
            </a:lvl7pPr>
            <a:lvl8pPr algn="l">
              <a:defRPr sz="1350" b="1" i="0">
                <a:solidFill>
                  <a:srgbClr val="D66F57"/>
                </a:solidFill>
                <a:latin typeface="Arial"/>
                <a:ea typeface="Arial"/>
                <a:cs typeface="Arial"/>
              </a:defRPr>
            </a:lvl8pPr>
            <a:lvl9pPr algn="l">
              <a:defRPr sz="1350" b="1" i="0">
                <a:solidFill>
                  <a:srgbClr val="D66F57"/>
                </a:solidFill>
                <a:latin typeface="Arial"/>
                <a:ea typeface="Arial"/>
                <a:cs typeface="Arial"/>
              </a:defRPr>
            </a:lvl9pPr>
          </a:lstStyle>
          <a:p xmlns:a="http://schemas.openxmlformats.org/drawingml/2006/main">
            <a:pPr algn="l">
              <a:lnSpc>
                <a:spcPct val="108000"/>
              </a:lnSpc>
              <a:buNone/>
              <a:defRPr sz="1350" b="1" i="0">
                <a:solidFill>
                  <a:srgbClr val="D66F57"/>
                </a:solidFill>
                <a:latin typeface="Arial"/>
                <a:ea typeface="Arial"/>
                <a:cs typeface="Arial"/>
              </a:defRPr>
            </a:pPr>
            <a:r>
              <a:rPr sz="1350" b="1" i="0">
                <a:solidFill>
                  <a:srgbClr val="D66F57"/>
                </a:solidFill>
                <a:latin typeface="Arial"/>
                <a:ea typeface="Arial"/>
                <a:cs typeface="Arial"/>
              </a:rPr>
              <a:t>HATE</a:t>
            </a:r>
          </a:p>
        </p:txBody>
      </p:sp>
      <p:sp>
        <p:nvSpPr>
          <p:cNvPr id="6" name="labels-hate-desc">
            <a:extLst xmlns:a="http://schemas.openxmlformats.org/drawingml/2006/main">
              <a:ext uri="{FF2B5EF4-FFF2-40B4-BE49-F238E27FC236}">
                <a16:creationId xmlns:a16="http://schemas.microsoft.com/office/drawing/2014/main" id="{E7C10E31-ADB0-42E6-8B49-D823C9B1C6EB}"/>
              </a:ext>
            </a:extLst>
          </p:cNvPr>
          <p:cNvSpPr>
            <a:spLocks xmlns:a="http://schemas.openxmlformats.org/drawingml/2006/main" noGrp="1"/>
          </p:cNvSpPr>
          <p:nvPr/>
        </p:nvSpPr>
        <p:spPr>
          <a:xfrm xmlns:a="http://schemas.openxmlformats.org/drawingml/2006/main">
            <a:off x="781050"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Công kích hoặc kêu gọi phân biệt đối xử, loại trừ hay gây hại cho [NHÓM].</a:t>
            </a:r>
          </a:p>
        </p:txBody>
      </p:sp>
      <p:sp>
        <p:nvSpPr>
          <p:cNvPr id="7" name="labels-hate-ex">
            <a:extLst xmlns:a="http://schemas.openxmlformats.org/drawingml/2006/main">
              <a:ext uri="{FF2B5EF4-FFF2-40B4-BE49-F238E27FC236}">
                <a16:creationId xmlns:a16="http://schemas.microsoft.com/office/drawing/2014/main" id="{D15C84A9-1370-4122-A594-7C6C92E71699}"/>
              </a:ext>
            </a:extLst>
          </p:cNvPr>
          <p:cNvSpPr>
            <a:spLocks xmlns:a="http://schemas.openxmlformats.org/drawingml/2006/main" noGrp="1"/>
          </p:cNvSpPr>
          <p:nvPr/>
        </p:nvSpPr>
        <p:spPr>
          <a:xfrm xmlns:a="http://schemas.openxmlformats.org/drawingml/2006/main">
            <a:off x="781050" y="39624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Ví dụ khung: “Đuổi [NHÓM] khỏi khu phố.”</a:t>
            </a:r>
          </a:p>
        </p:txBody>
      </p:sp>
      <p:sp>
        <p:nvSpPr>
          <p:cNvPr id="8" name="labels-divider1">
            <a:extLst xmlns:a="http://schemas.openxmlformats.org/drawingml/2006/main">
              <a:ext uri="{FF2B5EF4-FFF2-40B4-BE49-F238E27FC236}">
                <a16:creationId xmlns:a16="http://schemas.microsoft.com/office/drawing/2014/main" id="{1A4CDEBC-2D71-4057-AB24-5AF289F12A59}"/>
              </a:ext>
            </a:extLst>
          </p:cNvPr>
          <p:cNvSpPr>
            <a:spLocks xmlns:a="http://schemas.openxmlformats.org/drawingml/2006/main" noGrp="1"/>
          </p:cNvSpPr>
          <p:nvPr/>
        </p:nvSpPr>
        <p:spPr>
          <a:xfrm xmlns:a="http://schemas.openxmlformats.org/drawingml/2006/main">
            <a:off x="4095750" y="2247900"/>
            <a:ext cx="9525" cy="29051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9" name="labels-clean">
            <a:extLst xmlns:a="http://schemas.openxmlformats.org/drawingml/2006/main">
              <a:ext uri="{FF2B5EF4-FFF2-40B4-BE49-F238E27FC236}">
                <a16:creationId xmlns:a16="http://schemas.microsoft.com/office/drawing/2014/main" id="{E0B8751B-351B-44AA-8C1B-656C2BDC7710}"/>
              </a:ext>
            </a:extLst>
          </p:cNvPr>
          <p:cNvSpPr>
            <a:spLocks xmlns:a="http://schemas.openxmlformats.org/drawingml/2006/main" noGrp="1"/>
          </p:cNvSpPr>
          <p:nvPr/>
        </p:nvSpPr>
        <p:spPr>
          <a:xfrm xmlns:a="http://schemas.openxmlformats.org/drawingml/2006/main">
            <a:off x="4543425"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317D73"/>
                </a:solidFill>
                <a:latin typeface="Arial"/>
                <a:ea typeface="Arial"/>
                <a:cs typeface="Arial"/>
              </a:defRPr>
            </a:defPPr>
            <a:lvl1pPr algn="l">
              <a:defRPr sz="1350" b="1" i="0">
                <a:solidFill>
                  <a:srgbClr val="317D73"/>
                </a:solidFill>
                <a:latin typeface="Arial"/>
                <a:ea typeface="Arial"/>
                <a:cs typeface="Arial"/>
              </a:defRPr>
            </a:lvl1pPr>
            <a:lvl2pPr algn="l">
              <a:defRPr sz="1350" b="1" i="0">
                <a:solidFill>
                  <a:srgbClr val="317D73"/>
                </a:solidFill>
                <a:latin typeface="Arial"/>
                <a:ea typeface="Arial"/>
                <a:cs typeface="Arial"/>
              </a:defRPr>
            </a:lvl2pPr>
            <a:lvl3pPr algn="l">
              <a:defRPr sz="1350" b="1" i="0">
                <a:solidFill>
                  <a:srgbClr val="317D73"/>
                </a:solidFill>
                <a:latin typeface="Arial"/>
                <a:ea typeface="Arial"/>
                <a:cs typeface="Arial"/>
              </a:defRPr>
            </a:lvl3pPr>
            <a:lvl4pPr algn="l">
              <a:defRPr sz="1350" b="1" i="0">
                <a:solidFill>
                  <a:srgbClr val="317D73"/>
                </a:solidFill>
                <a:latin typeface="Arial"/>
                <a:ea typeface="Arial"/>
                <a:cs typeface="Arial"/>
              </a:defRPr>
            </a:lvl4pPr>
            <a:lvl5pPr algn="l">
              <a:defRPr sz="1350" b="1" i="0">
                <a:solidFill>
                  <a:srgbClr val="317D73"/>
                </a:solidFill>
                <a:latin typeface="Arial"/>
                <a:ea typeface="Arial"/>
                <a:cs typeface="Arial"/>
              </a:defRPr>
            </a:lvl5pPr>
            <a:lvl6pPr algn="l">
              <a:defRPr sz="1350" b="1" i="0">
                <a:solidFill>
                  <a:srgbClr val="317D73"/>
                </a:solidFill>
                <a:latin typeface="Arial"/>
                <a:ea typeface="Arial"/>
                <a:cs typeface="Arial"/>
              </a:defRPr>
            </a:lvl6pPr>
            <a:lvl7pPr algn="l">
              <a:defRPr sz="1350" b="1" i="0">
                <a:solidFill>
                  <a:srgbClr val="317D73"/>
                </a:solidFill>
                <a:latin typeface="Arial"/>
                <a:ea typeface="Arial"/>
                <a:cs typeface="Arial"/>
              </a:defRPr>
            </a:lvl7pPr>
            <a:lvl8pPr algn="l">
              <a:defRPr sz="1350" b="1" i="0">
                <a:solidFill>
                  <a:srgbClr val="317D73"/>
                </a:solidFill>
                <a:latin typeface="Arial"/>
                <a:ea typeface="Arial"/>
                <a:cs typeface="Arial"/>
              </a:defRPr>
            </a:lvl8pPr>
            <a:lvl9pPr algn="l">
              <a:defRPr sz="1350" b="1" i="0">
                <a:solidFill>
                  <a:srgbClr val="317D73"/>
                </a:solidFill>
                <a:latin typeface="Arial"/>
                <a:ea typeface="Arial"/>
                <a:cs typeface="Arial"/>
              </a:defRPr>
            </a:lvl9pPr>
          </a:lstStyle>
          <a:p xmlns:a="http://schemas.openxmlformats.org/drawingml/2006/main">
            <a:pPr algn="l">
              <a:lnSpc>
                <a:spcPct val="108000"/>
              </a:lnSpc>
              <a:buNone/>
              <a:defRPr sz="1350" b="1" i="0">
                <a:solidFill>
                  <a:srgbClr val="317D73"/>
                </a:solidFill>
                <a:latin typeface="Arial"/>
                <a:ea typeface="Arial"/>
                <a:cs typeface="Arial"/>
              </a:defRPr>
            </a:pPr>
            <a:r>
              <a:rPr sz="1350" b="1" i="0">
                <a:solidFill>
                  <a:srgbClr val="317D73"/>
                </a:solidFill>
                <a:latin typeface="Arial"/>
                <a:ea typeface="Arial"/>
                <a:cs typeface="Arial"/>
              </a:rPr>
              <a:t>NON_HATE</a:t>
            </a:r>
          </a:p>
        </p:txBody>
      </p:sp>
      <p:sp>
        <p:nvSpPr>
          <p:cNvPr id="10" name="labels-clean-desc">
            <a:extLst xmlns:a="http://schemas.openxmlformats.org/drawingml/2006/main">
              <a:ext uri="{FF2B5EF4-FFF2-40B4-BE49-F238E27FC236}">
                <a16:creationId xmlns:a16="http://schemas.microsoft.com/office/drawing/2014/main" id="{16BABC9C-13D3-492D-AEB6-A9CB69BBC3BB}"/>
              </a:ext>
            </a:extLst>
          </p:cNvPr>
          <p:cNvSpPr>
            <a:spLocks xmlns:a="http://schemas.openxmlformats.org/drawingml/2006/main" noGrp="1"/>
          </p:cNvSpPr>
          <p:nvPr/>
        </p:nvSpPr>
        <p:spPr>
          <a:xfrm xmlns:a="http://schemas.openxmlformats.org/drawingml/2006/main">
            <a:off x="4543425"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Ragebait về phim, bóng đá hay sản phẩm không tự động là hate speech.</a:t>
            </a:r>
          </a:p>
        </p:txBody>
      </p:sp>
      <p:sp>
        <p:nvSpPr>
          <p:cNvPr id="11" name="labels-clean-ex">
            <a:extLst xmlns:a="http://schemas.openxmlformats.org/drawingml/2006/main">
              <a:ext uri="{FF2B5EF4-FFF2-40B4-BE49-F238E27FC236}">
                <a16:creationId xmlns:a16="http://schemas.microsoft.com/office/drawing/2014/main" id="{E7F02877-B148-4A01-BF62-686DFFCC8E30}"/>
              </a:ext>
            </a:extLst>
          </p:cNvPr>
          <p:cNvSpPr>
            <a:spLocks xmlns:a="http://schemas.openxmlformats.org/drawingml/2006/main" noGrp="1"/>
          </p:cNvSpPr>
          <p:nvPr/>
        </p:nvSpPr>
        <p:spPr>
          <a:xfrm xmlns:a="http://schemas.openxmlformats.org/drawingml/2006/main">
            <a:off x="4543425" y="3962400"/>
            <a:ext cx="304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Ví dụ: “Phim này bị đánh giá quá cao.”</a:t>
            </a:r>
          </a:p>
        </p:txBody>
      </p:sp>
      <p:sp>
        <p:nvSpPr>
          <p:cNvPr id="12" name="labels-divider2">
            <a:extLst xmlns:a="http://schemas.openxmlformats.org/drawingml/2006/main">
              <a:ext uri="{FF2B5EF4-FFF2-40B4-BE49-F238E27FC236}">
                <a16:creationId xmlns:a16="http://schemas.microsoft.com/office/drawing/2014/main" id="{6C8109B2-0877-42A2-924E-D25B382F77A2}"/>
              </a:ext>
            </a:extLst>
          </p:cNvPr>
          <p:cNvSpPr>
            <a:spLocks xmlns:a="http://schemas.openxmlformats.org/drawingml/2006/main" noGrp="1"/>
          </p:cNvSpPr>
          <p:nvPr/>
        </p:nvSpPr>
        <p:spPr>
          <a:xfrm xmlns:a="http://schemas.openxmlformats.org/drawingml/2006/main">
            <a:off x="7886700" y="2247900"/>
            <a:ext cx="9525" cy="29051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3" name="labels-context">
            <a:extLst xmlns:a="http://schemas.openxmlformats.org/drawingml/2006/main">
              <a:ext uri="{FF2B5EF4-FFF2-40B4-BE49-F238E27FC236}">
                <a16:creationId xmlns:a16="http://schemas.microsoft.com/office/drawing/2014/main" id="{C8EE5115-CFA8-4596-A3AF-AE9C25020584}"/>
              </a:ext>
            </a:extLst>
          </p:cNvPr>
          <p:cNvSpPr>
            <a:spLocks xmlns:a="http://schemas.openxmlformats.org/drawingml/2006/main" noGrp="1"/>
          </p:cNvSpPr>
          <p:nvPr/>
        </p:nvSpPr>
        <p:spPr>
          <a:xfrm xmlns:a="http://schemas.openxmlformats.org/drawingml/2006/main">
            <a:off x="8334375" y="2228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222E37"/>
                </a:solidFill>
                <a:latin typeface="Arial"/>
                <a:ea typeface="Arial"/>
                <a:cs typeface="Arial"/>
              </a:defRPr>
            </a:defPPr>
            <a:lvl1pPr algn="l">
              <a:defRPr sz="1350" b="1" i="0">
                <a:solidFill>
                  <a:srgbClr val="222E37"/>
                </a:solidFill>
                <a:latin typeface="Arial"/>
                <a:ea typeface="Arial"/>
                <a:cs typeface="Arial"/>
              </a:defRPr>
            </a:lvl1pPr>
            <a:lvl2pPr algn="l">
              <a:defRPr sz="1350" b="1" i="0">
                <a:solidFill>
                  <a:srgbClr val="222E37"/>
                </a:solidFill>
                <a:latin typeface="Arial"/>
                <a:ea typeface="Arial"/>
                <a:cs typeface="Arial"/>
              </a:defRPr>
            </a:lvl2pPr>
            <a:lvl3pPr algn="l">
              <a:defRPr sz="1350" b="1" i="0">
                <a:solidFill>
                  <a:srgbClr val="222E37"/>
                </a:solidFill>
                <a:latin typeface="Arial"/>
                <a:ea typeface="Arial"/>
                <a:cs typeface="Arial"/>
              </a:defRPr>
            </a:lvl3pPr>
            <a:lvl4pPr algn="l">
              <a:defRPr sz="1350" b="1" i="0">
                <a:solidFill>
                  <a:srgbClr val="222E37"/>
                </a:solidFill>
                <a:latin typeface="Arial"/>
                <a:ea typeface="Arial"/>
                <a:cs typeface="Arial"/>
              </a:defRPr>
            </a:lvl4pPr>
            <a:lvl5pPr algn="l">
              <a:defRPr sz="1350" b="1" i="0">
                <a:solidFill>
                  <a:srgbClr val="222E37"/>
                </a:solidFill>
                <a:latin typeface="Arial"/>
                <a:ea typeface="Arial"/>
                <a:cs typeface="Arial"/>
              </a:defRPr>
            </a:lvl5pPr>
            <a:lvl6pPr algn="l">
              <a:defRPr sz="1350" b="1" i="0">
                <a:solidFill>
                  <a:srgbClr val="222E37"/>
                </a:solidFill>
                <a:latin typeface="Arial"/>
                <a:ea typeface="Arial"/>
                <a:cs typeface="Arial"/>
              </a:defRPr>
            </a:lvl6pPr>
            <a:lvl7pPr algn="l">
              <a:defRPr sz="1350" b="1" i="0">
                <a:solidFill>
                  <a:srgbClr val="222E37"/>
                </a:solidFill>
                <a:latin typeface="Arial"/>
                <a:ea typeface="Arial"/>
                <a:cs typeface="Arial"/>
              </a:defRPr>
            </a:lvl7pPr>
            <a:lvl8pPr algn="l">
              <a:defRPr sz="1350" b="1" i="0">
                <a:solidFill>
                  <a:srgbClr val="222E37"/>
                </a:solidFill>
                <a:latin typeface="Arial"/>
                <a:ea typeface="Arial"/>
                <a:cs typeface="Arial"/>
              </a:defRPr>
            </a:lvl8pPr>
            <a:lvl9pPr algn="l">
              <a:defRPr sz="1350" b="1" i="0">
                <a:solidFill>
                  <a:srgbClr val="222E37"/>
                </a:solidFill>
                <a:latin typeface="Arial"/>
                <a:ea typeface="Arial"/>
                <a:cs typeface="Arial"/>
              </a:defRPr>
            </a:lvl9pPr>
          </a:lstStyle>
          <a:p xmlns:a="http://schemas.openxmlformats.org/drawingml/2006/main">
            <a:pPr algn="l">
              <a:lnSpc>
                <a:spcPct val="108000"/>
              </a:lnSpc>
              <a:buNone/>
              <a:defRPr sz="1350" b="1" i="0">
                <a:solidFill>
                  <a:srgbClr val="222E37"/>
                </a:solidFill>
                <a:latin typeface="Arial"/>
                <a:ea typeface="Arial"/>
                <a:cs typeface="Arial"/>
              </a:defRPr>
            </a:pPr>
            <a:r>
              <a:rPr sz="1350" b="1" i="0">
                <a:solidFill>
                  <a:srgbClr val="222E37"/>
                </a:solidFill>
                <a:latin typeface="Arial"/>
                <a:ea typeface="Arial"/>
                <a:cs typeface="Arial"/>
              </a:rPr>
              <a:t>CẦN XÉT</a:t>
            </a:r>
          </a:p>
        </p:txBody>
      </p:sp>
      <p:sp>
        <p:nvSpPr>
          <p:cNvPr id="14" name="labels-context-desc">
            <a:extLst xmlns:a="http://schemas.openxmlformats.org/drawingml/2006/main">
              <a:ext uri="{FF2B5EF4-FFF2-40B4-BE49-F238E27FC236}">
                <a16:creationId xmlns:a16="http://schemas.microsoft.com/office/drawing/2014/main" id="{7A1B7E0E-90DB-4CA6-BA4F-0108376CB9B0}"/>
              </a:ext>
            </a:extLst>
          </p:cNvPr>
          <p:cNvSpPr>
            <a:spLocks xmlns:a="http://schemas.openxmlformats.org/drawingml/2006/main" noGrp="1"/>
          </p:cNvSpPr>
          <p:nvPr/>
        </p:nvSpPr>
        <p:spPr>
          <a:xfrm xmlns:a="http://schemas.openxmlformats.org/drawingml/2006/main">
            <a:off x="8334375" y="2667000"/>
            <a:ext cx="30289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51D24"/>
                </a:solidFill>
                <a:latin typeface="Arial"/>
                <a:ea typeface="Arial"/>
                <a:cs typeface="Arial"/>
              </a:defRPr>
            </a:defPPr>
            <a:lvl1pPr algn="l">
              <a:defRPr sz="1800" b="1" i="0">
                <a:solidFill>
                  <a:srgbClr val="151D24"/>
                </a:solidFill>
                <a:latin typeface="Arial"/>
                <a:ea typeface="Arial"/>
                <a:cs typeface="Arial"/>
              </a:defRPr>
            </a:lvl1pPr>
            <a:lvl2pPr algn="l">
              <a:defRPr sz="1800" b="1" i="0">
                <a:solidFill>
                  <a:srgbClr val="151D24"/>
                </a:solidFill>
                <a:latin typeface="Arial"/>
                <a:ea typeface="Arial"/>
                <a:cs typeface="Arial"/>
              </a:defRPr>
            </a:lvl2pPr>
            <a:lvl3pPr algn="l">
              <a:defRPr sz="1800" b="1" i="0">
                <a:solidFill>
                  <a:srgbClr val="151D24"/>
                </a:solidFill>
                <a:latin typeface="Arial"/>
                <a:ea typeface="Arial"/>
                <a:cs typeface="Arial"/>
              </a:defRPr>
            </a:lvl3pPr>
            <a:lvl4pPr algn="l">
              <a:defRPr sz="1800" b="1" i="0">
                <a:solidFill>
                  <a:srgbClr val="151D24"/>
                </a:solidFill>
                <a:latin typeface="Arial"/>
                <a:ea typeface="Arial"/>
                <a:cs typeface="Arial"/>
              </a:defRPr>
            </a:lvl4pPr>
            <a:lvl5pPr algn="l">
              <a:defRPr sz="1800" b="1" i="0">
                <a:solidFill>
                  <a:srgbClr val="151D24"/>
                </a:solidFill>
                <a:latin typeface="Arial"/>
                <a:ea typeface="Arial"/>
                <a:cs typeface="Arial"/>
              </a:defRPr>
            </a:lvl5pPr>
            <a:lvl6pPr algn="l">
              <a:defRPr sz="1800" b="1" i="0">
                <a:solidFill>
                  <a:srgbClr val="151D24"/>
                </a:solidFill>
                <a:latin typeface="Arial"/>
                <a:ea typeface="Arial"/>
                <a:cs typeface="Arial"/>
              </a:defRPr>
            </a:lvl6pPr>
            <a:lvl7pPr algn="l">
              <a:defRPr sz="1800" b="1" i="0">
                <a:solidFill>
                  <a:srgbClr val="151D24"/>
                </a:solidFill>
                <a:latin typeface="Arial"/>
                <a:ea typeface="Arial"/>
                <a:cs typeface="Arial"/>
              </a:defRPr>
            </a:lvl7pPr>
            <a:lvl8pPr algn="l">
              <a:defRPr sz="1800" b="1" i="0">
                <a:solidFill>
                  <a:srgbClr val="151D24"/>
                </a:solidFill>
                <a:latin typeface="Arial"/>
                <a:ea typeface="Arial"/>
                <a:cs typeface="Arial"/>
              </a:defRPr>
            </a:lvl8pPr>
            <a:lvl9pPr algn="l">
              <a:defRPr sz="1800" b="1" i="0">
                <a:solidFill>
                  <a:srgbClr val="151D24"/>
                </a:solidFill>
                <a:latin typeface="Arial"/>
                <a:ea typeface="Arial"/>
                <a:cs typeface="Arial"/>
              </a:defRPr>
            </a:lvl9pPr>
          </a:lstStyle>
          <a:p xmlns:a="http://schemas.openxmlformats.org/drawingml/2006/main">
            <a:pPr algn="l">
              <a:lnSpc>
                <a:spcPct val="108000"/>
              </a:lnSpc>
              <a:buNone/>
              <a:defRPr sz="1800" b="1" i="0">
                <a:solidFill>
                  <a:srgbClr val="151D24"/>
                </a:solidFill>
                <a:latin typeface="Arial"/>
                <a:ea typeface="Arial"/>
                <a:cs typeface="Arial"/>
              </a:defRPr>
            </a:pPr>
            <a:r>
              <a:rPr sz="1800" b="1" i="0">
                <a:solidFill>
                  <a:srgbClr val="151D24"/>
                </a:solidFill>
                <a:latin typeface="Arial"/>
                <a:ea typeface="Arial"/>
                <a:cs typeface="Arial"/>
              </a:rPr>
              <a:t>Trích dẫn, phủ định, báo cáo và phản bác có thể đổi nghĩa câu.</a:t>
            </a:r>
          </a:p>
        </p:txBody>
      </p:sp>
      <p:sp>
        <p:nvSpPr>
          <p:cNvPr id="15" name="labels-context-ex">
            <a:extLst xmlns:a="http://schemas.openxmlformats.org/drawingml/2006/main">
              <a:ext uri="{FF2B5EF4-FFF2-40B4-BE49-F238E27FC236}">
                <a16:creationId xmlns:a16="http://schemas.microsoft.com/office/drawing/2014/main" id="{C4A9BDCF-DEDD-4F28-A8E9-1BCF62F2E597}"/>
              </a:ext>
            </a:extLst>
          </p:cNvPr>
          <p:cNvSpPr>
            <a:spLocks xmlns:a="http://schemas.openxmlformats.org/drawingml/2006/main" noGrp="1"/>
          </p:cNvSpPr>
          <p:nvPr/>
        </p:nvSpPr>
        <p:spPr>
          <a:xfrm xmlns:a="http://schemas.openxmlformats.org/drawingml/2006/main">
            <a:off x="8334375" y="3962400"/>
            <a:ext cx="302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1">
                <a:solidFill>
                  <a:srgbClr val="59656D"/>
                </a:solidFill>
                <a:latin typeface="Arial"/>
                <a:ea typeface="Arial"/>
                <a:cs typeface="Arial"/>
              </a:defRPr>
            </a:defPPr>
            <a:lvl1pPr algn="l">
              <a:defRPr sz="1350" b="0" i="1">
                <a:solidFill>
                  <a:srgbClr val="59656D"/>
                </a:solidFill>
                <a:latin typeface="Arial"/>
                <a:ea typeface="Arial"/>
                <a:cs typeface="Arial"/>
              </a:defRPr>
            </a:lvl1pPr>
            <a:lvl2pPr algn="l">
              <a:defRPr sz="1350" b="0" i="1">
                <a:solidFill>
                  <a:srgbClr val="59656D"/>
                </a:solidFill>
                <a:latin typeface="Arial"/>
                <a:ea typeface="Arial"/>
                <a:cs typeface="Arial"/>
              </a:defRPr>
            </a:lvl2pPr>
            <a:lvl3pPr algn="l">
              <a:defRPr sz="1350" b="0" i="1">
                <a:solidFill>
                  <a:srgbClr val="59656D"/>
                </a:solidFill>
                <a:latin typeface="Arial"/>
                <a:ea typeface="Arial"/>
                <a:cs typeface="Arial"/>
              </a:defRPr>
            </a:lvl3pPr>
            <a:lvl4pPr algn="l">
              <a:defRPr sz="1350" b="0" i="1">
                <a:solidFill>
                  <a:srgbClr val="59656D"/>
                </a:solidFill>
                <a:latin typeface="Arial"/>
                <a:ea typeface="Arial"/>
                <a:cs typeface="Arial"/>
              </a:defRPr>
            </a:lvl4pPr>
            <a:lvl5pPr algn="l">
              <a:defRPr sz="1350" b="0" i="1">
                <a:solidFill>
                  <a:srgbClr val="59656D"/>
                </a:solidFill>
                <a:latin typeface="Arial"/>
                <a:ea typeface="Arial"/>
                <a:cs typeface="Arial"/>
              </a:defRPr>
            </a:lvl5pPr>
            <a:lvl6pPr algn="l">
              <a:defRPr sz="1350" b="0" i="1">
                <a:solidFill>
                  <a:srgbClr val="59656D"/>
                </a:solidFill>
                <a:latin typeface="Arial"/>
                <a:ea typeface="Arial"/>
                <a:cs typeface="Arial"/>
              </a:defRPr>
            </a:lvl6pPr>
            <a:lvl7pPr algn="l">
              <a:defRPr sz="1350" b="0" i="1">
                <a:solidFill>
                  <a:srgbClr val="59656D"/>
                </a:solidFill>
                <a:latin typeface="Arial"/>
                <a:ea typeface="Arial"/>
                <a:cs typeface="Arial"/>
              </a:defRPr>
            </a:lvl7pPr>
            <a:lvl8pPr algn="l">
              <a:defRPr sz="1350" b="0" i="1">
                <a:solidFill>
                  <a:srgbClr val="59656D"/>
                </a:solidFill>
                <a:latin typeface="Arial"/>
                <a:ea typeface="Arial"/>
                <a:cs typeface="Arial"/>
              </a:defRPr>
            </a:lvl8pPr>
            <a:lvl9pPr algn="l">
              <a:defRPr sz="1350" b="0" i="1">
                <a:solidFill>
                  <a:srgbClr val="59656D"/>
                </a:solidFill>
                <a:latin typeface="Arial"/>
                <a:ea typeface="Arial"/>
                <a:cs typeface="Arial"/>
              </a:defRPr>
            </a:lvl9pPr>
          </a:lstStyle>
          <a:p xmlns:a="http://schemas.openxmlformats.org/drawingml/2006/main">
            <a:pPr algn="l">
              <a:lnSpc>
                <a:spcPct val="108000"/>
              </a:lnSpc>
              <a:buNone/>
              <a:defRPr sz="1350" b="0" i="1">
                <a:solidFill>
                  <a:srgbClr val="59656D"/>
                </a:solidFill>
                <a:latin typeface="Arial"/>
                <a:ea typeface="Arial"/>
                <a:cs typeface="Arial"/>
              </a:defRPr>
            </a:pPr>
            <a:r>
              <a:rPr sz="1350" b="0" i="1">
                <a:solidFill>
                  <a:srgbClr val="59656D"/>
                </a:solidFill>
                <a:latin typeface="Arial"/>
                <a:ea typeface="Arial"/>
                <a:cs typeface="Arial"/>
              </a:rPr>
              <a:t>Không gán nhãn chỉ dựa vào một từ khóa.</a:t>
            </a:r>
          </a:p>
        </p:txBody>
      </p:sp>
      <p:sp>
        <p:nvSpPr>
          <p:cNvPr id="16" name="labels-bottom-rule">
            <a:extLst xmlns:a="http://schemas.openxmlformats.org/drawingml/2006/main">
              <a:ext uri="{FF2B5EF4-FFF2-40B4-BE49-F238E27FC236}">
                <a16:creationId xmlns:a16="http://schemas.microsoft.com/office/drawing/2014/main" id="{78119DCC-E672-434E-B0F4-8EE9118A77D9}"/>
              </a:ext>
            </a:extLst>
          </p:cNvPr>
          <p:cNvSpPr>
            <a:spLocks xmlns:a="http://schemas.openxmlformats.org/drawingml/2006/main" noGrp="1"/>
          </p:cNvSpPr>
          <p:nvPr/>
        </p:nvSpPr>
        <p:spPr>
          <a:xfrm xmlns:a="http://schemas.openxmlformats.org/drawingml/2006/main">
            <a:off x="781050" y="5324475"/>
            <a:ext cx="105727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7" name="labels-data-note">
            <a:extLst xmlns:a="http://schemas.openxmlformats.org/drawingml/2006/main">
              <a:ext uri="{FF2B5EF4-FFF2-40B4-BE49-F238E27FC236}">
                <a16:creationId xmlns:a16="http://schemas.microsoft.com/office/drawing/2014/main" id="{D8BCED4E-9735-4D88-A3C6-0A145E562CC8}"/>
              </a:ext>
            </a:extLst>
          </p:cNvPr>
          <p:cNvSpPr>
            <a:spLocks xmlns:a="http://schemas.openxmlformats.org/drawingml/2006/main" noGrp="1"/>
          </p:cNvSpPr>
          <p:nvPr/>
        </p:nvSpPr>
        <p:spPr>
          <a:xfrm xmlns:a="http://schemas.openxmlformats.org/drawingml/2006/main">
            <a:off x="781050" y="554355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data/samples.csv là dữ liệu minh họa nhỏ; cần mở rộng và kiểm tra nhãn trước khi huấn luyện nghiêm túc.</a:t>
            </a:r>
          </a:p>
        </p:txBody>
      </p:sp>
      <p:sp>
        <p:nvSpPr>
          <p:cNvPr id="18" name="slide-number">
            <a:extLst xmlns:a="http://schemas.openxmlformats.org/drawingml/2006/main">
              <a:ext uri="{FF2B5EF4-FFF2-40B4-BE49-F238E27FC236}">
                <a16:creationId xmlns:a16="http://schemas.microsoft.com/office/drawing/2014/main" id="{50AFB489-5B22-4B1E-A2FC-904E40BAF371}"/>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07</a:t>
            </a:r>
          </a:p>
        </p:txBody>
      </p:sp>
    </p:spTree>
    <p:extLst>
      <p:ext uri="{BB962C8B-B14F-4D97-AF65-F5344CB8AC3E}">
        <p14:creationId xmlns:p14="http://schemas.microsoft.com/office/powerpoint/2010/main" val="361949772"/>
      </p:ext>
    </p:extLst>
  </p:cSld>
</p:sld>
</file>

<file path=ppt/slides/slide8.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FAD98D16-F985-46D5-BF2C-3223BA6D8206}"/>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47DDDD50-D2D6-42F2-A53D-E29B4ECBC679}"/>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Đánh giá trước khi triển khai</a:t>
            </a:r>
          </a:p>
        </p:txBody>
      </p:sp>
      <p:sp>
        <p:nvSpPr>
          <p:cNvPr id="3" name="slide-subtitle">
            <a:extLst xmlns:a="http://schemas.openxmlformats.org/drawingml/2006/main">
              <a:ext uri="{FF2B5EF4-FFF2-40B4-BE49-F238E27FC236}">
                <a16:creationId xmlns:a16="http://schemas.microsoft.com/office/drawing/2014/main" id="{54856144-17F4-412A-9E4B-AA7E8EA91814}"/>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Mã có bước holdout, nhưng chưa có kết quả đo lường đáng tin cậy.</a:t>
            </a:r>
          </a:p>
        </p:txBody>
      </p:sp>
      <p:sp>
        <p:nvSpPr>
          <p:cNvPr id="4" name="title-rule">
            <a:extLst xmlns:a="http://schemas.openxmlformats.org/drawingml/2006/main">
              <a:ext uri="{FF2B5EF4-FFF2-40B4-BE49-F238E27FC236}">
                <a16:creationId xmlns:a16="http://schemas.microsoft.com/office/drawing/2014/main" id="{E715A3FB-31BD-425D-8020-E706FB178864}"/>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eval-current-label">
            <a:extLst xmlns:a="http://schemas.openxmlformats.org/drawingml/2006/main">
              <a:ext uri="{FF2B5EF4-FFF2-40B4-BE49-F238E27FC236}">
                <a16:creationId xmlns:a16="http://schemas.microsoft.com/office/drawing/2014/main" id="{C8C6E1A4-8F17-4AEC-BF0E-7ABD9610669D}"/>
              </a:ext>
            </a:extLst>
          </p:cNvPr>
          <p:cNvSpPr>
            <a:spLocks xmlns:a="http://schemas.openxmlformats.org/drawingml/2006/main" noGrp="1"/>
          </p:cNvSpPr>
          <p:nvPr/>
        </p:nvSpPr>
        <p:spPr>
          <a:xfrm xmlns:a="http://schemas.openxmlformats.org/drawingml/2006/main">
            <a:off x="781050" y="220980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TRONG CODE</a:t>
            </a:r>
          </a:p>
        </p:txBody>
      </p:sp>
      <p:sp>
        <p:nvSpPr>
          <p:cNvPr id="6" name="eval-current">
            <a:extLst xmlns:a="http://schemas.openxmlformats.org/drawingml/2006/main">
              <a:ext uri="{FF2B5EF4-FFF2-40B4-BE49-F238E27FC236}">
                <a16:creationId xmlns:a16="http://schemas.microsoft.com/office/drawing/2014/main" id="{731E55E8-71D2-4F05-B4CE-5EBC5A5C0001}"/>
              </a:ext>
            </a:extLst>
          </p:cNvPr>
          <p:cNvSpPr>
            <a:spLocks xmlns:a="http://schemas.openxmlformats.org/drawingml/2006/main" noGrp="1"/>
          </p:cNvSpPr>
          <p:nvPr/>
        </p:nvSpPr>
        <p:spPr>
          <a:xfrm xmlns:a="http://schemas.openxmlformats.org/drawingml/2006/main">
            <a:off x="781050" y="2628900"/>
            <a:ext cx="328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52"/>
          </a:bodyPr>
          <a:lstStyle xmlns:a="http://schemas.openxmlformats.org/drawingml/2006/main">
            <a:defPPr algn="l">
              <a:defRPr sz="2100" b="1" i="0">
                <a:solidFill>
                  <a:srgbClr val="151D24"/>
                </a:solidFill>
                <a:latin typeface="Arial"/>
                <a:ea typeface="Arial"/>
                <a:cs typeface="Arial"/>
              </a:defRPr>
            </a:defPPr>
            <a:lvl1pPr algn="l">
              <a:defRPr sz="2100" b="1" i="0">
                <a:solidFill>
                  <a:srgbClr val="151D24"/>
                </a:solidFill>
                <a:latin typeface="Arial"/>
                <a:ea typeface="Arial"/>
                <a:cs typeface="Arial"/>
              </a:defRPr>
            </a:lvl1pPr>
            <a:lvl2pPr algn="l">
              <a:defRPr sz="2100" b="1" i="0">
                <a:solidFill>
                  <a:srgbClr val="151D24"/>
                </a:solidFill>
                <a:latin typeface="Arial"/>
                <a:ea typeface="Arial"/>
                <a:cs typeface="Arial"/>
              </a:defRPr>
            </a:lvl2pPr>
            <a:lvl3pPr algn="l">
              <a:defRPr sz="2100" b="1" i="0">
                <a:solidFill>
                  <a:srgbClr val="151D24"/>
                </a:solidFill>
                <a:latin typeface="Arial"/>
                <a:ea typeface="Arial"/>
                <a:cs typeface="Arial"/>
              </a:defRPr>
            </a:lvl3pPr>
            <a:lvl4pPr algn="l">
              <a:defRPr sz="2100" b="1" i="0">
                <a:solidFill>
                  <a:srgbClr val="151D24"/>
                </a:solidFill>
                <a:latin typeface="Arial"/>
                <a:ea typeface="Arial"/>
                <a:cs typeface="Arial"/>
              </a:defRPr>
            </a:lvl4pPr>
            <a:lvl5pPr algn="l">
              <a:defRPr sz="2100" b="1" i="0">
                <a:solidFill>
                  <a:srgbClr val="151D24"/>
                </a:solidFill>
                <a:latin typeface="Arial"/>
                <a:ea typeface="Arial"/>
                <a:cs typeface="Arial"/>
              </a:defRPr>
            </a:lvl5pPr>
            <a:lvl6pPr algn="l">
              <a:defRPr sz="2100" b="1" i="0">
                <a:solidFill>
                  <a:srgbClr val="151D24"/>
                </a:solidFill>
                <a:latin typeface="Arial"/>
                <a:ea typeface="Arial"/>
                <a:cs typeface="Arial"/>
              </a:defRPr>
            </a:lvl6pPr>
            <a:lvl7pPr algn="l">
              <a:defRPr sz="2100" b="1" i="0">
                <a:solidFill>
                  <a:srgbClr val="151D24"/>
                </a:solidFill>
                <a:latin typeface="Arial"/>
                <a:ea typeface="Arial"/>
                <a:cs typeface="Arial"/>
              </a:defRPr>
            </a:lvl7pPr>
            <a:lvl8pPr algn="l">
              <a:defRPr sz="2100" b="1" i="0">
                <a:solidFill>
                  <a:srgbClr val="151D24"/>
                </a:solidFill>
                <a:latin typeface="Arial"/>
                <a:ea typeface="Arial"/>
                <a:cs typeface="Arial"/>
              </a:defRPr>
            </a:lvl8pPr>
            <a:lvl9pPr algn="l">
              <a:defRPr sz="2100" b="1" i="0">
                <a:solidFill>
                  <a:srgbClr val="151D24"/>
                </a:solidFill>
                <a:latin typeface="Arial"/>
                <a:ea typeface="Arial"/>
                <a:cs typeface="Arial"/>
              </a:defRPr>
            </a:lvl9pPr>
          </a:lstStyle>
          <a:p xmlns:a="http://schemas.openxmlformats.org/drawingml/2006/main">
            <a:pPr algn="l">
              <a:lnSpc>
                <a:spcPct val="108000"/>
              </a:lnSpc>
              <a:buNone/>
              <a:defRPr sz="2100" b="1" i="0">
                <a:solidFill>
                  <a:srgbClr val="151D24"/>
                </a:solidFill>
                <a:latin typeface="Arial"/>
                <a:ea typeface="Arial"/>
                <a:cs typeface="Arial"/>
              </a:defRPr>
            </a:pPr>
            <a:r>
              <a:rPr sz="2100" b="1" i="0">
                <a:solidFill>
                  <a:srgbClr val="151D24"/>
                </a:solidFill>
                <a:latin typeface="Arial"/>
                <a:ea typeface="Arial"/>
                <a:cs typeface="Arial"/>
              </a:rPr>
              <a:t>Khi có đủ mẫu, giữ lại 25%</a:t>
            </a:r>
          </a:p>
          <a:p xmlns:a="http://schemas.openxmlformats.org/drawingml/2006/main">
            <a:pPr algn="l">
              <a:lnSpc>
                <a:spcPct val="108000"/>
              </a:lnSpc>
              <a:buNone/>
              <a:defRPr sz="2100" b="1" i="0">
                <a:solidFill>
                  <a:srgbClr val="151D24"/>
                </a:solidFill>
                <a:latin typeface="Arial"/>
                <a:ea typeface="Arial"/>
                <a:cs typeface="Arial"/>
              </a:defRPr>
            </a:pPr>
            <a:r>
              <a:rPr sz="2100" b="1" i="0">
                <a:solidFill>
                  <a:srgbClr val="151D24"/>
                </a:solidFill>
                <a:latin typeface="Arial"/>
                <a:ea typeface="Arial"/>
                <a:cs typeface="Arial"/>
              </a:rPr>
              <a:t>để in precision, recall và F1.</a:t>
            </a:r>
          </a:p>
        </p:txBody>
      </p:sp>
      <p:sp>
        <p:nvSpPr>
          <p:cNvPr id="7" name="eval-warning">
            <a:extLst xmlns:a="http://schemas.openxmlformats.org/drawingml/2006/main">
              <a:ext uri="{FF2B5EF4-FFF2-40B4-BE49-F238E27FC236}">
                <a16:creationId xmlns:a16="http://schemas.microsoft.com/office/drawing/2014/main" id="{EEF84581-D2E5-4EDF-9802-786DADF574D4}"/>
              </a:ext>
            </a:extLst>
          </p:cNvPr>
          <p:cNvSpPr>
            <a:spLocks xmlns:a="http://schemas.openxmlformats.org/drawingml/2006/main" noGrp="1"/>
          </p:cNvSpPr>
          <p:nvPr/>
        </p:nvSpPr>
        <p:spPr>
          <a:xfrm xmlns:a="http://schemas.openxmlformats.org/drawingml/2006/main">
            <a:off x="781050" y="3848100"/>
            <a:ext cx="3286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Tập mẫu hiện tại quá nhỏ để suy ra chất lượng thực tế.</a:t>
            </a:r>
          </a:p>
        </p:txBody>
      </p:sp>
      <p:sp>
        <p:nvSpPr>
          <p:cNvPr id="8" name="eval-divider">
            <a:extLst xmlns:a="http://schemas.openxmlformats.org/drawingml/2006/main">
              <a:ext uri="{FF2B5EF4-FFF2-40B4-BE49-F238E27FC236}">
                <a16:creationId xmlns:a16="http://schemas.microsoft.com/office/drawing/2014/main" id="{E2A7C7A7-C0B2-4E91-8757-7B9CD3964CBB}"/>
              </a:ext>
            </a:extLst>
          </p:cNvPr>
          <p:cNvSpPr>
            <a:spLocks xmlns:a="http://schemas.openxmlformats.org/drawingml/2006/main" noGrp="1"/>
          </p:cNvSpPr>
          <p:nvPr/>
        </p:nvSpPr>
        <p:spPr>
          <a:xfrm xmlns:a="http://schemas.openxmlformats.org/drawingml/2006/main">
            <a:off x="4400550" y="2190750"/>
            <a:ext cx="9525" cy="3371850"/>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9" name="eval-precision">
            <a:extLst xmlns:a="http://schemas.openxmlformats.org/drawingml/2006/main">
              <a:ext uri="{FF2B5EF4-FFF2-40B4-BE49-F238E27FC236}">
                <a16:creationId xmlns:a16="http://schemas.microsoft.com/office/drawing/2014/main" id="{3EDCE486-CC95-4984-9EAC-FC76E1B50B2A}"/>
              </a:ext>
            </a:extLst>
          </p:cNvPr>
          <p:cNvSpPr>
            <a:spLocks xmlns:a="http://schemas.openxmlformats.org/drawingml/2006/main" noGrp="1"/>
          </p:cNvSpPr>
          <p:nvPr/>
        </p:nvSpPr>
        <p:spPr>
          <a:xfrm xmlns:a="http://schemas.openxmlformats.org/drawingml/2006/main">
            <a:off x="4876800" y="23050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PRECISION</a:t>
            </a:r>
          </a:p>
        </p:txBody>
      </p:sp>
      <p:sp>
        <p:nvSpPr>
          <p:cNvPr id="10" name="eval-precision-desc">
            <a:extLst xmlns:a="http://schemas.openxmlformats.org/drawingml/2006/main">
              <a:ext uri="{FF2B5EF4-FFF2-40B4-BE49-F238E27FC236}">
                <a16:creationId xmlns:a16="http://schemas.microsoft.com/office/drawing/2014/main" id="{5333DFB4-BB53-4861-8240-C7A640C8B0E3}"/>
              </a:ext>
            </a:extLst>
          </p:cNvPr>
          <p:cNvSpPr>
            <a:spLocks xmlns:a="http://schemas.openxmlformats.org/drawingml/2006/main" noGrp="1"/>
          </p:cNvSpPr>
          <p:nvPr/>
        </p:nvSpPr>
        <p:spPr>
          <a:xfrm xmlns:a="http://schemas.openxmlformats.org/drawingml/2006/main">
            <a:off x="4876800" y="2647950"/>
            <a:ext cx="595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Trong các câu bị gắn cờ, bao nhiêu câu thật sự thuộc lớp cần xem xét?</a:t>
            </a:r>
          </a:p>
        </p:txBody>
      </p:sp>
      <p:sp>
        <p:nvSpPr>
          <p:cNvPr id="11" name="eval-rule1">
            <a:extLst xmlns:a="http://schemas.openxmlformats.org/drawingml/2006/main">
              <a:ext uri="{FF2B5EF4-FFF2-40B4-BE49-F238E27FC236}">
                <a16:creationId xmlns:a16="http://schemas.microsoft.com/office/drawing/2014/main" id="{4237E397-F264-42B0-8825-05F6A192A17F}"/>
              </a:ext>
            </a:extLst>
          </p:cNvPr>
          <p:cNvSpPr>
            <a:spLocks xmlns:a="http://schemas.openxmlformats.org/drawingml/2006/main" noGrp="1"/>
          </p:cNvSpPr>
          <p:nvPr/>
        </p:nvSpPr>
        <p:spPr>
          <a:xfrm xmlns:a="http://schemas.openxmlformats.org/drawingml/2006/main">
            <a:off x="4876800" y="3333750"/>
            <a:ext cx="59245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2" name="eval-recall">
            <a:extLst xmlns:a="http://schemas.openxmlformats.org/drawingml/2006/main">
              <a:ext uri="{FF2B5EF4-FFF2-40B4-BE49-F238E27FC236}">
                <a16:creationId xmlns:a16="http://schemas.microsoft.com/office/drawing/2014/main" id="{84F2C497-B242-446D-B526-039EE1F98AAD}"/>
              </a:ext>
            </a:extLst>
          </p:cNvPr>
          <p:cNvSpPr>
            <a:spLocks xmlns:a="http://schemas.openxmlformats.org/drawingml/2006/main" noGrp="1"/>
          </p:cNvSpPr>
          <p:nvPr/>
        </p:nvSpPr>
        <p:spPr>
          <a:xfrm xmlns:a="http://schemas.openxmlformats.org/drawingml/2006/main">
            <a:off x="4876800" y="35433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RECALL</a:t>
            </a:r>
          </a:p>
        </p:txBody>
      </p:sp>
      <p:sp>
        <p:nvSpPr>
          <p:cNvPr id="13" name="eval-recall-desc">
            <a:extLst xmlns:a="http://schemas.openxmlformats.org/drawingml/2006/main">
              <a:ext uri="{FF2B5EF4-FFF2-40B4-BE49-F238E27FC236}">
                <a16:creationId xmlns:a16="http://schemas.microsoft.com/office/drawing/2014/main" id="{4BE51325-AA6F-43DD-BD59-47FE20D54C7E}"/>
              </a:ext>
            </a:extLst>
          </p:cNvPr>
          <p:cNvSpPr>
            <a:spLocks xmlns:a="http://schemas.openxmlformats.org/drawingml/2006/main" noGrp="1"/>
          </p:cNvSpPr>
          <p:nvPr/>
        </p:nvSpPr>
        <p:spPr>
          <a:xfrm xmlns:a="http://schemas.openxmlformats.org/drawingml/2006/main">
            <a:off x="4876800" y="3886200"/>
            <a:ext cx="595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Trong các câu thù địch đã biết, bao nhiêu câu được phát hiện?</a:t>
            </a:r>
          </a:p>
        </p:txBody>
      </p:sp>
      <p:sp>
        <p:nvSpPr>
          <p:cNvPr id="14" name="eval-rule2">
            <a:extLst xmlns:a="http://schemas.openxmlformats.org/drawingml/2006/main">
              <a:ext uri="{FF2B5EF4-FFF2-40B4-BE49-F238E27FC236}">
                <a16:creationId xmlns:a16="http://schemas.microsoft.com/office/drawing/2014/main" id="{EA8225F8-4CD0-4428-B244-A85A14A22D05}"/>
              </a:ext>
            </a:extLst>
          </p:cNvPr>
          <p:cNvSpPr>
            <a:spLocks xmlns:a="http://schemas.openxmlformats.org/drawingml/2006/main" noGrp="1"/>
          </p:cNvSpPr>
          <p:nvPr/>
        </p:nvSpPr>
        <p:spPr>
          <a:xfrm xmlns:a="http://schemas.openxmlformats.org/drawingml/2006/main">
            <a:off x="4876800" y="4572000"/>
            <a:ext cx="592455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15" name="eval-f1">
            <a:extLst xmlns:a="http://schemas.openxmlformats.org/drawingml/2006/main">
              <a:ext uri="{FF2B5EF4-FFF2-40B4-BE49-F238E27FC236}">
                <a16:creationId xmlns:a16="http://schemas.microsoft.com/office/drawing/2014/main" id="{54849AB9-CFBD-4E57-BDA1-6A5996295679}"/>
              </a:ext>
            </a:extLst>
          </p:cNvPr>
          <p:cNvSpPr>
            <a:spLocks xmlns:a="http://schemas.openxmlformats.org/drawingml/2006/main" noGrp="1"/>
          </p:cNvSpPr>
          <p:nvPr/>
        </p:nvSpPr>
        <p:spPr>
          <a:xfrm xmlns:a="http://schemas.openxmlformats.org/drawingml/2006/main">
            <a:off x="4876800" y="4781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222E37"/>
                </a:solidFill>
                <a:latin typeface="Arial"/>
                <a:ea typeface="Arial"/>
                <a:cs typeface="Arial"/>
              </a:defRPr>
            </a:defPPr>
            <a:lvl1pPr algn="l">
              <a:defRPr sz="1125" b="1" i="0">
                <a:solidFill>
                  <a:srgbClr val="222E37"/>
                </a:solidFill>
                <a:latin typeface="Arial"/>
                <a:ea typeface="Arial"/>
                <a:cs typeface="Arial"/>
              </a:defRPr>
            </a:lvl1pPr>
            <a:lvl2pPr algn="l">
              <a:defRPr sz="1125" b="1" i="0">
                <a:solidFill>
                  <a:srgbClr val="222E37"/>
                </a:solidFill>
                <a:latin typeface="Arial"/>
                <a:ea typeface="Arial"/>
                <a:cs typeface="Arial"/>
              </a:defRPr>
            </a:lvl2pPr>
            <a:lvl3pPr algn="l">
              <a:defRPr sz="1125" b="1" i="0">
                <a:solidFill>
                  <a:srgbClr val="222E37"/>
                </a:solidFill>
                <a:latin typeface="Arial"/>
                <a:ea typeface="Arial"/>
                <a:cs typeface="Arial"/>
              </a:defRPr>
            </a:lvl3pPr>
            <a:lvl4pPr algn="l">
              <a:defRPr sz="1125" b="1" i="0">
                <a:solidFill>
                  <a:srgbClr val="222E37"/>
                </a:solidFill>
                <a:latin typeface="Arial"/>
                <a:ea typeface="Arial"/>
                <a:cs typeface="Arial"/>
              </a:defRPr>
            </a:lvl4pPr>
            <a:lvl5pPr algn="l">
              <a:defRPr sz="1125" b="1" i="0">
                <a:solidFill>
                  <a:srgbClr val="222E37"/>
                </a:solidFill>
                <a:latin typeface="Arial"/>
                <a:ea typeface="Arial"/>
                <a:cs typeface="Arial"/>
              </a:defRPr>
            </a:lvl5pPr>
            <a:lvl6pPr algn="l">
              <a:defRPr sz="1125" b="1" i="0">
                <a:solidFill>
                  <a:srgbClr val="222E37"/>
                </a:solidFill>
                <a:latin typeface="Arial"/>
                <a:ea typeface="Arial"/>
                <a:cs typeface="Arial"/>
              </a:defRPr>
            </a:lvl6pPr>
            <a:lvl7pPr algn="l">
              <a:defRPr sz="1125" b="1" i="0">
                <a:solidFill>
                  <a:srgbClr val="222E37"/>
                </a:solidFill>
                <a:latin typeface="Arial"/>
                <a:ea typeface="Arial"/>
                <a:cs typeface="Arial"/>
              </a:defRPr>
            </a:lvl7pPr>
            <a:lvl8pPr algn="l">
              <a:defRPr sz="1125" b="1" i="0">
                <a:solidFill>
                  <a:srgbClr val="222E37"/>
                </a:solidFill>
                <a:latin typeface="Arial"/>
                <a:ea typeface="Arial"/>
                <a:cs typeface="Arial"/>
              </a:defRPr>
            </a:lvl8pPr>
            <a:lvl9pPr algn="l">
              <a:defRPr sz="1125" b="1" i="0">
                <a:solidFill>
                  <a:srgbClr val="222E37"/>
                </a:solidFill>
                <a:latin typeface="Arial"/>
                <a:ea typeface="Arial"/>
                <a:cs typeface="Arial"/>
              </a:defRPr>
            </a:lvl9pPr>
          </a:lstStyle>
          <a:p xmlns:a="http://schemas.openxmlformats.org/drawingml/2006/main">
            <a:pPr algn="l">
              <a:lnSpc>
                <a:spcPct val="108000"/>
              </a:lnSpc>
              <a:buNone/>
              <a:defRPr sz="1125" b="1" i="0">
                <a:solidFill>
                  <a:srgbClr val="222E37"/>
                </a:solidFill>
                <a:latin typeface="Arial"/>
                <a:ea typeface="Arial"/>
                <a:cs typeface="Arial"/>
              </a:defRPr>
            </a:pPr>
            <a:r>
              <a:rPr sz="1125" b="1" i="0">
                <a:solidFill>
                  <a:srgbClr val="222E37"/>
                </a:solidFill>
                <a:latin typeface="Arial"/>
                <a:ea typeface="Arial"/>
                <a:cs typeface="Arial"/>
              </a:rPr>
              <a:t>F1 + PHÂN TÍCH LỖI</a:t>
            </a:r>
          </a:p>
        </p:txBody>
      </p:sp>
      <p:sp>
        <p:nvSpPr>
          <p:cNvPr id="16" name="eval-f1-desc">
            <a:extLst xmlns:a="http://schemas.openxmlformats.org/drawingml/2006/main">
              <a:ext uri="{FF2B5EF4-FFF2-40B4-BE49-F238E27FC236}">
                <a16:creationId xmlns:a16="http://schemas.microsoft.com/office/drawing/2014/main" id="{9CB8274C-09E1-41D8-BA24-838E8BBDF20E}"/>
              </a:ext>
            </a:extLst>
          </p:cNvPr>
          <p:cNvSpPr>
            <a:spLocks xmlns:a="http://schemas.openxmlformats.org/drawingml/2006/main" noGrp="1"/>
          </p:cNvSpPr>
          <p:nvPr/>
        </p:nvSpPr>
        <p:spPr>
          <a:xfrm xmlns:a="http://schemas.openxmlformats.org/drawingml/2006/main">
            <a:off x="4876800" y="51244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defPPr algn="l">
              <a:defRPr sz="1575" b="0" i="0">
                <a:solidFill>
                  <a:srgbClr val="151D24"/>
                </a:solidFill>
                <a:latin typeface="Arial"/>
                <a:ea typeface="Arial"/>
                <a:cs typeface="Arial"/>
              </a:defRPr>
            </a:defPPr>
            <a:lvl1pPr algn="l">
              <a:defRPr sz="1575" b="0" i="0">
                <a:solidFill>
                  <a:srgbClr val="151D24"/>
                </a:solidFill>
                <a:latin typeface="Arial"/>
                <a:ea typeface="Arial"/>
                <a:cs typeface="Arial"/>
              </a:defRPr>
            </a:lvl1pPr>
            <a:lvl2pPr algn="l">
              <a:defRPr sz="1575" b="0" i="0">
                <a:solidFill>
                  <a:srgbClr val="151D24"/>
                </a:solidFill>
                <a:latin typeface="Arial"/>
                <a:ea typeface="Arial"/>
                <a:cs typeface="Arial"/>
              </a:defRPr>
            </a:lvl2pPr>
            <a:lvl3pPr algn="l">
              <a:defRPr sz="1575" b="0" i="0">
                <a:solidFill>
                  <a:srgbClr val="151D24"/>
                </a:solidFill>
                <a:latin typeface="Arial"/>
                <a:ea typeface="Arial"/>
                <a:cs typeface="Arial"/>
              </a:defRPr>
            </a:lvl3pPr>
            <a:lvl4pPr algn="l">
              <a:defRPr sz="1575" b="0" i="0">
                <a:solidFill>
                  <a:srgbClr val="151D24"/>
                </a:solidFill>
                <a:latin typeface="Arial"/>
                <a:ea typeface="Arial"/>
                <a:cs typeface="Arial"/>
              </a:defRPr>
            </a:lvl4pPr>
            <a:lvl5pPr algn="l">
              <a:defRPr sz="1575" b="0" i="0">
                <a:solidFill>
                  <a:srgbClr val="151D24"/>
                </a:solidFill>
                <a:latin typeface="Arial"/>
                <a:ea typeface="Arial"/>
                <a:cs typeface="Arial"/>
              </a:defRPr>
            </a:lvl5pPr>
            <a:lvl6pPr algn="l">
              <a:defRPr sz="1575" b="0" i="0">
                <a:solidFill>
                  <a:srgbClr val="151D24"/>
                </a:solidFill>
                <a:latin typeface="Arial"/>
                <a:ea typeface="Arial"/>
                <a:cs typeface="Arial"/>
              </a:defRPr>
            </a:lvl6pPr>
            <a:lvl7pPr algn="l">
              <a:defRPr sz="1575" b="0" i="0">
                <a:solidFill>
                  <a:srgbClr val="151D24"/>
                </a:solidFill>
                <a:latin typeface="Arial"/>
                <a:ea typeface="Arial"/>
                <a:cs typeface="Arial"/>
              </a:defRPr>
            </a:lvl7pPr>
            <a:lvl8pPr algn="l">
              <a:defRPr sz="1575" b="0" i="0">
                <a:solidFill>
                  <a:srgbClr val="151D24"/>
                </a:solidFill>
                <a:latin typeface="Arial"/>
                <a:ea typeface="Arial"/>
                <a:cs typeface="Arial"/>
              </a:defRPr>
            </a:lvl8pPr>
            <a:lvl9pPr algn="l">
              <a:defRPr sz="1575" b="0" i="0">
                <a:solidFill>
                  <a:srgbClr val="151D24"/>
                </a:solidFill>
                <a:latin typeface="Arial"/>
                <a:ea typeface="Arial"/>
                <a:cs typeface="Arial"/>
              </a:defRPr>
            </a:lvl9pPr>
          </a:lstStyle>
          <a:p xmlns:a="http://schemas.openxmlformats.org/drawingml/2006/main">
            <a:pPr algn="l">
              <a:lnSpc>
                <a:spcPct val="108000"/>
              </a:lnSpc>
              <a:buNone/>
              <a:defRPr sz="1575" b="0" i="0">
                <a:solidFill>
                  <a:srgbClr val="151D24"/>
                </a:solidFill>
                <a:latin typeface="Arial"/>
                <a:ea typeface="Arial"/>
                <a:cs typeface="Arial"/>
              </a:defRPr>
            </a:pPr>
            <a:r>
              <a:rPr sz="1575" b="0" i="0">
                <a:solidFill>
                  <a:srgbClr val="151D24"/>
                </a:solidFill>
                <a:latin typeface="Arial"/>
                <a:ea typeface="Arial"/>
                <a:cs typeface="Arial"/>
              </a:rPr>
              <a:t>Xem đồng thời precision/recall; kiểm tra false positive và false negative.</a:t>
            </a:r>
          </a:p>
        </p:txBody>
      </p:sp>
      <p:sp>
        <p:nvSpPr>
          <p:cNvPr id="17" name="slide-number">
            <a:extLst xmlns:a="http://schemas.openxmlformats.org/drawingml/2006/main">
              <a:ext uri="{FF2B5EF4-FFF2-40B4-BE49-F238E27FC236}">
                <a16:creationId xmlns:a16="http://schemas.microsoft.com/office/drawing/2014/main" id="{AC2F15A6-F110-4597-BC8C-08EC1DE85A0F}"/>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08</a:t>
            </a:r>
          </a:p>
        </p:txBody>
      </p:sp>
    </p:spTree>
    <p:extLst>
      <p:ext uri="{BB962C8B-B14F-4D97-AF65-F5344CB8AC3E}">
        <p14:creationId xmlns:p14="http://schemas.microsoft.com/office/powerpoint/2010/main" val="187240156"/>
      </p:ext>
    </p:extLst>
  </p:cSld>
</p:sld>
</file>

<file path=ppt/slides/slide9.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8301A3DC-88C3-49F4-9DB5-9B3BEBAA980B}"/>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C100BEA3-A381-4634-AF0A-E8EC8B87857D}"/>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Giới hạn và hướng phát triển</a:t>
            </a:r>
          </a:p>
        </p:txBody>
      </p:sp>
      <p:sp>
        <p:nvSpPr>
          <p:cNvPr id="3" name="slide-subtitle">
            <a:extLst xmlns:a="http://schemas.openxmlformats.org/drawingml/2006/main">
              <a:ext uri="{FF2B5EF4-FFF2-40B4-BE49-F238E27FC236}">
                <a16:creationId xmlns:a16="http://schemas.microsoft.com/office/drawing/2014/main" id="{935FA3B6-73AE-4B2F-87CE-DBC71502F032}"/>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Bản hiện tại minh họa được quy trình end-to-end, chưa chứng minh độ chính xác.</a:t>
            </a:r>
          </a:p>
        </p:txBody>
      </p:sp>
      <p:sp>
        <p:nvSpPr>
          <p:cNvPr id="4" name="title-rule">
            <a:extLst xmlns:a="http://schemas.openxmlformats.org/drawingml/2006/main">
              <a:ext uri="{FF2B5EF4-FFF2-40B4-BE49-F238E27FC236}">
                <a16:creationId xmlns:a16="http://schemas.microsoft.com/office/drawing/2014/main" id="{BFE66ABF-5B17-4302-B5D5-38E97DE66B29}"/>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limits-label">
            <a:extLst xmlns:a="http://schemas.openxmlformats.org/drawingml/2006/main">
              <a:ext uri="{FF2B5EF4-FFF2-40B4-BE49-F238E27FC236}">
                <a16:creationId xmlns:a16="http://schemas.microsoft.com/office/drawing/2014/main" id="{B3A51A6E-BA33-4381-B803-FEA263FB5BA1}"/>
              </a:ext>
            </a:extLst>
          </p:cNvPr>
          <p:cNvSpPr>
            <a:spLocks xmlns:a="http://schemas.openxmlformats.org/drawingml/2006/main" noGrp="1"/>
          </p:cNvSpPr>
          <p:nvPr/>
        </p:nvSpPr>
        <p:spPr>
          <a:xfrm xmlns:a="http://schemas.openxmlformats.org/drawingml/2006/main">
            <a:off x="781050" y="2247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D66F57"/>
                </a:solidFill>
                <a:latin typeface="Arial"/>
                <a:ea typeface="Arial"/>
                <a:cs typeface="Arial"/>
              </a:defRPr>
            </a:defPPr>
            <a:lvl1pPr algn="l">
              <a:defRPr sz="1125" b="1" i="0">
                <a:solidFill>
                  <a:srgbClr val="D66F57"/>
                </a:solidFill>
                <a:latin typeface="Arial"/>
                <a:ea typeface="Arial"/>
                <a:cs typeface="Arial"/>
              </a:defRPr>
            </a:lvl1pPr>
            <a:lvl2pPr algn="l">
              <a:defRPr sz="1125" b="1" i="0">
                <a:solidFill>
                  <a:srgbClr val="D66F57"/>
                </a:solidFill>
                <a:latin typeface="Arial"/>
                <a:ea typeface="Arial"/>
                <a:cs typeface="Arial"/>
              </a:defRPr>
            </a:lvl2pPr>
            <a:lvl3pPr algn="l">
              <a:defRPr sz="1125" b="1" i="0">
                <a:solidFill>
                  <a:srgbClr val="D66F57"/>
                </a:solidFill>
                <a:latin typeface="Arial"/>
                <a:ea typeface="Arial"/>
                <a:cs typeface="Arial"/>
              </a:defRPr>
            </a:lvl3pPr>
            <a:lvl4pPr algn="l">
              <a:defRPr sz="1125" b="1" i="0">
                <a:solidFill>
                  <a:srgbClr val="D66F57"/>
                </a:solidFill>
                <a:latin typeface="Arial"/>
                <a:ea typeface="Arial"/>
                <a:cs typeface="Arial"/>
              </a:defRPr>
            </a:lvl4pPr>
            <a:lvl5pPr algn="l">
              <a:defRPr sz="1125" b="1" i="0">
                <a:solidFill>
                  <a:srgbClr val="D66F57"/>
                </a:solidFill>
                <a:latin typeface="Arial"/>
                <a:ea typeface="Arial"/>
                <a:cs typeface="Arial"/>
              </a:defRPr>
            </a:lvl5pPr>
            <a:lvl6pPr algn="l">
              <a:defRPr sz="1125" b="1" i="0">
                <a:solidFill>
                  <a:srgbClr val="D66F57"/>
                </a:solidFill>
                <a:latin typeface="Arial"/>
                <a:ea typeface="Arial"/>
                <a:cs typeface="Arial"/>
              </a:defRPr>
            </a:lvl6pPr>
            <a:lvl7pPr algn="l">
              <a:defRPr sz="1125" b="1" i="0">
                <a:solidFill>
                  <a:srgbClr val="D66F57"/>
                </a:solidFill>
                <a:latin typeface="Arial"/>
                <a:ea typeface="Arial"/>
                <a:cs typeface="Arial"/>
              </a:defRPr>
            </a:lvl7pPr>
            <a:lvl8pPr algn="l">
              <a:defRPr sz="1125" b="1" i="0">
                <a:solidFill>
                  <a:srgbClr val="D66F57"/>
                </a:solidFill>
                <a:latin typeface="Arial"/>
                <a:ea typeface="Arial"/>
                <a:cs typeface="Arial"/>
              </a:defRPr>
            </a:lvl8pPr>
            <a:lvl9pPr algn="l">
              <a:defRPr sz="1125" b="1" i="0">
                <a:solidFill>
                  <a:srgbClr val="D66F57"/>
                </a:solidFill>
                <a:latin typeface="Arial"/>
                <a:ea typeface="Arial"/>
                <a:cs typeface="Arial"/>
              </a:defRPr>
            </a:lvl9pPr>
          </a:lstStyle>
          <a:p xmlns:a="http://schemas.openxmlformats.org/drawingml/2006/main">
            <a:pPr algn="l">
              <a:lnSpc>
                <a:spcPct val="108000"/>
              </a:lnSpc>
              <a:buNone/>
              <a:defRPr sz="1125" b="1" i="0">
                <a:solidFill>
                  <a:srgbClr val="D66F57"/>
                </a:solidFill>
                <a:latin typeface="Arial"/>
                <a:ea typeface="Arial"/>
                <a:cs typeface="Arial"/>
              </a:defRPr>
            </a:pPr>
            <a:r>
              <a:rPr sz="1125" b="1" i="0">
                <a:solidFill>
                  <a:srgbClr val="D66F57"/>
                </a:solidFill>
                <a:latin typeface="Arial"/>
                <a:ea typeface="Arial"/>
                <a:cs typeface="Arial"/>
              </a:rPr>
              <a:t>GIỚI HẠN HIỆN TẠI</a:t>
            </a:r>
          </a:p>
        </p:txBody>
      </p:sp>
      <p:sp>
        <p:nvSpPr>
          <p:cNvPr id="6" name="limits-current">
            <a:extLst xmlns:a="http://schemas.openxmlformats.org/drawingml/2006/main">
              <a:ext uri="{FF2B5EF4-FFF2-40B4-BE49-F238E27FC236}">
                <a16:creationId xmlns:a16="http://schemas.microsoft.com/office/drawing/2014/main" id="{C9001E49-AF2F-4427-8EFC-2C54E5F79E6F}"/>
              </a:ext>
            </a:extLst>
          </p:cNvPr>
          <p:cNvSpPr>
            <a:spLocks xmlns:a="http://schemas.openxmlformats.org/drawingml/2006/main" noGrp="1"/>
          </p:cNvSpPr>
          <p:nvPr/>
        </p:nvSpPr>
        <p:spPr>
          <a:xfrm xmlns:a="http://schemas.openxmlformats.org/drawingml/2006/main">
            <a:off x="781050" y="2667000"/>
            <a:ext cx="47625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151D24"/>
                </a:solidFill>
                <a:latin typeface="Arial"/>
                <a:ea typeface="Arial"/>
                <a:cs typeface="Arial"/>
              </a:defRPr>
            </a:defPPr>
            <a:lvl1pPr algn="l">
              <a:defRPr sz="1725" b="0" i="0">
                <a:solidFill>
                  <a:srgbClr val="151D24"/>
                </a:solidFill>
                <a:latin typeface="Arial"/>
                <a:ea typeface="Arial"/>
                <a:cs typeface="Arial"/>
              </a:defRPr>
            </a:lvl1pPr>
            <a:lvl2pPr algn="l">
              <a:defRPr sz="1725" b="0" i="0">
                <a:solidFill>
                  <a:srgbClr val="151D24"/>
                </a:solidFill>
                <a:latin typeface="Arial"/>
                <a:ea typeface="Arial"/>
                <a:cs typeface="Arial"/>
              </a:defRPr>
            </a:lvl2pPr>
            <a:lvl3pPr algn="l">
              <a:defRPr sz="1725" b="0" i="0">
                <a:solidFill>
                  <a:srgbClr val="151D24"/>
                </a:solidFill>
                <a:latin typeface="Arial"/>
                <a:ea typeface="Arial"/>
                <a:cs typeface="Arial"/>
              </a:defRPr>
            </a:lvl3pPr>
            <a:lvl4pPr algn="l">
              <a:defRPr sz="1725" b="0" i="0">
                <a:solidFill>
                  <a:srgbClr val="151D24"/>
                </a:solidFill>
                <a:latin typeface="Arial"/>
                <a:ea typeface="Arial"/>
                <a:cs typeface="Arial"/>
              </a:defRPr>
            </a:lvl4pPr>
            <a:lvl5pPr algn="l">
              <a:defRPr sz="1725" b="0" i="0">
                <a:solidFill>
                  <a:srgbClr val="151D24"/>
                </a:solidFill>
                <a:latin typeface="Arial"/>
                <a:ea typeface="Arial"/>
                <a:cs typeface="Arial"/>
              </a:defRPr>
            </a:lvl5pPr>
            <a:lvl6pPr algn="l">
              <a:defRPr sz="1725" b="0" i="0">
                <a:solidFill>
                  <a:srgbClr val="151D24"/>
                </a:solidFill>
                <a:latin typeface="Arial"/>
                <a:ea typeface="Arial"/>
                <a:cs typeface="Arial"/>
              </a:defRPr>
            </a:lvl6pPr>
            <a:lvl7pPr algn="l">
              <a:defRPr sz="1725" b="0" i="0">
                <a:solidFill>
                  <a:srgbClr val="151D24"/>
                </a:solidFill>
                <a:latin typeface="Arial"/>
                <a:ea typeface="Arial"/>
                <a:cs typeface="Arial"/>
              </a:defRPr>
            </a:lvl7pPr>
            <a:lvl8pPr algn="l">
              <a:defRPr sz="1725" b="0" i="0">
                <a:solidFill>
                  <a:srgbClr val="151D24"/>
                </a:solidFill>
                <a:latin typeface="Arial"/>
                <a:ea typeface="Arial"/>
                <a:cs typeface="Arial"/>
              </a:defRPr>
            </a:lvl8pPr>
            <a:lvl9pPr algn="l">
              <a:defRPr sz="1725" b="0" i="0">
                <a:solidFill>
                  <a:srgbClr val="151D24"/>
                </a:solidFill>
                <a:latin typeface="Arial"/>
                <a:ea typeface="Arial"/>
                <a:cs typeface="Arial"/>
              </a:defRPr>
            </a:lvl9pPr>
          </a:lstStyle>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Dữ liệu nhỏ và minh họa.</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Mô hình chỉ có hai nhãn.</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Ngữ cảnh, mỉa mai và tiếng lóng dễ gây nhầm.</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OCR phụ thuộc chất lượng ảnh và gói ngôn ngữ.</a:t>
            </a:r>
          </a:p>
        </p:txBody>
      </p:sp>
      <p:sp>
        <p:nvSpPr>
          <p:cNvPr id="7" name="limits-divider">
            <a:extLst xmlns:a="http://schemas.openxmlformats.org/drawingml/2006/main">
              <a:ext uri="{FF2B5EF4-FFF2-40B4-BE49-F238E27FC236}">
                <a16:creationId xmlns:a16="http://schemas.microsoft.com/office/drawing/2014/main" id="{7DD4AF7D-A747-4F64-B1C2-8FF171F8D8BA}"/>
              </a:ext>
            </a:extLst>
          </p:cNvPr>
          <p:cNvSpPr>
            <a:spLocks xmlns:a="http://schemas.openxmlformats.org/drawingml/2006/main" noGrp="1"/>
          </p:cNvSpPr>
          <p:nvPr/>
        </p:nvSpPr>
        <p:spPr>
          <a:xfrm xmlns:a="http://schemas.openxmlformats.org/drawingml/2006/main">
            <a:off x="6096000" y="2266950"/>
            <a:ext cx="9525" cy="3333750"/>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8" name="limits-next-label">
            <a:extLst xmlns:a="http://schemas.openxmlformats.org/drawingml/2006/main">
              <a:ext uri="{FF2B5EF4-FFF2-40B4-BE49-F238E27FC236}">
                <a16:creationId xmlns:a16="http://schemas.microsoft.com/office/drawing/2014/main" id="{2475575E-F6FF-47D2-9A99-B44C7BE989E9}"/>
              </a:ext>
            </a:extLst>
          </p:cNvPr>
          <p:cNvSpPr>
            <a:spLocks xmlns:a="http://schemas.openxmlformats.org/drawingml/2006/main" noGrp="1"/>
          </p:cNvSpPr>
          <p:nvPr/>
        </p:nvSpPr>
        <p:spPr>
          <a:xfrm xmlns:a="http://schemas.openxmlformats.org/drawingml/2006/main">
            <a:off x="6648450" y="2247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BƯỚC TIẾP THEO</a:t>
            </a:r>
          </a:p>
        </p:txBody>
      </p:sp>
      <p:sp>
        <p:nvSpPr>
          <p:cNvPr id="9" name="limits-next">
            <a:extLst xmlns:a="http://schemas.openxmlformats.org/drawingml/2006/main">
              <a:ext uri="{FF2B5EF4-FFF2-40B4-BE49-F238E27FC236}">
                <a16:creationId xmlns:a16="http://schemas.microsoft.com/office/drawing/2014/main" id="{430E2F54-9799-4DD0-9FF4-4CC28E01A42C}"/>
              </a:ext>
            </a:extLst>
          </p:cNvPr>
          <p:cNvSpPr>
            <a:spLocks xmlns:a="http://schemas.openxmlformats.org/drawingml/2006/main" noGrp="1"/>
          </p:cNvSpPr>
          <p:nvPr/>
        </p:nvSpPr>
        <p:spPr>
          <a:xfrm xmlns:a="http://schemas.openxmlformats.org/drawingml/2006/main">
            <a:off x="6648450" y="2667000"/>
            <a:ext cx="47625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151D24"/>
                </a:solidFill>
                <a:latin typeface="Arial"/>
                <a:ea typeface="Arial"/>
                <a:cs typeface="Arial"/>
              </a:defRPr>
            </a:defPPr>
            <a:lvl1pPr algn="l">
              <a:defRPr sz="1725" b="0" i="0">
                <a:solidFill>
                  <a:srgbClr val="151D24"/>
                </a:solidFill>
                <a:latin typeface="Arial"/>
                <a:ea typeface="Arial"/>
                <a:cs typeface="Arial"/>
              </a:defRPr>
            </a:lvl1pPr>
            <a:lvl2pPr algn="l">
              <a:defRPr sz="1725" b="0" i="0">
                <a:solidFill>
                  <a:srgbClr val="151D24"/>
                </a:solidFill>
                <a:latin typeface="Arial"/>
                <a:ea typeface="Arial"/>
                <a:cs typeface="Arial"/>
              </a:defRPr>
            </a:lvl2pPr>
            <a:lvl3pPr algn="l">
              <a:defRPr sz="1725" b="0" i="0">
                <a:solidFill>
                  <a:srgbClr val="151D24"/>
                </a:solidFill>
                <a:latin typeface="Arial"/>
                <a:ea typeface="Arial"/>
                <a:cs typeface="Arial"/>
              </a:defRPr>
            </a:lvl3pPr>
            <a:lvl4pPr algn="l">
              <a:defRPr sz="1725" b="0" i="0">
                <a:solidFill>
                  <a:srgbClr val="151D24"/>
                </a:solidFill>
                <a:latin typeface="Arial"/>
                <a:ea typeface="Arial"/>
                <a:cs typeface="Arial"/>
              </a:defRPr>
            </a:lvl4pPr>
            <a:lvl5pPr algn="l">
              <a:defRPr sz="1725" b="0" i="0">
                <a:solidFill>
                  <a:srgbClr val="151D24"/>
                </a:solidFill>
                <a:latin typeface="Arial"/>
                <a:ea typeface="Arial"/>
                <a:cs typeface="Arial"/>
              </a:defRPr>
            </a:lvl5pPr>
            <a:lvl6pPr algn="l">
              <a:defRPr sz="1725" b="0" i="0">
                <a:solidFill>
                  <a:srgbClr val="151D24"/>
                </a:solidFill>
                <a:latin typeface="Arial"/>
                <a:ea typeface="Arial"/>
                <a:cs typeface="Arial"/>
              </a:defRPr>
            </a:lvl6pPr>
            <a:lvl7pPr algn="l">
              <a:defRPr sz="1725" b="0" i="0">
                <a:solidFill>
                  <a:srgbClr val="151D24"/>
                </a:solidFill>
                <a:latin typeface="Arial"/>
                <a:ea typeface="Arial"/>
                <a:cs typeface="Arial"/>
              </a:defRPr>
            </a:lvl7pPr>
            <a:lvl8pPr algn="l">
              <a:defRPr sz="1725" b="0" i="0">
                <a:solidFill>
                  <a:srgbClr val="151D24"/>
                </a:solidFill>
                <a:latin typeface="Arial"/>
                <a:ea typeface="Arial"/>
                <a:cs typeface="Arial"/>
              </a:defRPr>
            </a:lvl8pPr>
            <a:lvl9pPr algn="l">
              <a:defRPr sz="1725" b="0" i="0">
                <a:solidFill>
                  <a:srgbClr val="151D24"/>
                </a:solidFill>
                <a:latin typeface="Arial"/>
                <a:ea typeface="Arial"/>
                <a:cs typeface="Arial"/>
              </a:defRPr>
            </a:lvl9pPr>
          </a:lstStyle>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Thu thập dữ liệu có quyền sử dụng.</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Viết hướng dẫn gán nhãn rõ và đo đồng thuận.</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Tạo tập test riêng, kiểm tra theo nhóm và biến thể chữ.</a:t>
            </a:r>
          </a:p>
          <a:p xmlns:a="http://schemas.openxmlformats.org/drawingml/2006/main">
            <a:pPr algn="l">
              <a:lnSpc>
                <a:spcPct val="130000"/>
              </a:lnSpc>
              <a:buNone/>
              <a:defRPr sz="1725" b="0" i="0">
                <a:solidFill>
                  <a:srgbClr val="151D24"/>
                </a:solidFill>
                <a:latin typeface="Arial"/>
                <a:ea typeface="Arial"/>
                <a:cs typeface="Arial"/>
              </a:defRPr>
            </a:pPr>
            <a:r>
              <a:rPr sz="1725" b="0" i="0">
                <a:solidFill>
                  <a:srgbClr val="151D24"/>
                </a:solidFill>
                <a:latin typeface="Arial"/>
                <a:ea typeface="Arial"/>
                <a:cs typeface="Arial"/>
              </a:rPr>
              <a:t>So sánh baseline với PhoBERT/Transformer.</a:t>
            </a:r>
          </a:p>
        </p:txBody>
      </p:sp>
      <p:sp>
        <p:nvSpPr>
          <p:cNvPr id="10" name="limits-note">
            <a:extLst xmlns:a="http://schemas.openxmlformats.org/drawingml/2006/main">
              <a:ext uri="{FF2B5EF4-FFF2-40B4-BE49-F238E27FC236}">
                <a16:creationId xmlns:a16="http://schemas.microsoft.com/office/drawing/2014/main" id="{05DFDAF0-D1EB-4AAC-9C83-3B330CB4105A}"/>
              </a:ext>
            </a:extLst>
          </p:cNvPr>
          <p:cNvSpPr>
            <a:spLocks xmlns:a="http://schemas.openxmlformats.org/drawingml/2006/main" noGrp="1"/>
          </p:cNvSpPr>
          <p:nvPr/>
        </p:nvSpPr>
        <p:spPr>
          <a:xfrm xmlns:a="http://schemas.openxmlformats.org/drawingml/2006/main">
            <a:off x="781050" y="57054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317D73"/>
                </a:solidFill>
                <a:latin typeface="Arial"/>
                <a:ea typeface="Arial"/>
                <a:cs typeface="Arial"/>
              </a:defRPr>
            </a:defPPr>
            <a:lvl1pPr algn="l">
              <a:defRPr sz="1500" b="1" i="0">
                <a:solidFill>
                  <a:srgbClr val="317D73"/>
                </a:solidFill>
                <a:latin typeface="Arial"/>
                <a:ea typeface="Arial"/>
                <a:cs typeface="Arial"/>
              </a:defRPr>
            </a:lvl1pPr>
            <a:lvl2pPr algn="l">
              <a:defRPr sz="1500" b="1" i="0">
                <a:solidFill>
                  <a:srgbClr val="317D73"/>
                </a:solidFill>
                <a:latin typeface="Arial"/>
                <a:ea typeface="Arial"/>
                <a:cs typeface="Arial"/>
              </a:defRPr>
            </a:lvl2pPr>
            <a:lvl3pPr algn="l">
              <a:defRPr sz="1500" b="1" i="0">
                <a:solidFill>
                  <a:srgbClr val="317D73"/>
                </a:solidFill>
                <a:latin typeface="Arial"/>
                <a:ea typeface="Arial"/>
                <a:cs typeface="Arial"/>
              </a:defRPr>
            </a:lvl3pPr>
            <a:lvl4pPr algn="l">
              <a:defRPr sz="1500" b="1" i="0">
                <a:solidFill>
                  <a:srgbClr val="317D73"/>
                </a:solidFill>
                <a:latin typeface="Arial"/>
                <a:ea typeface="Arial"/>
                <a:cs typeface="Arial"/>
              </a:defRPr>
            </a:lvl4pPr>
            <a:lvl5pPr algn="l">
              <a:defRPr sz="1500" b="1" i="0">
                <a:solidFill>
                  <a:srgbClr val="317D73"/>
                </a:solidFill>
                <a:latin typeface="Arial"/>
                <a:ea typeface="Arial"/>
                <a:cs typeface="Arial"/>
              </a:defRPr>
            </a:lvl5pPr>
            <a:lvl6pPr algn="l">
              <a:defRPr sz="1500" b="1" i="0">
                <a:solidFill>
                  <a:srgbClr val="317D73"/>
                </a:solidFill>
                <a:latin typeface="Arial"/>
                <a:ea typeface="Arial"/>
                <a:cs typeface="Arial"/>
              </a:defRPr>
            </a:lvl6pPr>
            <a:lvl7pPr algn="l">
              <a:defRPr sz="1500" b="1" i="0">
                <a:solidFill>
                  <a:srgbClr val="317D73"/>
                </a:solidFill>
                <a:latin typeface="Arial"/>
                <a:ea typeface="Arial"/>
                <a:cs typeface="Arial"/>
              </a:defRPr>
            </a:lvl7pPr>
            <a:lvl8pPr algn="l">
              <a:defRPr sz="1500" b="1" i="0">
                <a:solidFill>
                  <a:srgbClr val="317D73"/>
                </a:solidFill>
                <a:latin typeface="Arial"/>
                <a:ea typeface="Arial"/>
                <a:cs typeface="Arial"/>
              </a:defRPr>
            </a:lvl8pPr>
            <a:lvl9pPr algn="l">
              <a:defRPr sz="1500" b="1" i="0">
                <a:solidFill>
                  <a:srgbClr val="317D73"/>
                </a:solidFill>
                <a:latin typeface="Arial"/>
                <a:ea typeface="Arial"/>
                <a:cs typeface="Arial"/>
              </a:defRPr>
            </a:lvl9pPr>
          </a:lstStyle>
          <a:p xmlns:a="http://schemas.openxmlformats.org/drawingml/2006/main">
            <a:pPr algn="l">
              <a:lnSpc>
                <a:spcPct val="108000"/>
              </a:lnSpc>
              <a:buNone/>
              <a:defRPr sz="1500" b="1" i="0">
                <a:solidFill>
                  <a:srgbClr val="317D73"/>
                </a:solidFill>
                <a:latin typeface="Arial"/>
                <a:ea typeface="Arial"/>
                <a:cs typeface="Arial"/>
              </a:defRPr>
            </a:pPr>
            <a:r>
              <a:rPr sz="1500" b="1" i="0">
                <a:solidFill>
                  <a:srgbClr val="317D73"/>
                </a:solidFill>
                <a:latin typeface="Arial"/>
                <a:ea typeface="Arial"/>
                <a:cs typeface="Arial"/>
              </a:rPr>
              <a:t>Kết quả nên hỗ trợ người rà soát; không tự động đưa ra quyết định bất lợi.</a:t>
            </a:r>
          </a:p>
        </p:txBody>
      </p:sp>
      <p:sp>
        <p:nvSpPr>
          <p:cNvPr id="11" name="slide-number">
            <a:extLst xmlns:a="http://schemas.openxmlformats.org/drawingml/2006/main">
              <a:ext uri="{FF2B5EF4-FFF2-40B4-BE49-F238E27FC236}">
                <a16:creationId xmlns:a16="http://schemas.microsoft.com/office/drawing/2014/main" id="{3ABB2A12-14C4-40EF-83A1-4E0D6B8957BE}"/>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09</a:t>
            </a:r>
          </a:p>
        </p:txBody>
      </p:sp>
    </p:spTree>
    <p:extLst>
      <p:ext uri="{BB962C8B-B14F-4D97-AF65-F5344CB8AC3E}">
        <p14:creationId xmlns:p14="http://schemas.microsoft.com/office/powerpoint/2010/main" val="478294276"/>
      </p:ext>
    </p:extLst>
  </p:cSld>
</p:sld>
</file>

<file path=ppt/slides/slide10.xml><?xml version="1.0" encoding="utf-8"?>
<p:sld xmlns:p="http://schemas.openxmlformats.org/presentationml/2006/main">
  <p:cSld>
    <p:bg>
      <p:bgPr>
        <a:solidFill xmlns:a="http://schemas.openxmlformats.org/drawingml/2006/main">
          <a:srgbClr val="F4F2EC"/>
        </a:solidFill>
      </p:bgPr>
    </p:bg>
    <p:spTree>
      <p:nvGrpSpPr>
        <p:cNvPr id="1" name=""/>
        <p:cNvGrpSpPr/>
        <p:nvPr/>
      </p:nvGrpSpPr>
      <p:grpSpPr>
        <a:xfrm xmlns:a="http://schemas.openxmlformats.org/drawingml/2006/main"/>
      </p:grpSpPr>
      <p:sp>
        <p:nvSpPr>
          <p:cNvPr id="24" name="section-label">
            <a:extLst xmlns:a="http://schemas.openxmlformats.org/drawingml/2006/main">
              <a:ext uri="{FF2B5EF4-FFF2-40B4-BE49-F238E27FC236}">
                <a16:creationId xmlns:a16="http://schemas.microsoft.com/office/drawing/2014/main" id="{C6124FA3-AA28-4693-AB10-6E0A71CF33FA}"/>
              </a:ext>
            </a:extLst>
          </p:cNvPr>
          <p:cNvSpPr>
            <a:spLocks xmlns:a="http://schemas.openxmlformats.org/drawingml/2006/main" noGrp="1"/>
          </p:cNvSpPr>
          <p:nvPr/>
        </p:nvSpPr>
        <p:spPr>
          <a:xfrm xmlns:a="http://schemas.openxmlformats.org/drawingml/2006/main">
            <a:off x="628650" y="333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i="0">
                <a:solidFill>
                  <a:srgbClr val="317D73"/>
                </a:solidFill>
                <a:latin typeface="Arial"/>
                <a:ea typeface="Arial"/>
                <a:cs typeface="Arial"/>
              </a:defRPr>
            </a:defPPr>
            <a:lvl1pPr algn="l">
              <a:defRPr sz="1050" b="1" i="0">
                <a:solidFill>
                  <a:srgbClr val="317D73"/>
                </a:solidFill>
                <a:latin typeface="Arial"/>
                <a:ea typeface="Arial"/>
                <a:cs typeface="Arial"/>
              </a:defRPr>
            </a:lvl1pPr>
            <a:lvl2pPr algn="l">
              <a:defRPr sz="1050" b="1" i="0">
                <a:solidFill>
                  <a:srgbClr val="317D73"/>
                </a:solidFill>
                <a:latin typeface="Arial"/>
                <a:ea typeface="Arial"/>
                <a:cs typeface="Arial"/>
              </a:defRPr>
            </a:lvl2pPr>
            <a:lvl3pPr algn="l">
              <a:defRPr sz="1050" b="1" i="0">
                <a:solidFill>
                  <a:srgbClr val="317D73"/>
                </a:solidFill>
                <a:latin typeface="Arial"/>
                <a:ea typeface="Arial"/>
                <a:cs typeface="Arial"/>
              </a:defRPr>
            </a:lvl3pPr>
            <a:lvl4pPr algn="l">
              <a:defRPr sz="1050" b="1" i="0">
                <a:solidFill>
                  <a:srgbClr val="317D73"/>
                </a:solidFill>
                <a:latin typeface="Arial"/>
                <a:ea typeface="Arial"/>
                <a:cs typeface="Arial"/>
              </a:defRPr>
            </a:lvl4pPr>
            <a:lvl5pPr algn="l">
              <a:defRPr sz="1050" b="1" i="0">
                <a:solidFill>
                  <a:srgbClr val="317D73"/>
                </a:solidFill>
                <a:latin typeface="Arial"/>
                <a:ea typeface="Arial"/>
                <a:cs typeface="Arial"/>
              </a:defRPr>
            </a:lvl5pPr>
            <a:lvl6pPr algn="l">
              <a:defRPr sz="1050" b="1" i="0">
                <a:solidFill>
                  <a:srgbClr val="317D73"/>
                </a:solidFill>
                <a:latin typeface="Arial"/>
                <a:ea typeface="Arial"/>
                <a:cs typeface="Arial"/>
              </a:defRPr>
            </a:lvl6pPr>
            <a:lvl7pPr algn="l">
              <a:defRPr sz="1050" b="1" i="0">
                <a:solidFill>
                  <a:srgbClr val="317D73"/>
                </a:solidFill>
                <a:latin typeface="Arial"/>
                <a:ea typeface="Arial"/>
                <a:cs typeface="Arial"/>
              </a:defRPr>
            </a:lvl7pPr>
            <a:lvl8pPr algn="l">
              <a:defRPr sz="1050" b="1" i="0">
                <a:solidFill>
                  <a:srgbClr val="317D73"/>
                </a:solidFill>
                <a:latin typeface="Arial"/>
                <a:ea typeface="Arial"/>
                <a:cs typeface="Arial"/>
              </a:defRPr>
            </a:lvl8pPr>
            <a:lvl9pPr algn="l">
              <a:defRPr sz="1050" b="1" i="0">
                <a:solidFill>
                  <a:srgbClr val="317D73"/>
                </a:solidFill>
                <a:latin typeface="Arial"/>
                <a:ea typeface="Arial"/>
                <a:cs typeface="Arial"/>
              </a:defRPr>
            </a:lvl9pPr>
          </a:lstStyle>
          <a:p xmlns:a="http://schemas.openxmlformats.org/drawingml/2006/main">
            <a:pPr algn="l">
              <a:lnSpc>
                <a:spcPct val="108000"/>
              </a:lnSpc>
              <a:buNone/>
              <a:defRPr sz="1050" b="1" i="0">
                <a:solidFill>
                  <a:srgbClr val="317D73"/>
                </a:solidFill>
                <a:latin typeface="Arial"/>
                <a:ea typeface="Arial"/>
                <a:cs typeface="Arial"/>
              </a:defRPr>
            </a:pPr>
            <a:r>
              <a:rPr sz="1050" b="1" i="0">
                <a:solidFill>
                  <a:srgbClr val="317D73"/>
                </a:solidFill>
                <a:latin typeface="Arial"/>
                <a:ea typeface="Arial"/>
                <a:cs typeface="Arial"/>
              </a:rPr>
              <a:t>DỰ ÁN NLP  /  NHẬN DIỆN NGÔN TỪ</a:t>
            </a:r>
          </a:p>
        </p:txBody>
      </p:sp>
      <p:sp>
        <p:nvSpPr>
          <p:cNvPr id="2" name="slide-title">
            <a:extLst xmlns:a="http://schemas.openxmlformats.org/drawingml/2006/main">
              <a:ext uri="{FF2B5EF4-FFF2-40B4-BE49-F238E27FC236}">
                <a16:creationId xmlns:a16="http://schemas.microsoft.com/office/drawing/2014/main" id="{CA9C5A03-0D4F-4C44-8FAD-41615A1B7F94}"/>
              </a:ext>
            </a:extLst>
          </p:cNvPr>
          <p:cNvSpPr>
            <a:spLocks xmlns:a="http://schemas.openxmlformats.org/drawingml/2006/main" noGrp="1"/>
          </p:cNvSpPr>
          <p:nvPr/>
        </p:nvSpPr>
        <p:spPr>
          <a:xfrm xmlns:a="http://schemas.openxmlformats.org/drawingml/2006/main">
            <a:off x="628650" y="7239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i="0">
                <a:solidFill>
                  <a:srgbClr val="151D24"/>
                </a:solidFill>
                <a:latin typeface="Arial"/>
                <a:ea typeface="Arial"/>
                <a:cs typeface="Arial"/>
              </a:defRPr>
            </a:defPPr>
            <a:lvl1pPr algn="l">
              <a:defRPr sz="3150" b="1" i="0">
                <a:solidFill>
                  <a:srgbClr val="151D24"/>
                </a:solidFill>
                <a:latin typeface="Arial"/>
                <a:ea typeface="Arial"/>
                <a:cs typeface="Arial"/>
              </a:defRPr>
            </a:lvl1pPr>
            <a:lvl2pPr algn="l">
              <a:defRPr sz="3150" b="1" i="0">
                <a:solidFill>
                  <a:srgbClr val="151D24"/>
                </a:solidFill>
                <a:latin typeface="Arial"/>
                <a:ea typeface="Arial"/>
                <a:cs typeface="Arial"/>
              </a:defRPr>
            </a:lvl2pPr>
            <a:lvl3pPr algn="l">
              <a:defRPr sz="3150" b="1" i="0">
                <a:solidFill>
                  <a:srgbClr val="151D24"/>
                </a:solidFill>
                <a:latin typeface="Arial"/>
                <a:ea typeface="Arial"/>
                <a:cs typeface="Arial"/>
              </a:defRPr>
            </a:lvl3pPr>
            <a:lvl4pPr algn="l">
              <a:defRPr sz="3150" b="1" i="0">
                <a:solidFill>
                  <a:srgbClr val="151D24"/>
                </a:solidFill>
                <a:latin typeface="Arial"/>
                <a:ea typeface="Arial"/>
                <a:cs typeface="Arial"/>
              </a:defRPr>
            </a:lvl4pPr>
            <a:lvl5pPr algn="l">
              <a:defRPr sz="3150" b="1" i="0">
                <a:solidFill>
                  <a:srgbClr val="151D24"/>
                </a:solidFill>
                <a:latin typeface="Arial"/>
                <a:ea typeface="Arial"/>
                <a:cs typeface="Arial"/>
              </a:defRPr>
            </a:lvl5pPr>
            <a:lvl6pPr algn="l">
              <a:defRPr sz="3150" b="1" i="0">
                <a:solidFill>
                  <a:srgbClr val="151D24"/>
                </a:solidFill>
                <a:latin typeface="Arial"/>
                <a:ea typeface="Arial"/>
                <a:cs typeface="Arial"/>
              </a:defRPr>
            </a:lvl6pPr>
            <a:lvl7pPr algn="l">
              <a:defRPr sz="3150" b="1" i="0">
                <a:solidFill>
                  <a:srgbClr val="151D24"/>
                </a:solidFill>
                <a:latin typeface="Arial"/>
                <a:ea typeface="Arial"/>
                <a:cs typeface="Arial"/>
              </a:defRPr>
            </a:lvl7pPr>
            <a:lvl8pPr algn="l">
              <a:defRPr sz="3150" b="1" i="0">
                <a:solidFill>
                  <a:srgbClr val="151D24"/>
                </a:solidFill>
                <a:latin typeface="Arial"/>
                <a:ea typeface="Arial"/>
                <a:cs typeface="Arial"/>
              </a:defRPr>
            </a:lvl8pPr>
            <a:lvl9pPr algn="l">
              <a:defRPr sz="3150" b="1" i="0">
                <a:solidFill>
                  <a:srgbClr val="151D24"/>
                </a:solidFill>
                <a:latin typeface="Arial"/>
                <a:ea typeface="Arial"/>
                <a:cs typeface="Arial"/>
              </a:defRPr>
            </a:lvl9pPr>
          </a:lstStyle>
          <a:p xmlns:a="http://schemas.openxmlformats.org/drawingml/2006/main">
            <a:pPr algn="l">
              <a:lnSpc>
                <a:spcPct val="108000"/>
              </a:lnSpc>
              <a:buNone/>
              <a:defRPr sz="3150" b="1" i="0">
                <a:solidFill>
                  <a:srgbClr val="151D24"/>
                </a:solidFill>
                <a:latin typeface="Arial"/>
                <a:ea typeface="Arial"/>
                <a:cs typeface="Arial"/>
              </a:defRPr>
            </a:pPr>
            <a:r>
              <a:rPr sz="3150" b="1" i="0">
                <a:solidFill>
                  <a:srgbClr val="151D24"/>
                </a:solidFill>
                <a:latin typeface="Arial"/>
                <a:ea typeface="Arial"/>
                <a:cs typeface="Arial"/>
              </a:rPr>
              <a:t>Tài liệu tham khảo</a:t>
            </a:r>
          </a:p>
        </p:txBody>
      </p:sp>
      <p:sp>
        <p:nvSpPr>
          <p:cNvPr id="3" name="slide-subtitle">
            <a:extLst xmlns:a="http://schemas.openxmlformats.org/drawingml/2006/main">
              <a:ext uri="{FF2B5EF4-FFF2-40B4-BE49-F238E27FC236}">
                <a16:creationId xmlns:a16="http://schemas.microsoft.com/office/drawing/2014/main" id="{B6BA66CB-3216-49AB-A434-8156373312A0}"/>
              </a:ext>
            </a:extLst>
          </p:cNvPr>
          <p:cNvSpPr>
            <a:spLocks xmlns:a="http://schemas.openxmlformats.org/drawingml/2006/main" noGrp="1"/>
          </p:cNvSpPr>
          <p:nvPr/>
        </p:nvSpPr>
        <p:spPr>
          <a:xfrm xmlns:a="http://schemas.openxmlformats.org/drawingml/2006/main">
            <a:off x="647700" y="13239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9656D"/>
                </a:solidFill>
                <a:latin typeface="Arial"/>
                <a:ea typeface="Arial"/>
                <a:cs typeface="Arial"/>
              </a:defRPr>
            </a:defPPr>
            <a:lvl1pPr algn="l">
              <a:defRPr sz="1500" b="0" i="0">
                <a:solidFill>
                  <a:srgbClr val="59656D"/>
                </a:solidFill>
                <a:latin typeface="Arial"/>
                <a:ea typeface="Arial"/>
                <a:cs typeface="Arial"/>
              </a:defRPr>
            </a:lvl1pPr>
            <a:lvl2pPr algn="l">
              <a:defRPr sz="1500" b="0" i="0">
                <a:solidFill>
                  <a:srgbClr val="59656D"/>
                </a:solidFill>
                <a:latin typeface="Arial"/>
                <a:ea typeface="Arial"/>
                <a:cs typeface="Arial"/>
              </a:defRPr>
            </a:lvl2pPr>
            <a:lvl3pPr algn="l">
              <a:defRPr sz="1500" b="0" i="0">
                <a:solidFill>
                  <a:srgbClr val="59656D"/>
                </a:solidFill>
                <a:latin typeface="Arial"/>
                <a:ea typeface="Arial"/>
                <a:cs typeface="Arial"/>
              </a:defRPr>
            </a:lvl3pPr>
            <a:lvl4pPr algn="l">
              <a:defRPr sz="1500" b="0" i="0">
                <a:solidFill>
                  <a:srgbClr val="59656D"/>
                </a:solidFill>
                <a:latin typeface="Arial"/>
                <a:ea typeface="Arial"/>
                <a:cs typeface="Arial"/>
              </a:defRPr>
            </a:lvl4pPr>
            <a:lvl5pPr algn="l">
              <a:defRPr sz="1500" b="0" i="0">
                <a:solidFill>
                  <a:srgbClr val="59656D"/>
                </a:solidFill>
                <a:latin typeface="Arial"/>
                <a:ea typeface="Arial"/>
                <a:cs typeface="Arial"/>
              </a:defRPr>
            </a:lvl5pPr>
            <a:lvl6pPr algn="l">
              <a:defRPr sz="1500" b="0" i="0">
                <a:solidFill>
                  <a:srgbClr val="59656D"/>
                </a:solidFill>
                <a:latin typeface="Arial"/>
                <a:ea typeface="Arial"/>
                <a:cs typeface="Arial"/>
              </a:defRPr>
            </a:lvl6pPr>
            <a:lvl7pPr algn="l">
              <a:defRPr sz="1500" b="0" i="0">
                <a:solidFill>
                  <a:srgbClr val="59656D"/>
                </a:solidFill>
                <a:latin typeface="Arial"/>
                <a:ea typeface="Arial"/>
                <a:cs typeface="Arial"/>
              </a:defRPr>
            </a:lvl7pPr>
            <a:lvl8pPr algn="l">
              <a:defRPr sz="1500" b="0" i="0">
                <a:solidFill>
                  <a:srgbClr val="59656D"/>
                </a:solidFill>
                <a:latin typeface="Arial"/>
                <a:ea typeface="Arial"/>
                <a:cs typeface="Arial"/>
              </a:defRPr>
            </a:lvl8pPr>
            <a:lvl9pPr algn="l">
              <a:defRPr sz="1500" b="0" i="0">
                <a:solidFill>
                  <a:srgbClr val="59656D"/>
                </a:solidFill>
                <a:latin typeface="Arial"/>
                <a:ea typeface="Arial"/>
                <a:cs typeface="Arial"/>
              </a:defRPr>
            </a:lvl9pPr>
          </a:lstStyle>
          <a:p xmlns:a="http://schemas.openxmlformats.org/drawingml/2006/main">
            <a:pPr algn="l">
              <a:lnSpc>
                <a:spcPct val="108000"/>
              </a:lnSpc>
              <a:buNone/>
              <a:defRPr sz="1500" b="0" i="0">
                <a:solidFill>
                  <a:srgbClr val="59656D"/>
                </a:solidFill>
                <a:latin typeface="Arial"/>
                <a:ea typeface="Arial"/>
                <a:cs typeface="Arial"/>
              </a:defRPr>
            </a:pPr>
            <a:r>
              <a:rPr sz="1500" b="0" i="0">
                <a:solidFill>
                  <a:srgbClr val="59656D"/>
                </a:solidFill>
                <a:latin typeface="Arial"/>
                <a:ea typeface="Arial"/>
                <a:cs typeface="Arial"/>
              </a:rPr>
              <a:t>Tài liệu môn học, mã nguồn project và nghiên cứu liên quan.</a:t>
            </a:r>
          </a:p>
        </p:txBody>
      </p:sp>
      <p:sp>
        <p:nvSpPr>
          <p:cNvPr id="4" name="title-rule">
            <a:extLst xmlns:a="http://schemas.openxmlformats.org/drawingml/2006/main">
              <a:ext uri="{FF2B5EF4-FFF2-40B4-BE49-F238E27FC236}">
                <a16:creationId xmlns:a16="http://schemas.microsoft.com/office/drawing/2014/main" id="{0711DC11-0845-410C-B3E1-4580AA1605A3}"/>
              </a:ext>
            </a:extLst>
          </p:cNvPr>
          <p:cNvSpPr>
            <a:spLocks xmlns:a="http://schemas.openxmlformats.org/drawingml/2006/main" noGrp="1"/>
          </p:cNvSpPr>
          <p:nvPr/>
        </p:nvSpPr>
        <p:spPr>
          <a:xfrm xmlns:a="http://schemas.openxmlformats.org/drawingml/2006/main">
            <a:off x="628650" y="1809750"/>
            <a:ext cx="10934700" cy="9525"/>
          </a:xfrm>
          <a:prstGeom xmlns:a="http://schemas.openxmlformats.org/drawingml/2006/main" prst="rect">
            <a:avLst/>
          </a:prstGeom>
          <a:solidFill xmlns:a="http://schemas.openxmlformats.org/drawingml/2006/main">
            <a:srgbClr val="D6D8D3"/>
          </a:solidFill>
          <a:ln xmlns:a="http://schemas.openxmlformats.org/drawingml/2006/main" w="0">
            <a:noFill/>
            <a:prstDash val="solid"/>
          </a:ln>
        </p:spPr>
      </p:sp>
      <p:sp>
        <p:nvSpPr>
          <p:cNvPr id="5" name="ref-num-01">
            <a:extLst xmlns:a="http://schemas.openxmlformats.org/drawingml/2006/main">
              <a:ext uri="{FF2B5EF4-FFF2-40B4-BE49-F238E27FC236}">
                <a16:creationId xmlns:a16="http://schemas.microsoft.com/office/drawing/2014/main" id="{E085B54E-4442-4BD1-A1B5-D38A95E5A526}"/>
              </a:ext>
            </a:extLst>
          </p:cNvPr>
          <p:cNvSpPr>
            <a:spLocks xmlns:a="http://schemas.openxmlformats.org/drawingml/2006/main" noGrp="1"/>
          </p:cNvSpPr>
          <p:nvPr/>
        </p:nvSpPr>
        <p:spPr>
          <a:xfrm xmlns:a="http://schemas.openxmlformats.org/drawingml/2006/main">
            <a:off x="781050" y="21431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01</a:t>
            </a:r>
          </a:p>
        </p:txBody>
      </p:sp>
      <p:sp>
        <p:nvSpPr>
          <p:cNvPr id="6" name="ref-name-01">
            <a:extLst xmlns:a="http://schemas.openxmlformats.org/drawingml/2006/main">
              <a:ext uri="{FF2B5EF4-FFF2-40B4-BE49-F238E27FC236}">
                <a16:creationId xmlns:a16="http://schemas.microsoft.com/office/drawing/2014/main" id="{62B10294-326C-42C8-8D9A-7D5DCC1523E7}"/>
              </a:ext>
            </a:extLst>
          </p:cNvPr>
          <p:cNvSpPr>
            <a:spLocks xmlns:a="http://schemas.openxmlformats.org/drawingml/2006/main" noGrp="1"/>
          </p:cNvSpPr>
          <p:nvPr/>
        </p:nvSpPr>
        <p:spPr>
          <a:xfrm xmlns:a="http://schemas.openxmlformats.org/drawingml/2006/main">
            <a:off x="1390650" y="21431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Project hiện tại</a:t>
            </a:r>
          </a:p>
        </p:txBody>
      </p:sp>
      <p:sp>
        <p:nvSpPr>
          <p:cNvPr id="7" name="ref-desc-01">
            <a:extLst xmlns:a="http://schemas.openxmlformats.org/drawingml/2006/main">
              <a:ext uri="{FF2B5EF4-FFF2-40B4-BE49-F238E27FC236}">
                <a16:creationId xmlns:a16="http://schemas.microsoft.com/office/drawing/2014/main" id="{AC881975-7FC5-4623-B2DB-5933C625257F}"/>
              </a:ext>
            </a:extLst>
          </p:cNvPr>
          <p:cNvSpPr>
            <a:spLocks xmlns:a="http://schemas.openxmlformats.org/drawingml/2006/main" noGrp="1"/>
          </p:cNvSpPr>
          <p:nvPr/>
        </p:nvSpPr>
        <p:spPr>
          <a:xfrm xmlns:a="http://schemas.openxmlformats.org/drawingml/2006/main">
            <a:off x="4762500" y="21431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app.py, main.py, README.md, data/samples.csv</a:t>
            </a:r>
          </a:p>
        </p:txBody>
      </p:sp>
      <p:sp>
        <p:nvSpPr>
          <p:cNvPr id="8" name="ref-num-02">
            <a:extLst xmlns:a="http://schemas.openxmlformats.org/drawingml/2006/main">
              <a:ext uri="{FF2B5EF4-FFF2-40B4-BE49-F238E27FC236}">
                <a16:creationId xmlns:a16="http://schemas.microsoft.com/office/drawing/2014/main" id="{58886C51-8039-475B-8BBF-494427DC98B3}"/>
              </a:ext>
            </a:extLst>
          </p:cNvPr>
          <p:cNvSpPr>
            <a:spLocks xmlns:a="http://schemas.openxmlformats.org/drawingml/2006/main" noGrp="1"/>
          </p:cNvSpPr>
          <p:nvPr/>
        </p:nvSpPr>
        <p:spPr>
          <a:xfrm xmlns:a="http://schemas.openxmlformats.org/drawingml/2006/main">
            <a:off x="781050" y="27908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02</a:t>
            </a:r>
          </a:p>
        </p:txBody>
      </p:sp>
      <p:sp>
        <p:nvSpPr>
          <p:cNvPr id="9" name="ref-name-02">
            <a:extLst xmlns:a="http://schemas.openxmlformats.org/drawingml/2006/main">
              <a:ext uri="{FF2B5EF4-FFF2-40B4-BE49-F238E27FC236}">
                <a16:creationId xmlns:a16="http://schemas.microsoft.com/office/drawing/2014/main" id="{BCEB0502-9D3C-43C4-9CFB-32A55FFFEB95}"/>
              </a:ext>
            </a:extLst>
          </p:cNvPr>
          <p:cNvSpPr>
            <a:spLocks xmlns:a="http://schemas.openxmlformats.org/drawingml/2006/main" noGrp="1"/>
          </p:cNvSpPr>
          <p:nvPr/>
        </p:nvSpPr>
        <p:spPr>
          <a:xfrm xmlns:a="http://schemas.openxmlformats.org/drawingml/2006/main">
            <a:off x="139065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Oxford University Press</a:t>
            </a:r>
          </a:p>
        </p:txBody>
      </p:sp>
      <p:sp>
        <p:nvSpPr>
          <p:cNvPr id="10" name="ref-desc-02">
            <a:extLst xmlns:a="http://schemas.openxmlformats.org/drawingml/2006/main">
              <a:ext uri="{FF2B5EF4-FFF2-40B4-BE49-F238E27FC236}">
                <a16:creationId xmlns:a16="http://schemas.microsoft.com/office/drawing/2014/main" id="{5083B25C-4AC4-4B7B-92E7-D91C3B3E0007}"/>
              </a:ext>
            </a:extLst>
          </p:cNvPr>
          <p:cNvSpPr>
            <a:spLocks xmlns:a="http://schemas.openxmlformats.org/drawingml/2006/main" noGrp="1"/>
          </p:cNvSpPr>
          <p:nvPr/>
        </p:nvSpPr>
        <p:spPr>
          <a:xfrm xmlns:a="http://schemas.openxmlformats.org/drawingml/2006/main">
            <a:off x="4762500" y="27908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Oxford Word of the Year 2025: rage bait</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corp.oup.com/word-of-the-year/</a:t>
            </a:r>
          </a:p>
        </p:txBody>
      </p:sp>
      <p:sp>
        <p:nvSpPr>
          <p:cNvPr id="11" name="ref-num-03">
            <a:extLst xmlns:a="http://schemas.openxmlformats.org/drawingml/2006/main">
              <a:ext uri="{FF2B5EF4-FFF2-40B4-BE49-F238E27FC236}">
                <a16:creationId xmlns:a16="http://schemas.microsoft.com/office/drawing/2014/main" id="{CE14538A-6CBD-4D78-AB1D-2184329F6262}"/>
              </a:ext>
            </a:extLst>
          </p:cNvPr>
          <p:cNvSpPr>
            <a:spLocks xmlns:a="http://schemas.openxmlformats.org/drawingml/2006/main" noGrp="1"/>
          </p:cNvSpPr>
          <p:nvPr/>
        </p:nvSpPr>
        <p:spPr>
          <a:xfrm xmlns:a="http://schemas.openxmlformats.org/drawingml/2006/main">
            <a:off x="781050" y="34385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03</a:t>
            </a:r>
          </a:p>
        </p:txBody>
      </p:sp>
      <p:sp>
        <p:nvSpPr>
          <p:cNvPr id="12" name="ref-name-03">
            <a:extLst xmlns:a="http://schemas.openxmlformats.org/drawingml/2006/main">
              <a:ext uri="{FF2B5EF4-FFF2-40B4-BE49-F238E27FC236}">
                <a16:creationId xmlns:a16="http://schemas.microsoft.com/office/drawing/2014/main" id="{21C597C5-0884-4631-BB7E-EC529A3A076E}"/>
              </a:ext>
            </a:extLst>
          </p:cNvPr>
          <p:cNvSpPr>
            <a:spLocks xmlns:a="http://schemas.openxmlformats.org/drawingml/2006/main" noGrp="1"/>
          </p:cNvSpPr>
          <p:nvPr/>
        </p:nvSpPr>
        <p:spPr>
          <a:xfrm xmlns:a="http://schemas.openxmlformats.org/drawingml/2006/main">
            <a:off x="1390650" y="34385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United Nations</a:t>
            </a:r>
          </a:p>
        </p:txBody>
      </p:sp>
      <p:sp>
        <p:nvSpPr>
          <p:cNvPr id="13" name="ref-desc-03">
            <a:extLst xmlns:a="http://schemas.openxmlformats.org/drawingml/2006/main">
              <a:ext uri="{FF2B5EF4-FFF2-40B4-BE49-F238E27FC236}">
                <a16:creationId xmlns:a16="http://schemas.microsoft.com/office/drawing/2014/main" id="{ECFCBD9D-BD20-486D-B473-8007A1CA334F}"/>
              </a:ext>
            </a:extLst>
          </p:cNvPr>
          <p:cNvSpPr>
            <a:spLocks xmlns:a="http://schemas.openxmlformats.org/drawingml/2006/main" noGrp="1"/>
          </p:cNvSpPr>
          <p:nvPr/>
        </p:nvSpPr>
        <p:spPr>
          <a:xfrm xmlns:a="http://schemas.openxmlformats.org/drawingml/2006/main">
            <a:off x="4762500" y="34385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What is hate speech? và FAQs</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un.org/en/node/165070</a:t>
            </a:r>
          </a:p>
        </p:txBody>
      </p:sp>
      <p:sp>
        <p:nvSpPr>
          <p:cNvPr id="14" name="ref-num-04">
            <a:extLst xmlns:a="http://schemas.openxmlformats.org/drawingml/2006/main">
              <a:ext uri="{FF2B5EF4-FFF2-40B4-BE49-F238E27FC236}">
                <a16:creationId xmlns:a16="http://schemas.microsoft.com/office/drawing/2014/main" id="{0CA56299-9C41-49E7-A127-A30D7A403895}"/>
              </a:ext>
            </a:extLst>
          </p:cNvPr>
          <p:cNvSpPr>
            <a:spLocks xmlns:a="http://schemas.openxmlformats.org/drawingml/2006/main" noGrp="1"/>
          </p:cNvSpPr>
          <p:nvPr/>
        </p:nvSpPr>
        <p:spPr>
          <a:xfrm xmlns:a="http://schemas.openxmlformats.org/drawingml/2006/main">
            <a:off x="781050" y="40862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04</a:t>
            </a:r>
          </a:p>
        </p:txBody>
      </p:sp>
      <p:sp>
        <p:nvSpPr>
          <p:cNvPr id="15" name="ref-name-04">
            <a:extLst xmlns:a="http://schemas.openxmlformats.org/drawingml/2006/main">
              <a:ext uri="{FF2B5EF4-FFF2-40B4-BE49-F238E27FC236}">
                <a16:creationId xmlns:a16="http://schemas.microsoft.com/office/drawing/2014/main" id="{F88268A9-D2EA-4777-BE3B-5D4F64BFE12A}"/>
              </a:ext>
            </a:extLst>
          </p:cNvPr>
          <p:cNvSpPr>
            <a:spLocks xmlns:a="http://schemas.openxmlformats.org/drawingml/2006/main" noGrp="1"/>
          </p:cNvSpPr>
          <p:nvPr/>
        </p:nvSpPr>
        <p:spPr>
          <a:xfrm xmlns:a="http://schemas.openxmlformats.org/drawingml/2006/main">
            <a:off x="1390650" y="40862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ViHOS · EACL 2023</a:t>
            </a:r>
          </a:p>
        </p:txBody>
      </p:sp>
      <p:sp>
        <p:nvSpPr>
          <p:cNvPr id="16" name="ref-desc-04">
            <a:extLst xmlns:a="http://schemas.openxmlformats.org/drawingml/2006/main">
              <a:ext uri="{FF2B5EF4-FFF2-40B4-BE49-F238E27FC236}">
                <a16:creationId xmlns:a16="http://schemas.microsoft.com/office/drawing/2014/main" id="{C69F841C-26CB-455B-BAD8-EF639AA8F404}"/>
              </a:ext>
            </a:extLst>
          </p:cNvPr>
          <p:cNvSpPr>
            <a:spLocks xmlns:a="http://schemas.openxmlformats.org/drawingml/2006/main" noGrp="1"/>
          </p:cNvSpPr>
          <p:nvPr/>
        </p:nvSpPr>
        <p:spPr>
          <a:xfrm xmlns:a="http://schemas.openxmlformats.org/drawingml/2006/main">
            <a:off x="4762500" y="40862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Vietnamese Hate Speech Spans Detection</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aclanthology.org/2023.eacl-main.47/</a:t>
            </a:r>
          </a:p>
        </p:txBody>
      </p:sp>
      <p:sp>
        <p:nvSpPr>
          <p:cNvPr id="17" name="ref-num-05">
            <a:extLst xmlns:a="http://schemas.openxmlformats.org/drawingml/2006/main">
              <a:ext uri="{FF2B5EF4-FFF2-40B4-BE49-F238E27FC236}">
                <a16:creationId xmlns:a16="http://schemas.microsoft.com/office/drawing/2014/main" id="{89DC3865-054B-4632-9A48-BE855C8E3D67}"/>
              </a:ext>
            </a:extLst>
          </p:cNvPr>
          <p:cNvSpPr>
            <a:spLocks xmlns:a="http://schemas.openxmlformats.org/drawingml/2006/main" noGrp="1"/>
          </p:cNvSpPr>
          <p:nvPr/>
        </p:nvSpPr>
        <p:spPr>
          <a:xfrm xmlns:a="http://schemas.openxmlformats.org/drawingml/2006/main">
            <a:off x="781050" y="47339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05</a:t>
            </a:r>
          </a:p>
        </p:txBody>
      </p:sp>
      <p:sp>
        <p:nvSpPr>
          <p:cNvPr id="18" name="ref-name-05">
            <a:extLst xmlns:a="http://schemas.openxmlformats.org/drawingml/2006/main">
              <a:ext uri="{FF2B5EF4-FFF2-40B4-BE49-F238E27FC236}">
                <a16:creationId xmlns:a16="http://schemas.microsoft.com/office/drawing/2014/main" id="{DD1E09D8-559F-4744-932F-68F49D4D2FFA}"/>
              </a:ext>
            </a:extLst>
          </p:cNvPr>
          <p:cNvSpPr>
            <a:spLocks xmlns:a="http://schemas.openxmlformats.org/drawingml/2006/main" noGrp="1"/>
          </p:cNvSpPr>
          <p:nvPr/>
        </p:nvSpPr>
        <p:spPr>
          <a:xfrm xmlns:a="http://schemas.openxmlformats.org/drawingml/2006/main">
            <a:off x="1390650" y="47339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ViHSD · 2021</a:t>
            </a:r>
          </a:p>
        </p:txBody>
      </p:sp>
      <p:sp>
        <p:nvSpPr>
          <p:cNvPr id="19" name="ref-desc-05">
            <a:extLst xmlns:a="http://schemas.openxmlformats.org/drawingml/2006/main">
              <a:ext uri="{FF2B5EF4-FFF2-40B4-BE49-F238E27FC236}">
                <a16:creationId xmlns:a16="http://schemas.microsoft.com/office/drawing/2014/main" id="{C96BD477-3A78-45F9-97C5-FE2244CA3DFF}"/>
              </a:ext>
            </a:extLst>
          </p:cNvPr>
          <p:cNvSpPr>
            <a:spLocks xmlns:a="http://schemas.openxmlformats.org/drawingml/2006/main" noGrp="1"/>
          </p:cNvSpPr>
          <p:nvPr/>
        </p:nvSpPr>
        <p:spPr>
          <a:xfrm xmlns:a="http://schemas.openxmlformats.org/drawingml/2006/main">
            <a:off x="4762500" y="47339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 Large-scale Dataset for Hate Speech Detection on Vietnamese Social Media Texts</a:t>
            </a:r>
          </a:p>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arxiv.org/abs/2103.11528</a:t>
            </a:r>
          </a:p>
        </p:txBody>
      </p:sp>
      <p:sp>
        <p:nvSpPr>
          <p:cNvPr id="20" name="ref-num-06">
            <a:extLst xmlns:a="http://schemas.openxmlformats.org/drawingml/2006/main">
              <a:ext uri="{FF2B5EF4-FFF2-40B4-BE49-F238E27FC236}">
                <a16:creationId xmlns:a16="http://schemas.microsoft.com/office/drawing/2014/main" id="{F7AE1182-6D55-4792-9AB7-853927703CFA}"/>
              </a:ext>
            </a:extLst>
          </p:cNvPr>
          <p:cNvSpPr>
            <a:spLocks xmlns:a="http://schemas.openxmlformats.org/drawingml/2006/main" noGrp="1"/>
          </p:cNvSpPr>
          <p:nvPr/>
        </p:nvSpPr>
        <p:spPr>
          <a:xfrm xmlns:a="http://schemas.openxmlformats.org/drawingml/2006/main">
            <a:off x="781050" y="53816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317D73"/>
                </a:solidFill>
                <a:latin typeface="Arial"/>
                <a:ea typeface="Arial"/>
                <a:cs typeface="Arial"/>
              </a:defRPr>
            </a:defPPr>
            <a:lvl1pPr algn="l">
              <a:defRPr sz="1125" b="1" i="0">
                <a:solidFill>
                  <a:srgbClr val="317D73"/>
                </a:solidFill>
                <a:latin typeface="Arial"/>
                <a:ea typeface="Arial"/>
                <a:cs typeface="Arial"/>
              </a:defRPr>
            </a:lvl1pPr>
            <a:lvl2pPr algn="l">
              <a:defRPr sz="1125" b="1" i="0">
                <a:solidFill>
                  <a:srgbClr val="317D73"/>
                </a:solidFill>
                <a:latin typeface="Arial"/>
                <a:ea typeface="Arial"/>
                <a:cs typeface="Arial"/>
              </a:defRPr>
            </a:lvl2pPr>
            <a:lvl3pPr algn="l">
              <a:defRPr sz="1125" b="1" i="0">
                <a:solidFill>
                  <a:srgbClr val="317D73"/>
                </a:solidFill>
                <a:latin typeface="Arial"/>
                <a:ea typeface="Arial"/>
                <a:cs typeface="Arial"/>
              </a:defRPr>
            </a:lvl3pPr>
            <a:lvl4pPr algn="l">
              <a:defRPr sz="1125" b="1" i="0">
                <a:solidFill>
                  <a:srgbClr val="317D73"/>
                </a:solidFill>
                <a:latin typeface="Arial"/>
                <a:ea typeface="Arial"/>
                <a:cs typeface="Arial"/>
              </a:defRPr>
            </a:lvl4pPr>
            <a:lvl5pPr algn="l">
              <a:defRPr sz="1125" b="1" i="0">
                <a:solidFill>
                  <a:srgbClr val="317D73"/>
                </a:solidFill>
                <a:latin typeface="Arial"/>
                <a:ea typeface="Arial"/>
                <a:cs typeface="Arial"/>
              </a:defRPr>
            </a:lvl5pPr>
            <a:lvl6pPr algn="l">
              <a:defRPr sz="1125" b="1" i="0">
                <a:solidFill>
                  <a:srgbClr val="317D73"/>
                </a:solidFill>
                <a:latin typeface="Arial"/>
                <a:ea typeface="Arial"/>
                <a:cs typeface="Arial"/>
              </a:defRPr>
            </a:lvl6pPr>
            <a:lvl7pPr algn="l">
              <a:defRPr sz="1125" b="1" i="0">
                <a:solidFill>
                  <a:srgbClr val="317D73"/>
                </a:solidFill>
                <a:latin typeface="Arial"/>
                <a:ea typeface="Arial"/>
                <a:cs typeface="Arial"/>
              </a:defRPr>
            </a:lvl7pPr>
            <a:lvl8pPr algn="l">
              <a:defRPr sz="1125" b="1" i="0">
                <a:solidFill>
                  <a:srgbClr val="317D73"/>
                </a:solidFill>
                <a:latin typeface="Arial"/>
                <a:ea typeface="Arial"/>
                <a:cs typeface="Arial"/>
              </a:defRPr>
            </a:lvl8pPr>
            <a:lvl9pPr algn="l">
              <a:defRPr sz="1125" b="1" i="0">
                <a:solidFill>
                  <a:srgbClr val="317D73"/>
                </a:solidFill>
                <a:latin typeface="Arial"/>
                <a:ea typeface="Arial"/>
                <a:cs typeface="Arial"/>
              </a:defRPr>
            </a:lvl9pPr>
          </a:lstStyle>
          <a:p xmlns:a="http://schemas.openxmlformats.org/drawingml/2006/main">
            <a:pPr algn="l">
              <a:lnSpc>
                <a:spcPct val="108000"/>
              </a:lnSpc>
              <a:buNone/>
              <a:defRPr sz="1125" b="1" i="0">
                <a:solidFill>
                  <a:srgbClr val="317D73"/>
                </a:solidFill>
                <a:latin typeface="Arial"/>
                <a:ea typeface="Arial"/>
                <a:cs typeface="Arial"/>
              </a:defRPr>
            </a:pPr>
            <a:r>
              <a:rPr sz="1125" b="1" i="0">
                <a:solidFill>
                  <a:srgbClr val="317D73"/>
                </a:solidFill>
                <a:latin typeface="Arial"/>
                <a:ea typeface="Arial"/>
                <a:cs typeface="Arial"/>
              </a:rPr>
              <a:t>06</a:t>
            </a:r>
          </a:p>
        </p:txBody>
      </p:sp>
      <p:sp>
        <p:nvSpPr>
          <p:cNvPr id="21" name="ref-name-06">
            <a:extLst xmlns:a="http://schemas.openxmlformats.org/drawingml/2006/main">
              <a:ext uri="{FF2B5EF4-FFF2-40B4-BE49-F238E27FC236}">
                <a16:creationId xmlns:a16="http://schemas.microsoft.com/office/drawing/2014/main" id="{9DE898C0-3E40-4B7D-923C-650C10593EB3}"/>
              </a:ext>
            </a:extLst>
          </p:cNvPr>
          <p:cNvSpPr>
            <a:spLocks xmlns:a="http://schemas.openxmlformats.org/drawingml/2006/main" noGrp="1"/>
          </p:cNvSpPr>
          <p:nvPr/>
        </p:nvSpPr>
        <p:spPr>
          <a:xfrm xmlns:a="http://schemas.openxmlformats.org/drawingml/2006/main">
            <a:off x="1390650" y="53816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51D24"/>
                </a:solidFill>
                <a:latin typeface="Arial"/>
                <a:ea typeface="Arial"/>
                <a:cs typeface="Arial"/>
              </a:defRPr>
            </a:defPPr>
            <a:lvl1pPr algn="l">
              <a:defRPr sz="1500" b="1" i="0">
                <a:solidFill>
                  <a:srgbClr val="151D24"/>
                </a:solidFill>
                <a:latin typeface="Arial"/>
                <a:ea typeface="Arial"/>
                <a:cs typeface="Arial"/>
              </a:defRPr>
            </a:lvl1pPr>
            <a:lvl2pPr algn="l">
              <a:defRPr sz="1500" b="1" i="0">
                <a:solidFill>
                  <a:srgbClr val="151D24"/>
                </a:solidFill>
                <a:latin typeface="Arial"/>
                <a:ea typeface="Arial"/>
                <a:cs typeface="Arial"/>
              </a:defRPr>
            </a:lvl2pPr>
            <a:lvl3pPr algn="l">
              <a:defRPr sz="1500" b="1" i="0">
                <a:solidFill>
                  <a:srgbClr val="151D24"/>
                </a:solidFill>
                <a:latin typeface="Arial"/>
                <a:ea typeface="Arial"/>
                <a:cs typeface="Arial"/>
              </a:defRPr>
            </a:lvl3pPr>
            <a:lvl4pPr algn="l">
              <a:defRPr sz="1500" b="1" i="0">
                <a:solidFill>
                  <a:srgbClr val="151D24"/>
                </a:solidFill>
                <a:latin typeface="Arial"/>
                <a:ea typeface="Arial"/>
                <a:cs typeface="Arial"/>
              </a:defRPr>
            </a:lvl4pPr>
            <a:lvl5pPr algn="l">
              <a:defRPr sz="1500" b="1" i="0">
                <a:solidFill>
                  <a:srgbClr val="151D24"/>
                </a:solidFill>
                <a:latin typeface="Arial"/>
                <a:ea typeface="Arial"/>
                <a:cs typeface="Arial"/>
              </a:defRPr>
            </a:lvl5pPr>
            <a:lvl6pPr algn="l">
              <a:defRPr sz="1500" b="1" i="0">
                <a:solidFill>
                  <a:srgbClr val="151D24"/>
                </a:solidFill>
                <a:latin typeface="Arial"/>
                <a:ea typeface="Arial"/>
                <a:cs typeface="Arial"/>
              </a:defRPr>
            </a:lvl6pPr>
            <a:lvl7pPr algn="l">
              <a:defRPr sz="1500" b="1" i="0">
                <a:solidFill>
                  <a:srgbClr val="151D24"/>
                </a:solidFill>
                <a:latin typeface="Arial"/>
                <a:ea typeface="Arial"/>
                <a:cs typeface="Arial"/>
              </a:defRPr>
            </a:lvl7pPr>
            <a:lvl8pPr algn="l">
              <a:defRPr sz="1500" b="1" i="0">
                <a:solidFill>
                  <a:srgbClr val="151D24"/>
                </a:solidFill>
                <a:latin typeface="Arial"/>
                <a:ea typeface="Arial"/>
                <a:cs typeface="Arial"/>
              </a:defRPr>
            </a:lvl8pPr>
            <a:lvl9pPr algn="l">
              <a:defRPr sz="1500" b="1" i="0">
                <a:solidFill>
                  <a:srgbClr val="151D24"/>
                </a:solidFill>
                <a:latin typeface="Arial"/>
                <a:ea typeface="Arial"/>
                <a:cs typeface="Arial"/>
              </a:defRPr>
            </a:lvl9pPr>
          </a:lstStyle>
          <a:p xmlns:a="http://schemas.openxmlformats.org/drawingml/2006/main">
            <a:pPr algn="l">
              <a:lnSpc>
                <a:spcPct val="108000"/>
              </a:lnSpc>
              <a:buNone/>
              <a:defRPr sz="1500" b="1" i="0">
                <a:solidFill>
                  <a:srgbClr val="151D24"/>
                </a:solidFill>
                <a:latin typeface="Arial"/>
                <a:ea typeface="Arial"/>
                <a:cs typeface="Arial"/>
              </a:defRPr>
            </a:pPr>
            <a:r>
              <a:rPr sz="1500" b="1" i="0">
                <a:solidFill>
                  <a:srgbClr val="151D24"/>
                </a:solidFill>
                <a:latin typeface="Arial"/>
                <a:ea typeface="Arial"/>
                <a:cs typeface="Arial"/>
              </a:rPr>
              <a:t>Tài liệu môn NLP</a:t>
            </a:r>
          </a:p>
        </p:txBody>
      </p:sp>
      <p:sp>
        <p:nvSpPr>
          <p:cNvPr id="22" name="ref-desc-06">
            <a:extLst xmlns:a="http://schemas.openxmlformats.org/drawingml/2006/main">
              <a:ext uri="{FF2B5EF4-FFF2-40B4-BE49-F238E27FC236}">
                <a16:creationId xmlns:a16="http://schemas.microsoft.com/office/drawing/2014/main" id="{209AC692-DE27-4C2A-B28E-6808A6D6E9E0}"/>
              </a:ext>
            </a:extLst>
          </p:cNvPr>
          <p:cNvSpPr>
            <a:spLocks xmlns:a="http://schemas.openxmlformats.org/drawingml/2006/main" noGrp="1"/>
          </p:cNvSpPr>
          <p:nvPr/>
        </p:nvSpPr>
        <p:spPr>
          <a:xfrm xmlns:a="http://schemas.openxmlformats.org/drawingml/2006/main">
            <a:off x="4762500" y="53816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9656D"/>
                </a:solidFill>
                <a:latin typeface="Arial"/>
                <a:ea typeface="Arial"/>
                <a:cs typeface="Arial"/>
              </a:defRPr>
            </a:defPPr>
            <a:lvl1pPr algn="l">
              <a:defRPr sz="1275" b="0" i="0">
                <a:solidFill>
                  <a:srgbClr val="59656D"/>
                </a:solidFill>
                <a:latin typeface="Arial"/>
                <a:ea typeface="Arial"/>
                <a:cs typeface="Arial"/>
              </a:defRPr>
            </a:lvl1pPr>
            <a:lvl2pPr algn="l">
              <a:defRPr sz="1275" b="0" i="0">
                <a:solidFill>
                  <a:srgbClr val="59656D"/>
                </a:solidFill>
                <a:latin typeface="Arial"/>
                <a:ea typeface="Arial"/>
                <a:cs typeface="Arial"/>
              </a:defRPr>
            </a:lvl2pPr>
            <a:lvl3pPr algn="l">
              <a:defRPr sz="1275" b="0" i="0">
                <a:solidFill>
                  <a:srgbClr val="59656D"/>
                </a:solidFill>
                <a:latin typeface="Arial"/>
                <a:ea typeface="Arial"/>
                <a:cs typeface="Arial"/>
              </a:defRPr>
            </a:lvl3pPr>
            <a:lvl4pPr algn="l">
              <a:defRPr sz="1275" b="0" i="0">
                <a:solidFill>
                  <a:srgbClr val="59656D"/>
                </a:solidFill>
                <a:latin typeface="Arial"/>
                <a:ea typeface="Arial"/>
                <a:cs typeface="Arial"/>
              </a:defRPr>
            </a:lvl4pPr>
            <a:lvl5pPr algn="l">
              <a:defRPr sz="1275" b="0" i="0">
                <a:solidFill>
                  <a:srgbClr val="59656D"/>
                </a:solidFill>
                <a:latin typeface="Arial"/>
                <a:ea typeface="Arial"/>
                <a:cs typeface="Arial"/>
              </a:defRPr>
            </a:lvl5pPr>
            <a:lvl6pPr algn="l">
              <a:defRPr sz="1275" b="0" i="0">
                <a:solidFill>
                  <a:srgbClr val="59656D"/>
                </a:solidFill>
                <a:latin typeface="Arial"/>
                <a:ea typeface="Arial"/>
                <a:cs typeface="Arial"/>
              </a:defRPr>
            </a:lvl6pPr>
            <a:lvl7pPr algn="l">
              <a:defRPr sz="1275" b="0" i="0">
                <a:solidFill>
                  <a:srgbClr val="59656D"/>
                </a:solidFill>
                <a:latin typeface="Arial"/>
                <a:ea typeface="Arial"/>
                <a:cs typeface="Arial"/>
              </a:defRPr>
            </a:lvl7pPr>
            <a:lvl8pPr algn="l">
              <a:defRPr sz="1275" b="0" i="0">
                <a:solidFill>
                  <a:srgbClr val="59656D"/>
                </a:solidFill>
                <a:latin typeface="Arial"/>
                <a:ea typeface="Arial"/>
                <a:cs typeface="Arial"/>
              </a:defRPr>
            </a:lvl8pPr>
            <a:lvl9pPr algn="l">
              <a:defRPr sz="1275" b="0" i="0">
                <a:solidFill>
                  <a:srgbClr val="59656D"/>
                </a:solidFill>
                <a:latin typeface="Arial"/>
                <a:ea typeface="Arial"/>
                <a:cs typeface="Arial"/>
              </a:defRPr>
            </a:lvl9pPr>
          </a:lstStyle>
          <a:p xmlns:a="http://schemas.openxmlformats.org/drawingml/2006/main">
            <a:pPr algn="l">
              <a:lnSpc>
                <a:spcPct val="112000"/>
              </a:lnSpc>
              <a:buNone/>
              <a:defRPr sz="1275" b="0" i="0">
                <a:solidFill>
                  <a:srgbClr val="59656D"/>
                </a:solidFill>
                <a:latin typeface="Arial"/>
                <a:ea typeface="Arial"/>
                <a:cs typeface="Arial"/>
              </a:defRPr>
            </a:pPr>
            <a:r>
              <a:rPr sz="1275" b="0" i="0">
                <a:solidFill>
                  <a:srgbClr val="59656D"/>
                </a:solidFill>
                <a:latin typeface="Arial"/>
                <a:ea typeface="Arial"/>
                <a:cs typeface="Arial"/>
              </a:rPr>
              <a:t>Naive Bayes, phân loại văn bản, Logistic Regression, embeddings, RNN/LSTM, Transformers</a:t>
            </a:r>
          </a:p>
        </p:txBody>
      </p:sp>
      <p:sp>
        <p:nvSpPr>
          <p:cNvPr id="23" name="slide-number">
            <a:extLst xmlns:a="http://schemas.openxmlformats.org/drawingml/2006/main">
              <a:ext uri="{FF2B5EF4-FFF2-40B4-BE49-F238E27FC236}">
                <a16:creationId xmlns:a16="http://schemas.microsoft.com/office/drawing/2014/main" id="{27483AD4-05D1-42A9-B0A1-05DA626886E5}"/>
              </a:ext>
            </a:extLst>
          </p:cNvPr>
          <p:cNvSpPr>
            <a:spLocks xmlns:a="http://schemas.openxmlformats.org/drawingml/2006/main" noGrp="1"/>
          </p:cNvSpPr>
          <p:nvPr/>
        </p:nvSpPr>
        <p:spPr>
          <a:xfrm xmlns:a="http://schemas.openxmlformats.org/drawingml/2006/main">
            <a:off x="11125200" y="6419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8A949A"/>
                </a:solidFill>
                <a:latin typeface="Arial"/>
                <a:ea typeface="Arial"/>
                <a:cs typeface="Arial"/>
              </a:defRPr>
            </a:defPPr>
            <a:lvl1pPr algn="r">
              <a:defRPr sz="1050" b="1" i="0">
                <a:solidFill>
                  <a:srgbClr val="8A949A"/>
                </a:solidFill>
                <a:latin typeface="Arial"/>
                <a:ea typeface="Arial"/>
                <a:cs typeface="Arial"/>
              </a:defRPr>
            </a:lvl1pPr>
            <a:lvl2pPr algn="r">
              <a:defRPr sz="1050" b="1" i="0">
                <a:solidFill>
                  <a:srgbClr val="8A949A"/>
                </a:solidFill>
                <a:latin typeface="Arial"/>
                <a:ea typeface="Arial"/>
                <a:cs typeface="Arial"/>
              </a:defRPr>
            </a:lvl2pPr>
            <a:lvl3pPr algn="r">
              <a:defRPr sz="1050" b="1" i="0">
                <a:solidFill>
                  <a:srgbClr val="8A949A"/>
                </a:solidFill>
                <a:latin typeface="Arial"/>
                <a:ea typeface="Arial"/>
                <a:cs typeface="Arial"/>
              </a:defRPr>
            </a:lvl3pPr>
            <a:lvl4pPr algn="r">
              <a:defRPr sz="1050" b="1" i="0">
                <a:solidFill>
                  <a:srgbClr val="8A949A"/>
                </a:solidFill>
                <a:latin typeface="Arial"/>
                <a:ea typeface="Arial"/>
                <a:cs typeface="Arial"/>
              </a:defRPr>
            </a:lvl4pPr>
            <a:lvl5pPr algn="r">
              <a:defRPr sz="1050" b="1" i="0">
                <a:solidFill>
                  <a:srgbClr val="8A949A"/>
                </a:solidFill>
                <a:latin typeface="Arial"/>
                <a:ea typeface="Arial"/>
                <a:cs typeface="Arial"/>
              </a:defRPr>
            </a:lvl5pPr>
            <a:lvl6pPr algn="r">
              <a:defRPr sz="1050" b="1" i="0">
                <a:solidFill>
                  <a:srgbClr val="8A949A"/>
                </a:solidFill>
                <a:latin typeface="Arial"/>
                <a:ea typeface="Arial"/>
                <a:cs typeface="Arial"/>
              </a:defRPr>
            </a:lvl6pPr>
            <a:lvl7pPr algn="r">
              <a:defRPr sz="1050" b="1" i="0">
                <a:solidFill>
                  <a:srgbClr val="8A949A"/>
                </a:solidFill>
                <a:latin typeface="Arial"/>
                <a:ea typeface="Arial"/>
                <a:cs typeface="Arial"/>
              </a:defRPr>
            </a:lvl7pPr>
            <a:lvl8pPr algn="r">
              <a:defRPr sz="1050" b="1" i="0">
                <a:solidFill>
                  <a:srgbClr val="8A949A"/>
                </a:solidFill>
                <a:latin typeface="Arial"/>
                <a:ea typeface="Arial"/>
                <a:cs typeface="Arial"/>
              </a:defRPr>
            </a:lvl8pPr>
            <a:lvl9pPr algn="r">
              <a:defRPr sz="1050" b="1" i="0">
                <a:solidFill>
                  <a:srgbClr val="8A949A"/>
                </a:solidFill>
                <a:latin typeface="Arial"/>
                <a:ea typeface="Arial"/>
                <a:cs typeface="Arial"/>
              </a:defRPr>
            </a:lvl9pPr>
          </a:lstStyle>
          <a:p xmlns:a="http://schemas.openxmlformats.org/drawingml/2006/main">
            <a:pPr algn="r">
              <a:lnSpc>
                <a:spcPct val="108000"/>
              </a:lnSpc>
              <a:buNone/>
              <a:defRPr sz="1050" b="1" i="0">
                <a:solidFill>
                  <a:srgbClr val="8A949A"/>
                </a:solidFill>
                <a:latin typeface="Arial"/>
                <a:ea typeface="Arial"/>
                <a:cs typeface="Arial"/>
              </a:defRPr>
            </a:pPr>
            <a:r>
              <a:rPr sz="1050" b="1" i="0">
                <a:solidFill>
                  <a:srgbClr val="8A949A"/>
                </a:solidFill>
                <a:latin typeface="Arial"/>
                <a:ea typeface="Arial"/>
                <a:cs typeface="Arial"/>
              </a:rPr>
              <a:t>10</a:t>
            </a:r>
          </a:p>
        </p:txBody>
      </p:sp>
    </p:spTree>
    <p:extLst>
      <p:ext uri="{BB962C8B-B14F-4D97-AF65-F5344CB8AC3E}">
        <p14:creationId xmlns:p14="http://schemas.microsoft.com/office/powerpoint/2010/main" val="12943323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2026-10-22T12:36:27.2480000Z</dcterms:created>
  <dcterms:modified xsi:type="dcterms:W3CDTF">2026-10-22T12:36:27.2480000Z</dcterms:modified>
</coreProperties>
</file>